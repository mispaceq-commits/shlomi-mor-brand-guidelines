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7619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079873" cy="135461"/>
          </a:xfrm>
          <a:prstGeom prst="rect">
            <a:avLst/>
          </a:prstGeom>
          <a:noFill/>
        </p:spPr>
        <p:txBody>
          <a:bodyPr wrap="square" lIns="0" rIns="0" tIns="0" bIns="0" anchor="t">
            <a:spAutoFit/>
          </a:bodyPr>
          <a:lstStyle/>
          <a:p>
            <a:pPr algn="l"/>
            <a:r>
              <a:rPr sz="1000" b="0" i="0" spc="220">
                <a:solidFill>
                  <a:srgbClr val="0E0E0E"/>
                </a:solidFill>
                <a:latin typeface="Futura LT"/>
              </a:rPr>
              <a:t>SHLOMI MOR WIGS · NYC</a:t>
            </a:r>
          </a:p>
        </p:txBody>
      </p:sp>
      <p:sp>
        <p:nvSpPr>
          <p:cNvPr id="4" name="TextBox 3"/>
          <p:cNvSpPr txBox="1"/>
          <p:nvPr/>
        </p:nvSpPr>
        <p:spPr>
          <a:xfrm>
            <a:off x="9042174" y="474114"/>
            <a:ext cx="2539936" cy="135461"/>
          </a:xfrm>
          <a:prstGeom prst="rect">
            <a:avLst/>
          </a:prstGeom>
          <a:noFill/>
        </p:spPr>
        <p:txBody>
          <a:bodyPr wrap="square" lIns="0" rIns="0" tIns="0" bIns="0" anchor="t">
            <a:spAutoFit/>
          </a:bodyPr>
          <a:lstStyle/>
          <a:p>
            <a:pPr algn="r"/>
            <a:r>
              <a:rPr sz="1000" b="0" i="0" spc="220">
                <a:solidFill>
                  <a:srgbClr val="0E0E0E"/>
                </a:solidFill>
                <a:latin typeface="Futura LT"/>
              </a:rPr>
              <a:t>EDITION 01 · 2025</a:t>
            </a:r>
          </a:p>
        </p:txBody>
      </p:sp>
      <p:pic>
        <p:nvPicPr>
          <p:cNvPr id="5" name="Picture 4" descr="shlomi-mor-monogram-black.png"/>
          <p:cNvPicPr>
            <a:picLocks noChangeAspect="1"/>
          </p:cNvPicPr>
          <p:nvPr/>
        </p:nvPicPr>
        <p:blipFill>
          <a:blip r:embed="rId2"/>
          <a:stretch>
            <a:fillRect/>
          </a:stretch>
        </p:blipFill>
        <p:spPr>
          <a:xfrm>
            <a:off x="5445370" y="1100623"/>
            <a:ext cx="1300955" cy="1100623"/>
          </a:xfrm>
          <a:prstGeom prst="rect">
            <a:avLst/>
          </a:prstGeom>
        </p:spPr>
      </p:pic>
      <p:sp>
        <p:nvSpPr>
          <p:cNvPr id="6" name="TextBox 5"/>
          <p:cNvSpPr txBox="1"/>
          <p:nvPr/>
        </p:nvSpPr>
        <p:spPr>
          <a:xfrm>
            <a:off x="609585" y="3725184"/>
            <a:ext cx="9990417" cy="2370572"/>
          </a:xfrm>
          <a:prstGeom prst="rect">
            <a:avLst/>
          </a:prstGeom>
          <a:noFill/>
        </p:spPr>
        <p:txBody>
          <a:bodyPr wrap="square" lIns="0" rIns="0" tIns="0" bIns="0" anchor="t">
            <a:spAutoFit/>
          </a:bodyPr>
          <a:lstStyle/>
          <a:p>
            <a:pPr algn="l"/>
            <a:r>
              <a:rPr sz="4800" b="0" i="1">
                <a:solidFill>
                  <a:srgbClr val="A78D52"/>
                </a:solidFill>
                <a:latin typeface="Snell Roundhand"/>
              </a:rPr>
              <a:t>the</a:t>
            </a:r>
          </a:p>
          <a:p>
            <a:pPr algn="l"/>
            <a:r>
              <a:rPr sz="12000" b="0" i="0">
                <a:solidFill>
                  <a:srgbClr val="0E0E0E"/>
                </a:solidFill>
                <a:latin typeface="Didot"/>
              </a:rPr>
              <a:t>Brand </a:t>
            </a:r>
            <a:r>
              <a:rPr sz="12000" b="0" i="1">
                <a:solidFill>
                  <a:srgbClr val="0E0E0E"/>
                </a:solidFill>
                <a:latin typeface="Didot"/>
              </a:rPr>
              <a:t>Book.</a:t>
            </a:r>
          </a:p>
        </p:txBody>
      </p:sp>
      <p:sp>
        <p:nvSpPr>
          <p:cNvPr id="7" name="Oval 6"/>
          <p:cNvSpPr/>
          <p:nvPr/>
        </p:nvSpPr>
        <p:spPr>
          <a:xfrm>
            <a:off x="10667733" y="3555858"/>
            <a:ext cx="1185304" cy="1185286"/>
          </a:xfrm>
          <a:prstGeom prst="ellipse">
            <a:avLst/>
          </a:prstGeom>
          <a:noFill/>
          <a:ln w="6350">
            <a:solidFill>
              <a:srgbClr val="0E0E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67733" y="3725184"/>
            <a:ext cx="1185304" cy="846633"/>
          </a:xfrm>
          <a:prstGeom prst="rect">
            <a:avLst/>
          </a:prstGeom>
          <a:noFill/>
        </p:spPr>
        <p:txBody>
          <a:bodyPr wrap="square" lIns="0" rIns="0" tIns="0" bIns="0" anchor="t">
            <a:spAutoFit/>
          </a:bodyPr>
          <a:lstStyle/>
          <a:p>
            <a:pPr algn="ctr"/>
            <a:r>
              <a:rPr sz="1400" b="0" i="1">
                <a:solidFill>
                  <a:srgbClr val="0E0E0E"/>
                </a:solidFill>
                <a:latin typeface="Snell Roundhand"/>
              </a:rPr>
              <a:t>Crown</a:t>
            </a:r>
          </a:p>
          <a:p>
            <a:pPr algn="ctr"/>
            <a:r>
              <a:rPr sz="1400" b="0" i="1">
                <a:solidFill>
                  <a:srgbClr val="0E0E0E"/>
                </a:solidFill>
                <a:latin typeface="Snell Roundhand"/>
              </a:rPr>
              <a:t>Your</a:t>
            </a:r>
          </a:p>
          <a:p>
            <a:pPr algn="ctr"/>
            <a:r>
              <a:rPr sz="1400" b="0" i="1">
                <a:solidFill>
                  <a:srgbClr val="0E0E0E"/>
                </a:solidFill>
                <a:latin typeface="Snell Roundhand"/>
              </a:rPr>
              <a:t>Confidence</a:t>
            </a:r>
          </a:p>
        </p:txBody>
      </p:sp>
      <p:sp>
        <p:nvSpPr>
          <p:cNvPr id="9" name="TextBox 8"/>
          <p:cNvSpPr txBox="1"/>
          <p:nvPr/>
        </p:nvSpPr>
        <p:spPr>
          <a:xfrm>
            <a:off x="609585" y="7043985"/>
            <a:ext cx="2709266" cy="135461"/>
          </a:xfrm>
          <a:prstGeom prst="rect">
            <a:avLst/>
          </a:prstGeom>
          <a:noFill/>
        </p:spPr>
        <p:txBody>
          <a:bodyPr wrap="square" lIns="0" rIns="0" tIns="0" bIns="0" anchor="t">
            <a:spAutoFit/>
          </a:bodyPr>
          <a:lstStyle/>
          <a:p>
            <a:pPr algn="l"/>
            <a:r>
              <a:rPr sz="1000" b="0" i="0" spc="200">
                <a:solidFill>
                  <a:srgbClr val="0E0E0E"/>
                </a:solidFill>
                <a:latin typeface="Futura LT"/>
              </a:rPr>
              <a:t>VISUAL IDENTITY GUIDELINES</a:t>
            </a:r>
          </a:p>
        </p:txBody>
      </p:sp>
      <p:sp>
        <p:nvSpPr>
          <p:cNvPr id="10" name="TextBox 9"/>
          <p:cNvSpPr txBox="1"/>
          <p:nvPr/>
        </p:nvSpPr>
        <p:spPr>
          <a:xfrm>
            <a:off x="4741215" y="7043985"/>
            <a:ext cx="2709266" cy="135461"/>
          </a:xfrm>
          <a:prstGeom prst="rect">
            <a:avLst/>
          </a:prstGeom>
          <a:noFill/>
        </p:spPr>
        <p:txBody>
          <a:bodyPr wrap="square" lIns="0" rIns="0" tIns="0" bIns="0" anchor="t">
            <a:spAutoFit/>
          </a:bodyPr>
          <a:lstStyle/>
          <a:p>
            <a:pPr algn="ctr"/>
            <a:r>
              <a:rPr sz="1000" b="0" i="0" spc="200">
                <a:solidFill>
                  <a:srgbClr val="0E0E0E"/>
                </a:solidFill>
                <a:latin typeface="Futura LT"/>
              </a:rPr>
              <a:t>VOL. I — FOUNDATIONS</a:t>
            </a:r>
          </a:p>
        </p:txBody>
      </p:sp>
      <p:sp>
        <p:nvSpPr>
          <p:cNvPr id="11" name="TextBox 10"/>
          <p:cNvSpPr txBox="1"/>
          <p:nvPr/>
        </p:nvSpPr>
        <p:spPr>
          <a:xfrm>
            <a:off x="9211503" y="7043985"/>
            <a:ext cx="2370607" cy="135461"/>
          </a:xfrm>
          <a:prstGeom prst="rect">
            <a:avLst/>
          </a:prstGeom>
          <a:noFill/>
        </p:spPr>
        <p:txBody>
          <a:bodyPr wrap="square" lIns="0" rIns="0" tIns="0" bIns="0" anchor="t">
            <a:spAutoFit/>
          </a:bodyPr>
          <a:lstStyle/>
          <a:p>
            <a:pPr algn="r"/>
            <a:r>
              <a:rPr sz="1000" b="0" i="0" spc="200">
                <a:solidFill>
                  <a:srgbClr val="0E0E0E"/>
                </a:solidFill>
                <a:latin typeface="Futura LT"/>
              </a:rPr>
              <a:t>MADE IN NY · USA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CONTENTS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02</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CONTENTS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02</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02 — CONTENTS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6400" b="0" i="0">
                <a:solidFill>
                  <a:srgbClr val="0E0E0E"/>
                </a:solidFill>
                <a:latin typeface="Didot"/>
              </a:rPr>
              <a:t>Table of </a:t>
            </a:r>
            <a:r>
              <a:rPr sz="6400" b="0" i="1">
                <a:solidFill>
                  <a:srgbClr val="0E0E0E"/>
                </a:solidFill>
                <a:latin typeface="Didot"/>
              </a:rPr>
              <a:t>contents.</a:t>
            </a:r>
          </a:p>
        </p:txBody>
      </p:sp>
      <p:sp>
        <p:nvSpPr>
          <p:cNvPr id="11" name="TextBox 10"/>
          <p:cNvSpPr txBox="1"/>
          <p:nvPr/>
        </p:nvSpPr>
        <p:spPr>
          <a:xfrm>
            <a:off x="609585" y="2370572"/>
            <a:ext cx="592651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A twenty-four-section brand book covering identity foundations, visual language and brand applications. Designed to be read in sequence, referenced as a system.</a:t>
            </a:r>
          </a:p>
        </p:txBody>
      </p:sp>
      <p:sp>
        <p:nvSpPr>
          <p:cNvPr id="12" name="TextBox 11"/>
          <p:cNvSpPr txBox="1"/>
          <p:nvPr/>
        </p:nvSpPr>
        <p:spPr>
          <a:xfrm>
            <a:off x="609585" y="3047878"/>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01</a:t>
            </a:r>
          </a:p>
        </p:txBody>
      </p:sp>
      <p:sp>
        <p:nvSpPr>
          <p:cNvPr id="13" name="TextBox 12"/>
          <p:cNvSpPr txBox="1"/>
          <p:nvPr/>
        </p:nvSpPr>
        <p:spPr>
          <a:xfrm>
            <a:off x="982109" y="3047878"/>
            <a:ext cx="3047924" cy="203192"/>
          </a:xfrm>
          <a:prstGeom prst="rect">
            <a:avLst/>
          </a:prstGeom>
          <a:noFill/>
        </p:spPr>
        <p:txBody>
          <a:bodyPr wrap="square" lIns="0" rIns="0" tIns="0" bIns="0" anchor="t">
            <a:spAutoFit/>
          </a:bodyPr>
          <a:lstStyle/>
          <a:p>
            <a:pPr algn="l"/>
            <a:r>
              <a:rPr sz="1600" b="0" i="0">
                <a:solidFill>
                  <a:srgbClr val="0E0E0E"/>
                </a:solidFill>
                <a:latin typeface="Didot"/>
              </a:rPr>
              <a:t>Cover</a:t>
            </a:r>
          </a:p>
        </p:txBody>
      </p:sp>
      <p:cxnSp>
        <p:nvCxnSpPr>
          <p:cNvPr id="14" name="Connector 13"/>
          <p:cNvCxnSpPr/>
          <p:nvPr/>
        </p:nvCxnSpPr>
        <p:spPr>
          <a:xfrm>
            <a:off x="609585" y="3318800"/>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585" y="3420396"/>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02</a:t>
            </a:r>
          </a:p>
        </p:txBody>
      </p:sp>
      <p:sp>
        <p:nvSpPr>
          <p:cNvPr id="16" name="TextBox 15"/>
          <p:cNvSpPr txBox="1"/>
          <p:nvPr/>
        </p:nvSpPr>
        <p:spPr>
          <a:xfrm>
            <a:off x="982109" y="3420396"/>
            <a:ext cx="3047924" cy="203192"/>
          </a:xfrm>
          <a:prstGeom prst="rect">
            <a:avLst/>
          </a:prstGeom>
          <a:noFill/>
        </p:spPr>
        <p:txBody>
          <a:bodyPr wrap="square" lIns="0" rIns="0" tIns="0" bIns="0" anchor="t">
            <a:spAutoFit/>
          </a:bodyPr>
          <a:lstStyle/>
          <a:p>
            <a:pPr algn="l"/>
            <a:r>
              <a:rPr sz="1600" b="0" i="0">
                <a:solidFill>
                  <a:srgbClr val="0E0E0E"/>
                </a:solidFill>
                <a:latin typeface="Didot"/>
              </a:rPr>
              <a:t>Contents</a:t>
            </a:r>
          </a:p>
        </p:txBody>
      </p:sp>
      <p:cxnSp>
        <p:nvCxnSpPr>
          <p:cNvPr id="17" name="Connector 16"/>
          <p:cNvCxnSpPr/>
          <p:nvPr/>
        </p:nvCxnSpPr>
        <p:spPr>
          <a:xfrm>
            <a:off x="609585" y="3691319"/>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585" y="3792915"/>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03</a:t>
            </a:r>
          </a:p>
        </p:txBody>
      </p:sp>
      <p:sp>
        <p:nvSpPr>
          <p:cNvPr id="19" name="TextBox 18"/>
          <p:cNvSpPr txBox="1"/>
          <p:nvPr/>
        </p:nvSpPr>
        <p:spPr>
          <a:xfrm>
            <a:off x="982109" y="3792915"/>
            <a:ext cx="3047924" cy="203192"/>
          </a:xfrm>
          <a:prstGeom prst="rect">
            <a:avLst/>
          </a:prstGeom>
          <a:noFill/>
        </p:spPr>
        <p:txBody>
          <a:bodyPr wrap="square" lIns="0" rIns="0" tIns="0" bIns="0" anchor="t">
            <a:spAutoFit/>
          </a:bodyPr>
          <a:lstStyle/>
          <a:p>
            <a:pPr algn="l"/>
            <a:r>
              <a:rPr sz="1600" b="0" i="0">
                <a:solidFill>
                  <a:srgbClr val="0E0E0E"/>
                </a:solidFill>
                <a:latin typeface="Didot"/>
              </a:rPr>
              <a:t>Welcome &amp; Brand Story</a:t>
            </a:r>
          </a:p>
        </p:txBody>
      </p:sp>
      <p:cxnSp>
        <p:nvCxnSpPr>
          <p:cNvPr id="20" name="Connector 19"/>
          <p:cNvCxnSpPr/>
          <p:nvPr/>
        </p:nvCxnSpPr>
        <p:spPr>
          <a:xfrm>
            <a:off x="609585" y="4063837"/>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585" y="4165433"/>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04</a:t>
            </a:r>
          </a:p>
        </p:txBody>
      </p:sp>
      <p:sp>
        <p:nvSpPr>
          <p:cNvPr id="22" name="TextBox 21"/>
          <p:cNvSpPr txBox="1"/>
          <p:nvPr/>
        </p:nvSpPr>
        <p:spPr>
          <a:xfrm>
            <a:off x="982109" y="4165433"/>
            <a:ext cx="3047924" cy="203192"/>
          </a:xfrm>
          <a:prstGeom prst="rect">
            <a:avLst/>
          </a:prstGeom>
          <a:noFill/>
        </p:spPr>
        <p:txBody>
          <a:bodyPr wrap="square" lIns="0" rIns="0" tIns="0" bIns="0" anchor="t">
            <a:spAutoFit/>
          </a:bodyPr>
          <a:lstStyle/>
          <a:p>
            <a:pPr algn="l"/>
            <a:r>
              <a:rPr sz="1600" b="0" i="0">
                <a:solidFill>
                  <a:srgbClr val="0E0E0E"/>
                </a:solidFill>
                <a:latin typeface="Didot"/>
              </a:rPr>
              <a:t>Mission · Vision · Values</a:t>
            </a:r>
          </a:p>
        </p:txBody>
      </p:sp>
      <p:cxnSp>
        <p:nvCxnSpPr>
          <p:cNvPr id="23" name="Connector 22"/>
          <p:cNvCxnSpPr/>
          <p:nvPr/>
        </p:nvCxnSpPr>
        <p:spPr>
          <a:xfrm>
            <a:off x="609585" y="4436356"/>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585" y="4537952"/>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05</a:t>
            </a:r>
          </a:p>
        </p:txBody>
      </p:sp>
      <p:sp>
        <p:nvSpPr>
          <p:cNvPr id="25" name="TextBox 24"/>
          <p:cNvSpPr txBox="1"/>
          <p:nvPr/>
        </p:nvSpPr>
        <p:spPr>
          <a:xfrm>
            <a:off x="982109" y="4537952"/>
            <a:ext cx="3047924" cy="203192"/>
          </a:xfrm>
          <a:prstGeom prst="rect">
            <a:avLst/>
          </a:prstGeom>
          <a:noFill/>
        </p:spPr>
        <p:txBody>
          <a:bodyPr wrap="square" lIns="0" rIns="0" tIns="0" bIns="0" anchor="t">
            <a:spAutoFit/>
          </a:bodyPr>
          <a:lstStyle/>
          <a:p>
            <a:pPr algn="l"/>
            <a:r>
              <a:rPr sz="1600" b="0" i="0">
                <a:solidFill>
                  <a:srgbClr val="0E0E0E"/>
                </a:solidFill>
                <a:latin typeface="Didot"/>
              </a:rPr>
              <a:t>Two Streams — Medical &amp; Luxury</a:t>
            </a:r>
          </a:p>
        </p:txBody>
      </p:sp>
      <p:cxnSp>
        <p:nvCxnSpPr>
          <p:cNvPr id="26" name="Connector 25"/>
          <p:cNvCxnSpPr/>
          <p:nvPr/>
        </p:nvCxnSpPr>
        <p:spPr>
          <a:xfrm>
            <a:off x="609585" y="4808874"/>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9585" y="4910470"/>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06</a:t>
            </a:r>
          </a:p>
        </p:txBody>
      </p:sp>
      <p:sp>
        <p:nvSpPr>
          <p:cNvPr id="28" name="TextBox 27"/>
          <p:cNvSpPr txBox="1"/>
          <p:nvPr/>
        </p:nvSpPr>
        <p:spPr>
          <a:xfrm>
            <a:off x="982109" y="4910470"/>
            <a:ext cx="3047924" cy="203192"/>
          </a:xfrm>
          <a:prstGeom prst="rect">
            <a:avLst/>
          </a:prstGeom>
          <a:noFill/>
        </p:spPr>
        <p:txBody>
          <a:bodyPr wrap="square" lIns="0" rIns="0" tIns="0" bIns="0" anchor="t">
            <a:spAutoFit/>
          </a:bodyPr>
          <a:lstStyle/>
          <a:p>
            <a:pPr algn="l"/>
            <a:r>
              <a:rPr sz="1600" b="0" i="0">
                <a:solidFill>
                  <a:srgbClr val="0E0E0E"/>
                </a:solidFill>
                <a:latin typeface="Didot"/>
              </a:rPr>
              <a:t>Logo Variations</a:t>
            </a:r>
          </a:p>
        </p:txBody>
      </p:sp>
      <p:cxnSp>
        <p:nvCxnSpPr>
          <p:cNvPr id="29" name="Connector 28"/>
          <p:cNvCxnSpPr/>
          <p:nvPr/>
        </p:nvCxnSpPr>
        <p:spPr>
          <a:xfrm>
            <a:off x="609585" y="5181393"/>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9585" y="5282989"/>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07</a:t>
            </a:r>
          </a:p>
        </p:txBody>
      </p:sp>
      <p:sp>
        <p:nvSpPr>
          <p:cNvPr id="31" name="TextBox 30"/>
          <p:cNvSpPr txBox="1"/>
          <p:nvPr/>
        </p:nvSpPr>
        <p:spPr>
          <a:xfrm>
            <a:off x="982109" y="5282989"/>
            <a:ext cx="3047924" cy="203192"/>
          </a:xfrm>
          <a:prstGeom prst="rect">
            <a:avLst/>
          </a:prstGeom>
          <a:noFill/>
        </p:spPr>
        <p:txBody>
          <a:bodyPr wrap="square" lIns="0" rIns="0" tIns="0" bIns="0" anchor="t">
            <a:spAutoFit/>
          </a:bodyPr>
          <a:lstStyle/>
          <a:p>
            <a:pPr algn="l"/>
            <a:r>
              <a:rPr sz="1600" b="0" i="0">
                <a:solidFill>
                  <a:srgbClr val="0E0E0E"/>
                </a:solidFill>
                <a:latin typeface="Didot"/>
              </a:rPr>
              <a:t>Logo Construction &amp; Clear Space</a:t>
            </a:r>
          </a:p>
        </p:txBody>
      </p:sp>
      <p:cxnSp>
        <p:nvCxnSpPr>
          <p:cNvPr id="32" name="Connector 31"/>
          <p:cNvCxnSpPr/>
          <p:nvPr/>
        </p:nvCxnSpPr>
        <p:spPr>
          <a:xfrm>
            <a:off x="609585" y="5553911"/>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585" y="5655507"/>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08</a:t>
            </a:r>
          </a:p>
        </p:txBody>
      </p:sp>
      <p:sp>
        <p:nvSpPr>
          <p:cNvPr id="34" name="TextBox 33"/>
          <p:cNvSpPr txBox="1"/>
          <p:nvPr/>
        </p:nvSpPr>
        <p:spPr>
          <a:xfrm>
            <a:off x="982109" y="5655507"/>
            <a:ext cx="3047924" cy="203192"/>
          </a:xfrm>
          <a:prstGeom prst="rect">
            <a:avLst/>
          </a:prstGeom>
          <a:noFill/>
        </p:spPr>
        <p:txBody>
          <a:bodyPr wrap="square" lIns="0" rIns="0" tIns="0" bIns="0" anchor="t">
            <a:spAutoFit/>
          </a:bodyPr>
          <a:lstStyle/>
          <a:p>
            <a:pPr algn="l"/>
            <a:r>
              <a:rPr sz="1600" b="0" i="0">
                <a:solidFill>
                  <a:srgbClr val="0E0E0E"/>
                </a:solidFill>
                <a:latin typeface="Didot"/>
              </a:rPr>
              <a:t>Logo Misuse</a:t>
            </a:r>
          </a:p>
        </p:txBody>
      </p:sp>
      <p:cxnSp>
        <p:nvCxnSpPr>
          <p:cNvPr id="35" name="Connector 34"/>
          <p:cNvCxnSpPr/>
          <p:nvPr/>
        </p:nvCxnSpPr>
        <p:spPr>
          <a:xfrm>
            <a:off x="609585" y="5926429"/>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267093" y="3047878"/>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09</a:t>
            </a:r>
          </a:p>
        </p:txBody>
      </p:sp>
      <p:sp>
        <p:nvSpPr>
          <p:cNvPr id="37" name="TextBox 36"/>
          <p:cNvSpPr txBox="1"/>
          <p:nvPr/>
        </p:nvSpPr>
        <p:spPr>
          <a:xfrm>
            <a:off x="4639617" y="3047878"/>
            <a:ext cx="3047924" cy="203192"/>
          </a:xfrm>
          <a:prstGeom prst="rect">
            <a:avLst/>
          </a:prstGeom>
          <a:noFill/>
        </p:spPr>
        <p:txBody>
          <a:bodyPr wrap="square" lIns="0" rIns="0" tIns="0" bIns="0" anchor="t">
            <a:spAutoFit/>
          </a:bodyPr>
          <a:lstStyle/>
          <a:p>
            <a:pPr algn="l"/>
            <a:r>
              <a:rPr sz="1600" b="0" i="0">
                <a:solidFill>
                  <a:srgbClr val="0E0E0E"/>
                </a:solidFill>
                <a:latin typeface="Didot"/>
              </a:rPr>
              <a:t>The Main Colors</a:t>
            </a:r>
          </a:p>
        </p:txBody>
      </p:sp>
      <p:cxnSp>
        <p:nvCxnSpPr>
          <p:cNvPr id="38" name="Connector 37"/>
          <p:cNvCxnSpPr/>
          <p:nvPr/>
        </p:nvCxnSpPr>
        <p:spPr>
          <a:xfrm>
            <a:off x="4267093" y="3318800"/>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267093" y="3420396"/>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10</a:t>
            </a:r>
          </a:p>
        </p:txBody>
      </p:sp>
      <p:sp>
        <p:nvSpPr>
          <p:cNvPr id="40" name="TextBox 39"/>
          <p:cNvSpPr txBox="1"/>
          <p:nvPr/>
        </p:nvSpPr>
        <p:spPr>
          <a:xfrm>
            <a:off x="4639617" y="3420396"/>
            <a:ext cx="3047924" cy="203192"/>
          </a:xfrm>
          <a:prstGeom prst="rect">
            <a:avLst/>
          </a:prstGeom>
          <a:noFill/>
        </p:spPr>
        <p:txBody>
          <a:bodyPr wrap="square" lIns="0" rIns="0" tIns="0" bIns="0" anchor="t">
            <a:spAutoFit/>
          </a:bodyPr>
          <a:lstStyle/>
          <a:p>
            <a:pPr algn="l"/>
            <a:r>
              <a:rPr sz="1600" b="0" i="0">
                <a:solidFill>
                  <a:srgbClr val="0E0E0E"/>
                </a:solidFill>
                <a:latin typeface="Didot"/>
              </a:rPr>
              <a:t>Color Usage &amp; Proportions</a:t>
            </a:r>
          </a:p>
        </p:txBody>
      </p:sp>
      <p:cxnSp>
        <p:nvCxnSpPr>
          <p:cNvPr id="41" name="Connector 40"/>
          <p:cNvCxnSpPr/>
          <p:nvPr/>
        </p:nvCxnSpPr>
        <p:spPr>
          <a:xfrm>
            <a:off x="4267093" y="3691319"/>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267093" y="3792915"/>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11</a:t>
            </a:r>
          </a:p>
        </p:txBody>
      </p:sp>
      <p:sp>
        <p:nvSpPr>
          <p:cNvPr id="43" name="TextBox 42"/>
          <p:cNvSpPr txBox="1"/>
          <p:nvPr/>
        </p:nvSpPr>
        <p:spPr>
          <a:xfrm>
            <a:off x="4639617" y="3792915"/>
            <a:ext cx="3047924" cy="203192"/>
          </a:xfrm>
          <a:prstGeom prst="rect">
            <a:avLst/>
          </a:prstGeom>
          <a:noFill/>
        </p:spPr>
        <p:txBody>
          <a:bodyPr wrap="square" lIns="0" rIns="0" tIns="0" bIns="0" anchor="t">
            <a:spAutoFit/>
          </a:bodyPr>
          <a:lstStyle/>
          <a:p>
            <a:pPr algn="l"/>
            <a:r>
              <a:rPr sz="1600" b="0" i="0">
                <a:solidFill>
                  <a:srgbClr val="0E0E0E"/>
                </a:solidFill>
                <a:latin typeface="Didot"/>
              </a:rPr>
              <a:t>Display Serif — idot</a:t>
            </a:r>
          </a:p>
        </p:txBody>
      </p:sp>
      <p:cxnSp>
        <p:nvCxnSpPr>
          <p:cNvPr id="44" name="Connector 43"/>
          <p:cNvCxnSpPr/>
          <p:nvPr/>
        </p:nvCxnSpPr>
        <p:spPr>
          <a:xfrm>
            <a:off x="4267093" y="4063837"/>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267093" y="4165433"/>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12</a:t>
            </a:r>
          </a:p>
        </p:txBody>
      </p:sp>
      <p:sp>
        <p:nvSpPr>
          <p:cNvPr id="46" name="TextBox 45"/>
          <p:cNvSpPr txBox="1"/>
          <p:nvPr/>
        </p:nvSpPr>
        <p:spPr>
          <a:xfrm>
            <a:off x="4639617" y="4165433"/>
            <a:ext cx="3047924" cy="203192"/>
          </a:xfrm>
          <a:prstGeom prst="rect">
            <a:avLst/>
          </a:prstGeom>
          <a:noFill/>
        </p:spPr>
        <p:txBody>
          <a:bodyPr wrap="square" lIns="0" rIns="0" tIns="0" bIns="0" anchor="t">
            <a:spAutoFit/>
          </a:bodyPr>
          <a:lstStyle/>
          <a:p>
            <a:pPr algn="l"/>
            <a:r>
              <a:rPr sz="1600" b="0" i="0">
                <a:solidFill>
                  <a:srgbClr val="0E0E0E"/>
                </a:solidFill>
                <a:latin typeface="Didot"/>
              </a:rPr>
              <a:t>Functional Sans — Futura LT / Inter</a:t>
            </a:r>
          </a:p>
        </p:txBody>
      </p:sp>
      <p:cxnSp>
        <p:nvCxnSpPr>
          <p:cNvPr id="47" name="Connector 46"/>
          <p:cNvCxnSpPr/>
          <p:nvPr/>
        </p:nvCxnSpPr>
        <p:spPr>
          <a:xfrm>
            <a:off x="4267093" y="4436356"/>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267093" y="4537952"/>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13</a:t>
            </a:r>
          </a:p>
        </p:txBody>
      </p:sp>
      <p:sp>
        <p:nvSpPr>
          <p:cNvPr id="49" name="TextBox 48"/>
          <p:cNvSpPr txBox="1"/>
          <p:nvPr/>
        </p:nvSpPr>
        <p:spPr>
          <a:xfrm>
            <a:off x="4639617" y="4537952"/>
            <a:ext cx="3047924" cy="203192"/>
          </a:xfrm>
          <a:prstGeom prst="rect">
            <a:avLst/>
          </a:prstGeom>
          <a:noFill/>
        </p:spPr>
        <p:txBody>
          <a:bodyPr wrap="square" lIns="0" rIns="0" tIns="0" bIns="0" anchor="t">
            <a:spAutoFit/>
          </a:bodyPr>
          <a:lstStyle/>
          <a:p>
            <a:pPr algn="l"/>
            <a:r>
              <a:rPr sz="1600" b="0" i="0">
                <a:solidFill>
                  <a:srgbClr val="0E0E0E"/>
                </a:solidFill>
                <a:latin typeface="Didot"/>
              </a:rPr>
              <a:t>Script Accent — Sacramento / Snell Roundhand</a:t>
            </a:r>
          </a:p>
        </p:txBody>
      </p:sp>
      <p:cxnSp>
        <p:nvCxnSpPr>
          <p:cNvPr id="50" name="Connector 49"/>
          <p:cNvCxnSpPr/>
          <p:nvPr/>
        </p:nvCxnSpPr>
        <p:spPr>
          <a:xfrm>
            <a:off x="4267093" y="4808874"/>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267093" y="4910470"/>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14</a:t>
            </a:r>
          </a:p>
        </p:txBody>
      </p:sp>
      <p:sp>
        <p:nvSpPr>
          <p:cNvPr id="52" name="TextBox 51"/>
          <p:cNvSpPr txBox="1"/>
          <p:nvPr/>
        </p:nvSpPr>
        <p:spPr>
          <a:xfrm>
            <a:off x="4639617" y="4910470"/>
            <a:ext cx="3047924" cy="203192"/>
          </a:xfrm>
          <a:prstGeom prst="rect">
            <a:avLst/>
          </a:prstGeom>
          <a:noFill/>
        </p:spPr>
        <p:txBody>
          <a:bodyPr wrap="square" lIns="0" rIns="0" tIns="0" bIns="0" anchor="t">
            <a:spAutoFit/>
          </a:bodyPr>
          <a:lstStyle/>
          <a:p>
            <a:pPr algn="l"/>
            <a:r>
              <a:rPr sz="1600" b="0" i="0">
                <a:solidFill>
                  <a:srgbClr val="0E0E0E"/>
                </a:solidFill>
                <a:latin typeface="Didot"/>
              </a:rPr>
              <a:t>Hierarchy &amp; Pairing</a:t>
            </a:r>
          </a:p>
        </p:txBody>
      </p:sp>
      <p:cxnSp>
        <p:nvCxnSpPr>
          <p:cNvPr id="53" name="Connector 52"/>
          <p:cNvCxnSpPr/>
          <p:nvPr/>
        </p:nvCxnSpPr>
        <p:spPr>
          <a:xfrm>
            <a:off x="4267093" y="5181393"/>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267093" y="5282989"/>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15</a:t>
            </a:r>
          </a:p>
        </p:txBody>
      </p:sp>
      <p:sp>
        <p:nvSpPr>
          <p:cNvPr id="55" name="TextBox 54"/>
          <p:cNvSpPr txBox="1"/>
          <p:nvPr/>
        </p:nvSpPr>
        <p:spPr>
          <a:xfrm>
            <a:off x="4639617" y="5282989"/>
            <a:ext cx="3047924" cy="203192"/>
          </a:xfrm>
          <a:prstGeom prst="rect">
            <a:avLst/>
          </a:prstGeom>
          <a:noFill/>
        </p:spPr>
        <p:txBody>
          <a:bodyPr wrap="square" lIns="0" rIns="0" tIns="0" bIns="0" anchor="t">
            <a:spAutoFit/>
          </a:bodyPr>
          <a:lstStyle/>
          <a:p>
            <a:pPr algn="l"/>
            <a:r>
              <a:rPr sz="1600" b="0" i="0">
                <a:solidFill>
                  <a:srgbClr val="0E0E0E"/>
                </a:solidFill>
                <a:latin typeface="Didot"/>
              </a:rPr>
              <a:t>Grid System</a:t>
            </a:r>
          </a:p>
        </p:txBody>
      </p:sp>
      <p:cxnSp>
        <p:nvCxnSpPr>
          <p:cNvPr id="56" name="Connector 55"/>
          <p:cNvCxnSpPr/>
          <p:nvPr/>
        </p:nvCxnSpPr>
        <p:spPr>
          <a:xfrm>
            <a:off x="4267093" y="5553911"/>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267093" y="5655507"/>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16</a:t>
            </a:r>
          </a:p>
        </p:txBody>
      </p:sp>
      <p:sp>
        <p:nvSpPr>
          <p:cNvPr id="58" name="TextBox 57"/>
          <p:cNvSpPr txBox="1"/>
          <p:nvPr/>
        </p:nvSpPr>
        <p:spPr>
          <a:xfrm>
            <a:off x="4639617" y="5655507"/>
            <a:ext cx="3047924" cy="203192"/>
          </a:xfrm>
          <a:prstGeom prst="rect">
            <a:avLst/>
          </a:prstGeom>
          <a:noFill/>
        </p:spPr>
        <p:txBody>
          <a:bodyPr wrap="square" lIns="0" rIns="0" tIns="0" bIns="0" anchor="t">
            <a:spAutoFit/>
          </a:bodyPr>
          <a:lstStyle/>
          <a:p>
            <a:pPr algn="l"/>
            <a:r>
              <a:rPr sz="1600" b="0" i="0">
                <a:solidFill>
                  <a:srgbClr val="0E0E0E"/>
                </a:solidFill>
                <a:latin typeface="Didot"/>
              </a:rPr>
              <a:t>Photography Direction</a:t>
            </a:r>
          </a:p>
        </p:txBody>
      </p:sp>
      <p:cxnSp>
        <p:nvCxnSpPr>
          <p:cNvPr id="59" name="Connector 58"/>
          <p:cNvCxnSpPr/>
          <p:nvPr/>
        </p:nvCxnSpPr>
        <p:spPr>
          <a:xfrm>
            <a:off x="4267093" y="5926429"/>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924602" y="3047878"/>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17</a:t>
            </a:r>
          </a:p>
        </p:txBody>
      </p:sp>
      <p:sp>
        <p:nvSpPr>
          <p:cNvPr id="61" name="TextBox 60"/>
          <p:cNvSpPr txBox="1"/>
          <p:nvPr/>
        </p:nvSpPr>
        <p:spPr>
          <a:xfrm>
            <a:off x="8297126" y="3047878"/>
            <a:ext cx="3047924" cy="203192"/>
          </a:xfrm>
          <a:prstGeom prst="rect">
            <a:avLst/>
          </a:prstGeom>
          <a:noFill/>
        </p:spPr>
        <p:txBody>
          <a:bodyPr wrap="square" lIns="0" rIns="0" tIns="0" bIns="0" anchor="t">
            <a:spAutoFit/>
          </a:bodyPr>
          <a:lstStyle/>
          <a:p>
            <a:pPr algn="l"/>
            <a:r>
              <a:rPr sz="1600" b="0" i="0">
                <a:solidFill>
                  <a:srgbClr val="0E0E0E"/>
                </a:solidFill>
                <a:latin typeface="Didot"/>
              </a:rPr>
              <a:t>Tone of Voice</a:t>
            </a:r>
          </a:p>
        </p:txBody>
      </p:sp>
      <p:cxnSp>
        <p:nvCxnSpPr>
          <p:cNvPr id="62" name="Connector 61"/>
          <p:cNvCxnSpPr/>
          <p:nvPr/>
        </p:nvCxnSpPr>
        <p:spPr>
          <a:xfrm>
            <a:off x="7924602" y="3318800"/>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924602" y="3420396"/>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18</a:t>
            </a:r>
          </a:p>
        </p:txBody>
      </p:sp>
      <p:sp>
        <p:nvSpPr>
          <p:cNvPr id="64" name="TextBox 63"/>
          <p:cNvSpPr txBox="1"/>
          <p:nvPr/>
        </p:nvSpPr>
        <p:spPr>
          <a:xfrm>
            <a:off x="8297126" y="3420396"/>
            <a:ext cx="3047924" cy="203192"/>
          </a:xfrm>
          <a:prstGeom prst="rect">
            <a:avLst/>
          </a:prstGeom>
          <a:noFill/>
        </p:spPr>
        <p:txBody>
          <a:bodyPr wrap="square" lIns="0" rIns="0" tIns="0" bIns="0" anchor="t">
            <a:spAutoFit/>
          </a:bodyPr>
          <a:lstStyle/>
          <a:p>
            <a:pPr algn="l"/>
            <a:r>
              <a:rPr sz="1600" b="0" i="0">
                <a:solidFill>
                  <a:srgbClr val="0E0E0E"/>
                </a:solidFill>
                <a:latin typeface="Didot"/>
              </a:rPr>
              <a:t>Patterns — The System</a:t>
            </a:r>
          </a:p>
        </p:txBody>
      </p:sp>
      <p:cxnSp>
        <p:nvCxnSpPr>
          <p:cNvPr id="65" name="Connector 64"/>
          <p:cNvCxnSpPr/>
          <p:nvPr/>
        </p:nvCxnSpPr>
        <p:spPr>
          <a:xfrm>
            <a:off x="7924602" y="3691319"/>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924602" y="3792915"/>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19</a:t>
            </a:r>
          </a:p>
        </p:txBody>
      </p:sp>
      <p:sp>
        <p:nvSpPr>
          <p:cNvPr id="67" name="TextBox 66"/>
          <p:cNvSpPr txBox="1"/>
          <p:nvPr/>
        </p:nvSpPr>
        <p:spPr>
          <a:xfrm>
            <a:off x="8297126" y="3792915"/>
            <a:ext cx="3047924" cy="203192"/>
          </a:xfrm>
          <a:prstGeom prst="rect">
            <a:avLst/>
          </a:prstGeom>
          <a:noFill/>
        </p:spPr>
        <p:txBody>
          <a:bodyPr wrap="square" lIns="0" rIns="0" tIns="0" bIns="0" anchor="t">
            <a:spAutoFit/>
          </a:bodyPr>
          <a:lstStyle/>
          <a:p>
            <a:pPr algn="l"/>
            <a:r>
              <a:rPr sz="1600" b="0" i="0">
                <a:solidFill>
                  <a:srgbClr val="0E0E0E"/>
                </a:solidFill>
                <a:latin typeface="Didot"/>
              </a:rPr>
              <a:t>Patterns — Rules &amp; Application</a:t>
            </a:r>
          </a:p>
        </p:txBody>
      </p:sp>
      <p:cxnSp>
        <p:nvCxnSpPr>
          <p:cNvPr id="68" name="Connector 67"/>
          <p:cNvCxnSpPr/>
          <p:nvPr/>
        </p:nvCxnSpPr>
        <p:spPr>
          <a:xfrm>
            <a:off x="7924602" y="4063837"/>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924602" y="4165433"/>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20</a:t>
            </a:r>
          </a:p>
        </p:txBody>
      </p:sp>
      <p:sp>
        <p:nvSpPr>
          <p:cNvPr id="70" name="TextBox 69"/>
          <p:cNvSpPr txBox="1"/>
          <p:nvPr/>
        </p:nvSpPr>
        <p:spPr>
          <a:xfrm>
            <a:off x="8297126" y="4165433"/>
            <a:ext cx="3047924" cy="203192"/>
          </a:xfrm>
          <a:prstGeom prst="rect">
            <a:avLst/>
          </a:prstGeom>
          <a:noFill/>
        </p:spPr>
        <p:txBody>
          <a:bodyPr wrap="square" lIns="0" rIns="0" tIns="0" bIns="0" anchor="t">
            <a:spAutoFit/>
          </a:bodyPr>
          <a:lstStyle/>
          <a:p>
            <a:pPr algn="l"/>
            <a:r>
              <a:rPr sz="1600" b="0" i="0">
                <a:solidFill>
                  <a:srgbClr val="0E0E0E"/>
                </a:solidFill>
                <a:latin typeface="Didot"/>
              </a:rPr>
              <a:t>Type Specimen &amp; UI Kit</a:t>
            </a:r>
          </a:p>
        </p:txBody>
      </p:sp>
      <p:cxnSp>
        <p:nvCxnSpPr>
          <p:cNvPr id="71" name="Connector 70"/>
          <p:cNvCxnSpPr/>
          <p:nvPr/>
        </p:nvCxnSpPr>
        <p:spPr>
          <a:xfrm>
            <a:off x="7924602" y="4436356"/>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924602" y="4537952"/>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21</a:t>
            </a:r>
          </a:p>
        </p:txBody>
      </p:sp>
      <p:sp>
        <p:nvSpPr>
          <p:cNvPr id="73" name="TextBox 72"/>
          <p:cNvSpPr txBox="1"/>
          <p:nvPr/>
        </p:nvSpPr>
        <p:spPr>
          <a:xfrm>
            <a:off x="8297126" y="4537952"/>
            <a:ext cx="3047924" cy="203192"/>
          </a:xfrm>
          <a:prstGeom prst="rect">
            <a:avLst/>
          </a:prstGeom>
          <a:noFill/>
        </p:spPr>
        <p:txBody>
          <a:bodyPr wrap="square" lIns="0" rIns="0" tIns="0" bIns="0" anchor="t">
            <a:spAutoFit/>
          </a:bodyPr>
          <a:lstStyle/>
          <a:p>
            <a:pPr algn="l"/>
            <a:r>
              <a:rPr sz="1600" b="0" i="0">
                <a:solidFill>
                  <a:srgbClr val="0E0E0E"/>
                </a:solidFill>
                <a:latin typeface="Didot"/>
              </a:rPr>
              <a:t>Instagram — Grid Architecture</a:t>
            </a:r>
          </a:p>
        </p:txBody>
      </p:sp>
      <p:cxnSp>
        <p:nvCxnSpPr>
          <p:cNvPr id="74" name="Connector 73"/>
          <p:cNvCxnSpPr/>
          <p:nvPr/>
        </p:nvCxnSpPr>
        <p:spPr>
          <a:xfrm>
            <a:off x="7924602" y="4808874"/>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924602" y="4910470"/>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22</a:t>
            </a:r>
          </a:p>
        </p:txBody>
      </p:sp>
      <p:sp>
        <p:nvSpPr>
          <p:cNvPr id="76" name="TextBox 75"/>
          <p:cNvSpPr txBox="1"/>
          <p:nvPr/>
        </p:nvSpPr>
        <p:spPr>
          <a:xfrm>
            <a:off x="8297126" y="4910470"/>
            <a:ext cx="3047924" cy="203192"/>
          </a:xfrm>
          <a:prstGeom prst="rect">
            <a:avLst/>
          </a:prstGeom>
          <a:noFill/>
        </p:spPr>
        <p:txBody>
          <a:bodyPr wrap="square" lIns="0" rIns="0" tIns="0" bIns="0" anchor="t">
            <a:spAutoFit/>
          </a:bodyPr>
          <a:lstStyle/>
          <a:p>
            <a:pPr algn="l"/>
            <a:r>
              <a:rPr sz="1600" b="0" i="0">
                <a:solidFill>
                  <a:srgbClr val="0E0E0E"/>
                </a:solidFill>
                <a:latin typeface="Didot"/>
              </a:rPr>
              <a:t>Instagram — Stories, Reels &amp; Captions</a:t>
            </a:r>
          </a:p>
        </p:txBody>
      </p:sp>
      <p:cxnSp>
        <p:nvCxnSpPr>
          <p:cNvPr id="77" name="Connector 76"/>
          <p:cNvCxnSpPr/>
          <p:nvPr/>
        </p:nvCxnSpPr>
        <p:spPr>
          <a:xfrm>
            <a:off x="7924602" y="5181393"/>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7924602" y="5282989"/>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23</a:t>
            </a:r>
          </a:p>
        </p:txBody>
      </p:sp>
      <p:sp>
        <p:nvSpPr>
          <p:cNvPr id="79" name="TextBox 78"/>
          <p:cNvSpPr txBox="1"/>
          <p:nvPr/>
        </p:nvSpPr>
        <p:spPr>
          <a:xfrm>
            <a:off x="8297126" y="5282989"/>
            <a:ext cx="3047924" cy="203192"/>
          </a:xfrm>
          <a:prstGeom prst="rect">
            <a:avLst/>
          </a:prstGeom>
          <a:noFill/>
        </p:spPr>
        <p:txBody>
          <a:bodyPr wrap="square" lIns="0" rIns="0" tIns="0" bIns="0" anchor="t">
            <a:spAutoFit/>
          </a:bodyPr>
          <a:lstStyle/>
          <a:p>
            <a:pPr algn="l"/>
            <a:r>
              <a:rPr sz="1600" b="0" i="0">
                <a:solidFill>
                  <a:srgbClr val="0E0E0E"/>
                </a:solidFill>
                <a:latin typeface="Didot"/>
              </a:rPr>
              <a:t>Applications</a:t>
            </a:r>
          </a:p>
        </p:txBody>
      </p:sp>
      <p:cxnSp>
        <p:nvCxnSpPr>
          <p:cNvPr id="80" name="Connector 79"/>
          <p:cNvCxnSpPr/>
          <p:nvPr/>
        </p:nvCxnSpPr>
        <p:spPr>
          <a:xfrm>
            <a:off x="7924602" y="5553911"/>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924602" y="5655507"/>
            <a:ext cx="304792" cy="203192"/>
          </a:xfrm>
          <a:prstGeom prst="rect">
            <a:avLst/>
          </a:prstGeom>
          <a:noFill/>
        </p:spPr>
        <p:txBody>
          <a:bodyPr wrap="square" lIns="0" rIns="0" tIns="0" bIns="0" anchor="t">
            <a:spAutoFit/>
          </a:bodyPr>
          <a:lstStyle/>
          <a:p>
            <a:pPr algn="l"/>
            <a:r>
              <a:rPr sz="1000" b="0" i="0" spc="160">
                <a:solidFill>
                  <a:srgbClr val="8B8480"/>
                </a:solidFill>
                <a:latin typeface="Futura LT"/>
              </a:rPr>
              <a:t>24</a:t>
            </a:r>
          </a:p>
        </p:txBody>
      </p:sp>
      <p:sp>
        <p:nvSpPr>
          <p:cNvPr id="82" name="TextBox 81"/>
          <p:cNvSpPr txBox="1"/>
          <p:nvPr/>
        </p:nvSpPr>
        <p:spPr>
          <a:xfrm>
            <a:off x="8297126" y="5655507"/>
            <a:ext cx="3047924" cy="203192"/>
          </a:xfrm>
          <a:prstGeom prst="rect">
            <a:avLst/>
          </a:prstGeom>
          <a:noFill/>
        </p:spPr>
        <p:txBody>
          <a:bodyPr wrap="square" lIns="0" rIns="0" tIns="0" bIns="0" anchor="t">
            <a:spAutoFit/>
          </a:bodyPr>
          <a:lstStyle/>
          <a:p>
            <a:pPr algn="l"/>
            <a:r>
              <a:rPr sz="1600" b="0" i="0">
                <a:solidFill>
                  <a:srgbClr val="0E0E0E"/>
                </a:solidFill>
                <a:latin typeface="Didot"/>
              </a:rPr>
              <a:t>Contact &amp; Credits</a:t>
            </a:r>
          </a:p>
        </p:txBody>
      </p:sp>
      <p:cxnSp>
        <p:nvCxnSpPr>
          <p:cNvPr id="83" name="Connector 82"/>
          <p:cNvCxnSpPr/>
          <p:nvPr/>
        </p:nvCxnSpPr>
        <p:spPr>
          <a:xfrm>
            <a:off x="7924602" y="5926429"/>
            <a:ext cx="3386582"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WELCOME</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03</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WELCOME</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03</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03 — WELCOME</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6400" b="0" i="0">
                <a:solidFill>
                  <a:srgbClr val="0E0E0E"/>
                </a:solidFill>
                <a:latin typeface="Didot"/>
              </a:rPr>
              <a:t>A house of </a:t>
            </a:r>
            <a:r>
              <a:rPr sz="6400" b="0" i="1">
                <a:solidFill>
                  <a:srgbClr val="0E0E0E"/>
                </a:solidFill>
                <a:latin typeface="Didot"/>
              </a:rPr>
              <a:t>hair</a:t>
            </a:r>
            <a:r>
              <a:rPr sz="6400" b="0" i="0">
                <a:solidFill>
                  <a:srgbClr val="0E0E0E"/>
                </a:solidFill>
                <a:latin typeface="Didot"/>
              </a:rPr>
              <a:t>, confidence</a:t>
            </a:r>
          </a:p>
          <a:p>
            <a:pPr algn="l"/>
            <a:r>
              <a:rPr sz="6400" b="0" i="0">
                <a:solidFill>
                  <a:srgbClr val="0E0E0E"/>
                </a:solidFill>
                <a:latin typeface="Didot"/>
              </a:rPr>
              <a:t>and quiet </a:t>
            </a:r>
            <a:r>
              <a:rPr sz="6400" b="0" i="1">
                <a:solidFill>
                  <a:srgbClr val="0E0E0E"/>
                </a:solidFill>
                <a:latin typeface="Didot"/>
              </a:rPr>
              <a:t>craft</a:t>
            </a:r>
            <a:r>
              <a:rPr sz="6400" b="0" i="0">
                <a:solidFill>
                  <a:srgbClr val="0E0E0E"/>
                </a:solidFill>
                <a:latin typeface="Didot"/>
              </a:rPr>
              <a:t>.</a:t>
            </a:r>
          </a:p>
        </p:txBody>
      </p:sp>
      <p:sp>
        <p:nvSpPr>
          <p:cNvPr id="11" name="TextBox 10"/>
          <p:cNvSpPr txBox="1"/>
          <p:nvPr/>
        </p:nvSpPr>
        <p:spPr>
          <a:xfrm>
            <a:off x="609585" y="2370572"/>
            <a:ext cx="592651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Shlomi Mor Wigs is a luxury custom-wig atelier based in New York City. We work with two women: the one rebuilding her sense of self after medical hair loss, and the one looking for the most exquisite, undetectable wig of her life. Both deserve the same level of craft, intimacy and editorial restraint — and both find it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FOUNDATIONS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04</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FOUNDATIONS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04</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04 — FOUNDATIONS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Mission </a:t>
            </a:r>
            <a:r>
              <a:rPr sz="5600" b="0" i="0">
                <a:solidFill>
                  <a:srgbClr val="8B8480"/>
                </a:solidFill>
                <a:latin typeface="Didot"/>
              </a:rPr>
              <a:t>·</a:t>
            </a:r>
            <a:r>
              <a:rPr sz="5600" b="0" i="1">
                <a:solidFill>
                  <a:srgbClr val="0E0E0E"/>
                </a:solidFill>
                <a:latin typeface="Didot"/>
              </a:rPr>
              <a:t> Vision </a:t>
            </a:r>
            <a:r>
              <a:rPr sz="5600" b="0" i="0">
                <a:solidFill>
                  <a:srgbClr val="8B8480"/>
                </a:solidFill>
                <a:latin typeface="Didot"/>
              </a:rPr>
              <a:t>·</a:t>
            </a:r>
            <a:r>
              <a:rPr sz="5600" b="0" i="0">
                <a:solidFill>
                  <a:srgbClr val="0E0E0E"/>
                </a:solidFill>
                <a:latin typeface="Didot"/>
              </a:rPr>
              <a:t> Values</a:t>
            </a:r>
          </a:p>
        </p:txBody>
      </p:sp>
      <p:sp>
        <p:nvSpPr>
          <p:cNvPr id="11" name="TextBox 10"/>
          <p:cNvSpPr txBox="1"/>
          <p:nvPr/>
        </p:nvSpPr>
        <p:spPr>
          <a:xfrm>
            <a:off x="609585" y="2878551"/>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MISSION</a:t>
            </a:r>
          </a:p>
        </p:txBody>
      </p:sp>
      <p:sp>
        <p:nvSpPr>
          <p:cNvPr id="12" name="TextBox 11"/>
          <p:cNvSpPr txBox="1"/>
          <p:nvPr/>
        </p:nvSpPr>
        <p:spPr>
          <a:xfrm>
            <a:off x="609585" y="3149474"/>
            <a:ext cx="3386582" cy="507980"/>
          </a:xfrm>
          <a:prstGeom prst="rect">
            <a:avLst/>
          </a:prstGeom>
          <a:noFill/>
        </p:spPr>
        <p:txBody>
          <a:bodyPr wrap="square" lIns="0" rIns="0" tIns="0" bIns="0" anchor="t">
            <a:spAutoFit/>
          </a:bodyPr>
          <a:lstStyle/>
          <a:p>
            <a:pPr algn="l"/>
            <a:r>
              <a:rPr sz="3200" b="0" i="0">
                <a:solidFill>
                  <a:srgbClr val="0E0E0E"/>
                </a:solidFill>
                <a:latin typeface="Didot"/>
              </a:rPr>
              <a:t>Mission</a:t>
            </a:r>
          </a:p>
        </p:txBody>
      </p:sp>
      <p:sp>
        <p:nvSpPr>
          <p:cNvPr id="13" name="TextBox 12"/>
          <p:cNvSpPr txBox="1"/>
          <p:nvPr/>
        </p:nvSpPr>
        <p:spPr>
          <a:xfrm>
            <a:off x="609585" y="3725184"/>
            <a:ext cx="3217253" cy="2539898"/>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To return a woman's reflection to her — through European hair, hand-tied craftsmanship and a private, unhurried experience.</a:t>
            </a:r>
          </a:p>
        </p:txBody>
      </p:sp>
      <p:sp>
        <p:nvSpPr>
          <p:cNvPr id="14" name="TextBox 13"/>
          <p:cNvSpPr txBox="1"/>
          <p:nvPr/>
        </p:nvSpPr>
        <p:spPr>
          <a:xfrm>
            <a:off x="4334825" y="2878551"/>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VISION</a:t>
            </a:r>
          </a:p>
        </p:txBody>
      </p:sp>
      <p:sp>
        <p:nvSpPr>
          <p:cNvPr id="15" name="TextBox 14"/>
          <p:cNvSpPr txBox="1"/>
          <p:nvPr/>
        </p:nvSpPr>
        <p:spPr>
          <a:xfrm>
            <a:off x="4334825" y="3149474"/>
            <a:ext cx="3386582" cy="507980"/>
          </a:xfrm>
          <a:prstGeom prst="rect">
            <a:avLst/>
          </a:prstGeom>
          <a:noFill/>
        </p:spPr>
        <p:txBody>
          <a:bodyPr wrap="square" lIns="0" rIns="0" tIns="0" bIns="0" anchor="t">
            <a:spAutoFit/>
          </a:bodyPr>
          <a:lstStyle/>
          <a:p>
            <a:pPr algn="l"/>
            <a:r>
              <a:rPr sz="3200" b="0" i="0">
                <a:solidFill>
                  <a:srgbClr val="0E0E0E"/>
                </a:solidFill>
                <a:latin typeface="Didot"/>
              </a:rPr>
              <a:t>Vision</a:t>
            </a:r>
          </a:p>
        </p:txBody>
      </p:sp>
      <p:sp>
        <p:nvSpPr>
          <p:cNvPr id="16" name="TextBox 15"/>
          <p:cNvSpPr txBox="1"/>
          <p:nvPr/>
        </p:nvSpPr>
        <p:spPr>
          <a:xfrm>
            <a:off x="4334825" y="3725184"/>
            <a:ext cx="3217253" cy="2539898"/>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To become the most trusted custom-wig atelier between Tel Aviv and New York, known equally for medical sensitivity and editorial excellence.</a:t>
            </a:r>
          </a:p>
        </p:txBody>
      </p:sp>
      <p:sp>
        <p:nvSpPr>
          <p:cNvPr id="17" name="TextBox 16"/>
          <p:cNvSpPr txBox="1"/>
          <p:nvPr/>
        </p:nvSpPr>
        <p:spPr>
          <a:xfrm>
            <a:off x="8060065" y="2878551"/>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VALUES</a:t>
            </a:r>
          </a:p>
        </p:txBody>
      </p:sp>
      <p:sp>
        <p:nvSpPr>
          <p:cNvPr id="18" name="TextBox 17"/>
          <p:cNvSpPr txBox="1"/>
          <p:nvPr/>
        </p:nvSpPr>
        <p:spPr>
          <a:xfrm>
            <a:off x="8060065" y="3149474"/>
            <a:ext cx="3386582" cy="507980"/>
          </a:xfrm>
          <a:prstGeom prst="rect">
            <a:avLst/>
          </a:prstGeom>
          <a:noFill/>
        </p:spPr>
        <p:txBody>
          <a:bodyPr wrap="square" lIns="0" rIns="0" tIns="0" bIns="0" anchor="t">
            <a:spAutoFit/>
          </a:bodyPr>
          <a:lstStyle/>
          <a:p>
            <a:pPr algn="l"/>
            <a:r>
              <a:rPr sz="3200" b="0" i="0">
                <a:solidFill>
                  <a:srgbClr val="0E0E0E"/>
                </a:solidFill>
                <a:latin typeface="Didot"/>
              </a:rPr>
              <a:t>Values</a:t>
            </a:r>
          </a:p>
        </p:txBody>
      </p:sp>
      <p:sp>
        <p:nvSpPr>
          <p:cNvPr id="19" name="TextBox 18"/>
          <p:cNvSpPr txBox="1"/>
          <p:nvPr/>
        </p:nvSpPr>
        <p:spPr>
          <a:xfrm>
            <a:off x="8060065" y="3725184"/>
            <a:ext cx="3217253" cy="2539898"/>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Discretion · Craft · Empathy · Longevity · Beauty without compromise.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STREAMS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05</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STREAMS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05</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05 — STREAMS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Two women, </a:t>
            </a:r>
            <a:r>
              <a:rPr sz="5600" b="0" i="1">
                <a:solidFill>
                  <a:srgbClr val="0E0E0E"/>
                </a:solidFill>
                <a:latin typeface="Didot"/>
              </a:rPr>
              <a:t>one </a:t>
            </a:r>
          </a:p>
          <a:p>
            <a:pPr algn="l"/>
            <a:r>
              <a:rPr sz="5600" b="0" i="0">
                <a:solidFill>
                  <a:srgbClr val="0E0E0E"/>
                </a:solidFill>
                <a:latin typeface="Didot"/>
              </a:rPr>
              <a:t>atelier</a:t>
            </a:r>
            <a:r>
              <a:rPr sz="5600" b="0" i="0">
                <a:solidFill>
                  <a:srgbClr val="0E0E0E"/>
                </a:solidFill>
                <a:latin typeface="Didot"/>
              </a:rPr>
              <a:t>.</a:t>
            </a:r>
          </a:p>
        </p:txBody>
      </p:sp>
      <p:sp>
        <p:nvSpPr>
          <p:cNvPr id="11" name="Rectangle 10"/>
          <p:cNvSpPr/>
          <p:nvPr/>
        </p:nvSpPr>
        <p:spPr>
          <a:xfrm>
            <a:off x="609585" y="2709225"/>
            <a:ext cx="5249202" cy="3386531"/>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8243" y="2963215"/>
            <a:ext cx="4571886" cy="135461"/>
          </a:xfrm>
          <a:prstGeom prst="rect">
            <a:avLst/>
          </a:prstGeom>
          <a:noFill/>
        </p:spPr>
        <p:txBody>
          <a:bodyPr wrap="square" lIns="0" rIns="0" tIns="0" bIns="0" anchor="t">
            <a:spAutoFit/>
          </a:bodyPr>
          <a:lstStyle/>
          <a:p>
            <a:pPr algn="l"/>
            <a:r>
              <a:rPr sz="1000" b="0" i="0" spc="200">
                <a:solidFill>
                  <a:srgbClr val="6E6663"/>
                </a:solidFill>
                <a:latin typeface="Futura LT"/>
              </a:rPr>
              <a:t>MEDICAL HAIR LOSS</a:t>
            </a:r>
          </a:p>
        </p:txBody>
      </p:sp>
      <p:sp>
        <p:nvSpPr>
          <p:cNvPr id="13" name="TextBox 12"/>
          <p:cNvSpPr txBox="1"/>
          <p:nvPr/>
        </p:nvSpPr>
        <p:spPr>
          <a:xfrm>
            <a:off x="948243" y="3318800"/>
            <a:ext cx="4571886" cy="677306"/>
          </a:xfrm>
          <a:prstGeom prst="rect">
            <a:avLst/>
          </a:prstGeom>
          <a:noFill/>
        </p:spPr>
        <p:txBody>
          <a:bodyPr wrap="square" lIns="0" rIns="0" tIns="0" bIns="0" anchor="t">
            <a:spAutoFit/>
          </a:bodyPr>
          <a:lstStyle/>
          <a:p>
            <a:pPr algn="l"/>
            <a:r>
              <a:rPr sz="3200" b="0" i="0">
                <a:solidFill>
                  <a:srgbClr val="0E0E0E"/>
                </a:solidFill>
                <a:latin typeface="Didot"/>
              </a:rPr>
              <a:t>Restoration</a:t>
            </a:r>
          </a:p>
        </p:txBody>
      </p:sp>
      <p:sp>
        <p:nvSpPr>
          <p:cNvPr id="14" name="TextBox 13"/>
          <p:cNvSpPr txBox="1"/>
          <p:nvPr/>
        </p:nvSpPr>
        <p:spPr>
          <a:xfrm>
            <a:off x="948243" y="4063837"/>
            <a:ext cx="4571886"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Soft, supportive, undetectable. We meet her where she is — with European hair, custom caps and the quiet space to recognise herself again.</a:t>
            </a:r>
          </a:p>
        </p:txBody>
      </p:sp>
      <p:sp>
        <p:nvSpPr>
          <p:cNvPr id="15" name="Rectangle 14"/>
          <p:cNvSpPr/>
          <p:nvPr/>
        </p:nvSpPr>
        <p:spPr>
          <a:xfrm>
            <a:off x="6197445" y="2709225"/>
            <a:ext cx="5249202" cy="3386531"/>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6103" y="2963215"/>
            <a:ext cx="4571886" cy="135461"/>
          </a:xfrm>
          <a:prstGeom prst="rect">
            <a:avLst/>
          </a:prstGeom>
          <a:noFill/>
        </p:spPr>
        <p:txBody>
          <a:bodyPr wrap="square" lIns="0" rIns="0" tIns="0" bIns="0" anchor="t">
            <a:spAutoFit/>
          </a:bodyPr>
          <a:lstStyle/>
          <a:p>
            <a:pPr algn="l"/>
            <a:r>
              <a:rPr sz="1000" b="0" i="0" spc="200">
                <a:solidFill>
                  <a:srgbClr val="FFFFFF"/>
                </a:solidFill>
                <a:latin typeface="Futura LT"/>
              </a:rPr>
              <a:t>LUXURY CUSTOM WIGS</a:t>
            </a:r>
          </a:p>
        </p:txBody>
      </p:sp>
      <p:sp>
        <p:nvSpPr>
          <p:cNvPr id="17" name="TextBox 16"/>
          <p:cNvSpPr txBox="1"/>
          <p:nvPr/>
        </p:nvSpPr>
        <p:spPr>
          <a:xfrm>
            <a:off x="6536103" y="3318800"/>
            <a:ext cx="4571886" cy="677306"/>
          </a:xfrm>
          <a:prstGeom prst="rect">
            <a:avLst/>
          </a:prstGeom>
          <a:noFill/>
        </p:spPr>
        <p:txBody>
          <a:bodyPr wrap="square" lIns="0" rIns="0" tIns="0" bIns="0" anchor="t">
            <a:spAutoFit/>
          </a:bodyPr>
          <a:lstStyle/>
          <a:p>
            <a:pPr algn="l"/>
            <a:r>
              <a:rPr sz="3200" b="0" i="0">
                <a:solidFill>
                  <a:srgbClr val="FFFFFF"/>
                </a:solidFill>
                <a:latin typeface="Didot"/>
              </a:rPr>
              <a:t>Style &amp; status</a:t>
            </a:r>
          </a:p>
        </p:txBody>
      </p:sp>
      <p:sp>
        <p:nvSpPr>
          <p:cNvPr id="18" name="TextBox 17"/>
          <p:cNvSpPr txBox="1"/>
          <p:nvPr/>
        </p:nvSpPr>
        <p:spPr>
          <a:xfrm>
            <a:off x="6536103" y="4063837"/>
            <a:ext cx="4571886" cy="1693266"/>
          </a:xfrm>
          <a:prstGeom prst="rect">
            <a:avLst/>
          </a:prstGeom>
          <a:noFill/>
        </p:spPr>
        <p:txBody>
          <a:bodyPr wrap="square" lIns="0" rIns="0" tIns="0" bIns="0" anchor="t">
            <a:spAutoFit/>
          </a:bodyPr>
          <a:lstStyle/>
          <a:p>
            <a:pPr algn="l">
              <a:lnSpc>
                <a:spcPct val="155000"/>
              </a:lnSpc>
            </a:pPr>
            <a:r>
              <a:rPr sz="1300" b="0" i="0">
                <a:solidFill>
                  <a:srgbClr val="FFFFFF"/>
                </a:solidFill>
                <a:latin typeface="Futura LT"/>
              </a:rPr>
              <a:t>Fashion-editorial restraint with the craft of a couture house. Made for clients who never compromise on the quality of their hair.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IDENTITY</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06</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IDENTITY</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06</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06 — IDENTITY</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6400" b="0" i="0">
                <a:solidFill>
                  <a:srgbClr val="0E0E0E"/>
                </a:solidFill>
                <a:latin typeface="Didot"/>
              </a:rPr>
              <a:t>The </a:t>
            </a:r>
            <a:r>
              <a:rPr sz="6400" b="0" i="1">
                <a:solidFill>
                  <a:srgbClr val="0E0E0E"/>
                </a:solidFill>
                <a:latin typeface="Didot"/>
              </a:rPr>
              <a:t>Logo</a:t>
            </a:r>
          </a:p>
        </p:txBody>
      </p:sp>
      <p:sp>
        <p:nvSpPr>
          <p:cNvPr id="11" name="Rectangle 10"/>
          <p:cNvSpPr/>
          <p:nvPr/>
        </p:nvSpPr>
        <p:spPr>
          <a:xfrm>
            <a:off x="609585" y="2201245"/>
            <a:ext cx="4571886" cy="2709225"/>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8914" y="2302841"/>
            <a:ext cx="4233227" cy="135461"/>
          </a:xfrm>
          <a:prstGeom prst="rect">
            <a:avLst/>
          </a:prstGeom>
          <a:noFill/>
        </p:spPr>
        <p:txBody>
          <a:bodyPr wrap="square" lIns="0" rIns="0" tIns="0" bIns="0" anchor="t">
            <a:spAutoFit/>
          </a:bodyPr>
          <a:lstStyle/>
          <a:p>
            <a:pPr algn="l"/>
            <a:r>
              <a:rPr sz="900" b="0" i="0" spc="200">
                <a:solidFill>
                  <a:srgbClr val="8B8480"/>
                </a:solidFill>
                <a:latin typeface="Futura LT"/>
              </a:rPr>
              <a:t>PRIMARY · CREAM</a:t>
            </a:r>
          </a:p>
        </p:txBody>
      </p:sp>
      <p:pic>
        <p:nvPicPr>
          <p:cNvPr id="13" name="Picture 12" descr="shlomi-mor-logo-black.png"/>
          <p:cNvPicPr>
            <a:picLocks noChangeAspect="1"/>
          </p:cNvPicPr>
          <p:nvPr/>
        </p:nvPicPr>
        <p:blipFill>
          <a:blip r:embed="rId2"/>
          <a:stretch>
            <a:fillRect/>
          </a:stretch>
        </p:blipFill>
        <p:spPr>
          <a:xfrm>
            <a:off x="1962101" y="2878551"/>
            <a:ext cx="1866853" cy="1523939"/>
          </a:xfrm>
          <a:prstGeom prst="rect">
            <a:avLst/>
          </a:prstGeom>
        </p:spPr>
      </p:pic>
      <p:sp>
        <p:nvSpPr>
          <p:cNvPr id="14" name="Rectangle 13"/>
          <p:cNvSpPr/>
          <p:nvPr/>
        </p:nvSpPr>
        <p:spPr>
          <a:xfrm>
            <a:off x="5520129" y="2201245"/>
            <a:ext cx="6061982" cy="1693266"/>
          </a:xfrm>
          <a:prstGeom prst="rect">
            <a:avLst/>
          </a:prstGeom>
          <a:solidFill>
            <a:srgbClr val="0E0E0E"/>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89458" y="2302841"/>
            <a:ext cx="5723323" cy="135461"/>
          </a:xfrm>
          <a:prstGeom prst="rect">
            <a:avLst/>
          </a:prstGeom>
          <a:noFill/>
        </p:spPr>
        <p:txBody>
          <a:bodyPr wrap="square" lIns="0" rIns="0" tIns="0" bIns="0" anchor="t">
            <a:spAutoFit/>
          </a:bodyPr>
          <a:lstStyle/>
          <a:p>
            <a:pPr algn="l"/>
            <a:r>
              <a:rPr sz="900" b="0" i="0" spc="200">
                <a:solidFill>
                  <a:srgbClr val="C9C4BF"/>
                </a:solidFill>
                <a:latin typeface="Futura LT"/>
              </a:rPr>
              <a:t>REVERSED · BLACK</a:t>
            </a:r>
          </a:p>
        </p:txBody>
      </p:sp>
      <p:pic>
        <p:nvPicPr>
          <p:cNvPr id="16" name="Picture 15" descr="shlomi-mor-logo-white.png"/>
          <p:cNvPicPr>
            <a:picLocks noChangeAspect="1"/>
          </p:cNvPicPr>
          <p:nvPr/>
        </p:nvPicPr>
        <p:blipFill>
          <a:blip r:embed="rId3"/>
          <a:stretch>
            <a:fillRect/>
          </a:stretch>
        </p:blipFill>
        <p:spPr>
          <a:xfrm>
            <a:off x="7980692" y="2666893"/>
            <a:ext cx="1140855" cy="931296"/>
          </a:xfrm>
          <a:prstGeom prst="rect">
            <a:avLst/>
          </a:prstGeom>
        </p:spPr>
      </p:pic>
      <p:sp>
        <p:nvSpPr>
          <p:cNvPr id="17" name="Rectangle 16"/>
          <p:cNvSpPr/>
          <p:nvPr/>
        </p:nvSpPr>
        <p:spPr>
          <a:xfrm>
            <a:off x="5520129" y="4063837"/>
            <a:ext cx="6061982" cy="846633"/>
          </a:xfrm>
          <a:prstGeom prst="rect">
            <a:avLst/>
          </a:prstGeom>
          <a:solidFill>
            <a:srgbClr val="FCE3E5"/>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89458" y="4165433"/>
            <a:ext cx="5723323" cy="135461"/>
          </a:xfrm>
          <a:prstGeom prst="rect">
            <a:avLst/>
          </a:prstGeom>
          <a:noFill/>
        </p:spPr>
        <p:txBody>
          <a:bodyPr wrap="square" lIns="0" rIns="0" tIns="0" bIns="0" anchor="t">
            <a:spAutoFit/>
          </a:bodyPr>
          <a:lstStyle/>
          <a:p>
            <a:pPr algn="l"/>
            <a:r>
              <a:rPr sz="900" b="0" i="0" spc="200">
                <a:solidFill>
                  <a:srgbClr val="8B8480"/>
                </a:solidFill>
                <a:latin typeface="Futura LT"/>
              </a:rPr>
              <a:t>MONOGRAM · BLUSH</a:t>
            </a:r>
          </a:p>
        </p:txBody>
      </p:sp>
      <p:pic>
        <p:nvPicPr>
          <p:cNvPr id="19" name="Picture 18" descr="shlomi-mor-monogram-black.png"/>
          <p:cNvPicPr>
            <a:picLocks noChangeAspect="1"/>
          </p:cNvPicPr>
          <p:nvPr/>
        </p:nvPicPr>
        <p:blipFill>
          <a:blip r:embed="rId4"/>
          <a:stretch>
            <a:fillRect/>
          </a:stretch>
        </p:blipFill>
        <p:spPr>
          <a:xfrm>
            <a:off x="8230884" y="4300895"/>
            <a:ext cx="640470" cy="541845"/>
          </a:xfrm>
          <a:prstGeom prst="rect">
            <a:avLst/>
          </a:prstGeom>
        </p:spPr>
      </p:pic>
      <p:sp>
        <p:nvSpPr>
          <p:cNvPr id="20" name="TextBox 19"/>
          <p:cNvSpPr txBox="1"/>
          <p:nvPr/>
        </p:nvSpPr>
        <p:spPr>
          <a:xfrm>
            <a:off x="609585" y="5249123"/>
            <a:ext cx="1693291" cy="135461"/>
          </a:xfrm>
          <a:prstGeom prst="rect">
            <a:avLst/>
          </a:prstGeom>
          <a:noFill/>
        </p:spPr>
        <p:txBody>
          <a:bodyPr wrap="square" lIns="0" rIns="0" tIns="0" bIns="0" anchor="t">
            <a:spAutoFit/>
          </a:bodyPr>
          <a:lstStyle/>
          <a:p>
            <a:pPr algn="l"/>
            <a:r>
              <a:rPr sz="1000" b="0" i="0" spc="200">
                <a:solidFill>
                  <a:srgbClr val="0E0E0E"/>
                </a:solidFill>
                <a:latin typeface="Futura LT"/>
              </a:rPr>
              <a:t>PRIMARY LOCKUP</a:t>
            </a:r>
          </a:p>
        </p:txBody>
      </p:sp>
      <p:sp>
        <p:nvSpPr>
          <p:cNvPr id="21" name="TextBox 20"/>
          <p:cNvSpPr txBox="1"/>
          <p:nvPr/>
        </p:nvSpPr>
        <p:spPr>
          <a:xfrm>
            <a:off x="609585" y="5452315"/>
            <a:ext cx="3386582"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The full mark: SM monogram crowning the SHLOMI MOR WIGS wordmark. Used on cover, packaging, signage and editorial.</a:t>
            </a:r>
          </a:p>
        </p:txBody>
      </p:sp>
      <p:sp>
        <p:nvSpPr>
          <p:cNvPr id="22" name="TextBox 21"/>
          <p:cNvSpPr txBox="1"/>
          <p:nvPr/>
        </p:nvSpPr>
        <p:spPr>
          <a:xfrm>
            <a:off x="4334825" y="5249123"/>
            <a:ext cx="1693291" cy="135461"/>
          </a:xfrm>
          <a:prstGeom prst="rect">
            <a:avLst/>
          </a:prstGeom>
          <a:noFill/>
        </p:spPr>
        <p:txBody>
          <a:bodyPr wrap="square" lIns="0" rIns="0" tIns="0" bIns="0" anchor="t">
            <a:spAutoFit/>
          </a:bodyPr>
          <a:lstStyle/>
          <a:p>
            <a:pPr algn="l"/>
            <a:r>
              <a:rPr sz="1000" b="0" i="0" spc="200">
                <a:solidFill>
                  <a:srgbClr val="0E0E0E"/>
                </a:solidFill>
                <a:latin typeface="Futura LT"/>
              </a:rPr>
              <a:t>REVERSED</a:t>
            </a:r>
          </a:p>
        </p:txBody>
      </p:sp>
      <p:sp>
        <p:nvSpPr>
          <p:cNvPr id="23" name="TextBox 22"/>
          <p:cNvSpPr txBox="1"/>
          <p:nvPr/>
        </p:nvSpPr>
        <p:spPr>
          <a:xfrm>
            <a:off x="4334825" y="5452315"/>
            <a:ext cx="3386582"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For dark surfaces and editorial imagery the full mark is set in soft paper white. Always reserve quiet contrast around it.</a:t>
            </a:r>
          </a:p>
        </p:txBody>
      </p:sp>
      <p:sp>
        <p:nvSpPr>
          <p:cNvPr id="24" name="TextBox 23"/>
          <p:cNvSpPr txBox="1"/>
          <p:nvPr/>
        </p:nvSpPr>
        <p:spPr>
          <a:xfrm>
            <a:off x="8060065" y="5249123"/>
            <a:ext cx="1693291" cy="135461"/>
          </a:xfrm>
          <a:prstGeom prst="rect">
            <a:avLst/>
          </a:prstGeom>
          <a:noFill/>
        </p:spPr>
        <p:txBody>
          <a:bodyPr wrap="square" lIns="0" rIns="0" tIns="0" bIns="0" anchor="t">
            <a:spAutoFit/>
          </a:bodyPr>
          <a:lstStyle/>
          <a:p>
            <a:pPr algn="l"/>
            <a:r>
              <a:rPr sz="1000" b="0" i="0" spc="200">
                <a:solidFill>
                  <a:srgbClr val="0E0E0E"/>
                </a:solidFill>
                <a:latin typeface="Futura LT"/>
              </a:rPr>
              <a:t>MONOGRAM</a:t>
            </a:r>
          </a:p>
        </p:txBody>
      </p:sp>
      <p:sp>
        <p:nvSpPr>
          <p:cNvPr id="25" name="TextBox 24"/>
          <p:cNvSpPr txBox="1"/>
          <p:nvPr/>
        </p:nvSpPr>
        <p:spPr>
          <a:xfrm>
            <a:off x="8060065" y="5452315"/>
            <a:ext cx="3386582"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The SM monogram alone. Used for stamps, favicons, embroidery, dust-bag corner marks and any small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CONSTRUCTION &amp; CLEAR SPACE</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07</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CONSTRUCTION &amp; CLEAR SPACE</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07</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07 — CONSTRUCTION &amp; CLEAR SPACE</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Built on </a:t>
            </a:r>
            <a:r>
              <a:rPr sz="5600" b="0" i="1">
                <a:solidFill>
                  <a:srgbClr val="0E0E0E"/>
                </a:solidFill>
                <a:latin typeface="Didot"/>
              </a:rPr>
              <a:t>x.</a:t>
            </a:r>
          </a:p>
        </p:txBody>
      </p:sp>
      <p:sp>
        <p:nvSpPr>
          <p:cNvPr id="11" name="Rectangle 10"/>
          <p:cNvSpPr/>
          <p:nvPr/>
        </p:nvSpPr>
        <p:spPr>
          <a:xfrm>
            <a:off x="609585" y="2370572"/>
            <a:ext cx="6434506" cy="3725184"/>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lomi-mor-logo-black.png"/>
          <p:cNvPicPr>
            <a:picLocks noChangeAspect="1"/>
          </p:cNvPicPr>
          <p:nvPr/>
        </p:nvPicPr>
        <p:blipFill>
          <a:blip r:embed="rId2"/>
          <a:stretch>
            <a:fillRect/>
          </a:stretch>
        </p:blipFill>
        <p:spPr>
          <a:xfrm>
            <a:off x="2582269" y="3217205"/>
            <a:ext cx="2489138" cy="2031919"/>
          </a:xfrm>
          <a:prstGeom prst="rect">
            <a:avLst/>
          </a:prstGeom>
        </p:spPr>
      </p:pic>
      <p:cxnSp>
        <p:nvCxnSpPr>
          <p:cNvPr id="13" name="Connector 12"/>
          <p:cNvCxnSpPr/>
          <p:nvPr/>
        </p:nvCxnSpPr>
        <p:spPr>
          <a:xfrm>
            <a:off x="1413898"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218211"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022524"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826838"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31151"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35464"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39777" y="2370572"/>
            <a:ext cx="0" cy="3725184"/>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585" y="3115609"/>
            <a:ext cx="6434505"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585" y="3860645"/>
            <a:ext cx="6434505"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585" y="4605682"/>
            <a:ext cx="6434505"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585" y="5350719"/>
            <a:ext cx="6434505"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50480" y="2539898"/>
            <a:ext cx="4063898" cy="169327"/>
          </a:xfrm>
          <a:prstGeom prst="rect">
            <a:avLst/>
          </a:prstGeom>
          <a:noFill/>
        </p:spPr>
        <p:txBody>
          <a:bodyPr wrap="square" lIns="0" rIns="0" tIns="0" bIns="0" anchor="t">
            <a:spAutoFit/>
          </a:bodyPr>
          <a:lstStyle/>
          <a:p>
            <a:pPr algn="l"/>
            <a:r>
              <a:rPr sz="1000" b="0" i="0" spc="200">
                <a:solidFill>
                  <a:srgbClr val="8B8480"/>
                </a:solidFill>
                <a:latin typeface="Futura LT"/>
              </a:rPr>
              <a:t>CLEAR SPACE</a:t>
            </a:r>
          </a:p>
        </p:txBody>
      </p:sp>
      <p:sp>
        <p:nvSpPr>
          <p:cNvPr id="25" name="TextBox 24"/>
          <p:cNvSpPr txBox="1"/>
          <p:nvPr/>
        </p:nvSpPr>
        <p:spPr>
          <a:xfrm>
            <a:off x="7450480" y="2760023"/>
            <a:ext cx="4063898" cy="507980"/>
          </a:xfrm>
          <a:prstGeom prst="rect">
            <a:avLst/>
          </a:prstGeom>
          <a:noFill/>
        </p:spPr>
        <p:txBody>
          <a:bodyPr wrap="square" lIns="0" rIns="0" tIns="0" bIns="0" anchor="t">
            <a:spAutoFit/>
          </a:bodyPr>
          <a:lstStyle/>
          <a:p>
            <a:pPr algn="l"/>
            <a:r>
              <a:rPr sz="2200" b="0" i="0">
                <a:solidFill>
                  <a:srgbClr val="0E0E0E"/>
                </a:solidFill>
                <a:latin typeface="Didot"/>
              </a:rPr>
              <a:t>x = height of the M stem</a:t>
            </a:r>
          </a:p>
        </p:txBody>
      </p:sp>
      <p:sp>
        <p:nvSpPr>
          <p:cNvPr id="26" name="TextBox 25"/>
          <p:cNvSpPr txBox="1"/>
          <p:nvPr/>
        </p:nvSpPr>
        <p:spPr>
          <a:xfrm>
            <a:off x="7450480" y="3217205"/>
            <a:ext cx="406389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Reserve at least one x of empty space on all sides of the mark. This is a non-negotiable minimum — never crowd the logo with text, imagery or color blocks.</a:t>
            </a:r>
          </a:p>
        </p:txBody>
      </p:sp>
      <p:sp>
        <p:nvSpPr>
          <p:cNvPr id="27" name="TextBox 26"/>
          <p:cNvSpPr txBox="1"/>
          <p:nvPr/>
        </p:nvSpPr>
        <p:spPr>
          <a:xfrm>
            <a:off x="7450480" y="4571817"/>
            <a:ext cx="4063898" cy="169327"/>
          </a:xfrm>
          <a:prstGeom prst="rect">
            <a:avLst/>
          </a:prstGeom>
          <a:noFill/>
        </p:spPr>
        <p:txBody>
          <a:bodyPr wrap="square" lIns="0" rIns="0" tIns="0" bIns="0" anchor="t">
            <a:spAutoFit/>
          </a:bodyPr>
          <a:lstStyle/>
          <a:p>
            <a:pPr algn="l"/>
            <a:r>
              <a:rPr sz="1000" b="0" i="0" spc="200">
                <a:solidFill>
                  <a:srgbClr val="8B8480"/>
                </a:solidFill>
                <a:latin typeface="Futura LT"/>
              </a:rPr>
              <a:t>MINIMUM SIZE</a:t>
            </a:r>
          </a:p>
        </p:txBody>
      </p:sp>
      <p:sp>
        <p:nvSpPr>
          <p:cNvPr id="28" name="TextBox 27"/>
          <p:cNvSpPr txBox="1"/>
          <p:nvPr/>
        </p:nvSpPr>
        <p:spPr>
          <a:xfrm>
            <a:off x="7450480" y="4791942"/>
            <a:ext cx="4063898" cy="507980"/>
          </a:xfrm>
          <a:prstGeom prst="rect">
            <a:avLst/>
          </a:prstGeom>
          <a:noFill/>
        </p:spPr>
        <p:txBody>
          <a:bodyPr wrap="square" lIns="0" rIns="0" tIns="0" bIns="0" anchor="t">
            <a:spAutoFit/>
          </a:bodyPr>
          <a:lstStyle/>
          <a:p>
            <a:pPr algn="l"/>
            <a:r>
              <a:rPr sz="2200" b="0" i="0">
                <a:solidFill>
                  <a:srgbClr val="0E0E0E"/>
                </a:solidFill>
                <a:latin typeface="Didot"/>
              </a:rPr>
              <a:t>Digital 28 px · Print 16 mm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MISUSE</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08</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MISUSE</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08</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08 — MISUSE</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6400" b="0" i="0">
                <a:solidFill>
                  <a:srgbClr val="0E0E0E"/>
                </a:solidFill>
                <a:latin typeface="Didot"/>
              </a:rPr>
              <a:t>Please, </a:t>
            </a:r>
            <a:r>
              <a:rPr sz="6400" b="0" i="1">
                <a:solidFill>
                  <a:srgbClr val="0E0E0E"/>
                </a:solidFill>
                <a:latin typeface="Didot"/>
              </a:rPr>
              <a:t>don't.</a:t>
            </a:r>
          </a:p>
        </p:txBody>
      </p:sp>
      <p:sp>
        <p:nvSpPr>
          <p:cNvPr id="11" name="TextBox 10"/>
          <p:cNvSpPr txBox="1"/>
          <p:nvPr/>
        </p:nvSpPr>
        <p:spPr>
          <a:xfrm>
            <a:off x="609585" y="2370572"/>
            <a:ext cx="592651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The logo is a quiet object. The following alterations damage its tone, legibility or accessibility — and are never permitted in brand communication.</a:t>
            </a:r>
          </a:p>
        </p:txBody>
      </p:sp>
      <p:sp>
        <p:nvSpPr>
          <p:cNvPr id="12" name="Rectangle 11"/>
          <p:cNvSpPr/>
          <p:nvPr/>
        </p:nvSpPr>
        <p:spPr>
          <a:xfrm>
            <a:off x="609585" y="3725184"/>
            <a:ext cx="3488179" cy="1354612"/>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lomi-mor-logo-black.png"/>
          <p:cNvPicPr>
            <a:picLocks noChangeAspect="1"/>
          </p:cNvPicPr>
          <p:nvPr/>
        </p:nvPicPr>
        <p:blipFill>
          <a:blip r:embed="rId2"/>
          <a:stretch>
            <a:fillRect/>
          </a:stretch>
        </p:blipFill>
        <p:spPr>
          <a:xfrm>
            <a:off x="1938818" y="3928376"/>
            <a:ext cx="829713" cy="677306"/>
          </a:xfrm>
          <a:prstGeom prst="rect">
            <a:avLst/>
          </a:prstGeom>
        </p:spPr>
      </p:pic>
      <p:sp>
        <p:nvSpPr>
          <p:cNvPr id="14" name="TextBox 13"/>
          <p:cNvSpPr txBox="1"/>
          <p:nvPr/>
        </p:nvSpPr>
        <p:spPr>
          <a:xfrm>
            <a:off x="745048" y="4808874"/>
            <a:ext cx="3217253" cy="118529"/>
          </a:xfrm>
          <a:prstGeom prst="rect">
            <a:avLst/>
          </a:prstGeom>
          <a:noFill/>
        </p:spPr>
        <p:txBody>
          <a:bodyPr wrap="square" lIns="0" rIns="0" tIns="0" bIns="0" anchor="t">
            <a:spAutoFit/>
          </a:bodyPr>
          <a:lstStyle/>
          <a:p>
            <a:pPr algn="l"/>
            <a:r>
              <a:rPr sz="1000" b="0" i="0" spc="180">
                <a:solidFill>
                  <a:srgbClr val="0E0E0E"/>
                </a:solidFill>
                <a:latin typeface="Futura LT"/>
              </a:rPr>
              <a:t>01 · NEVER ROTATE</a:t>
            </a:r>
          </a:p>
        </p:txBody>
      </p:sp>
      <p:sp>
        <p:nvSpPr>
          <p:cNvPr id="15" name="TextBox 14"/>
          <p:cNvSpPr txBox="1"/>
          <p:nvPr/>
        </p:nvSpPr>
        <p:spPr>
          <a:xfrm>
            <a:off x="745048" y="4961268"/>
            <a:ext cx="3217253" cy="118529"/>
          </a:xfrm>
          <a:prstGeom prst="rect">
            <a:avLst/>
          </a:prstGeom>
          <a:noFill/>
        </p:spPr>
        <p:txBody>
          <a:bodyPr wrap="square" lIns="0" rIns="0" tIns="0" bIns="0" anchor="t">
            <a:spAutoFit/>
          </a:bodyPr>
          <a:lstStyle/>
          <a:p>
            <a:pPr algn="l"/>
            <a:r>
              <a:rPr sz="900" b="0" i="1">
                <a:solidFill>
                  <a:srgbClr val="8B8480"/>
                </a:solidFill>
                <a:latin typeface="Futura LT"/>
              </a:rPr>
              <a:t>Keep the mark upright.</a:t>
            </a:r>
          </a:p>
        </p:txBody>
      </p:sp>
      <p:sp>
        <p:nvSpPr>
          <p:cNvPr id="16" name="Oval 15"/>
          <p:cNvSpPr/>
          <p:nvPr/>
        </p:nvSpPr>
        <p:spPr>
          <a:xfrm>
            <a:off x="3826838" y="3826780"/>
            <a:ext cx="203195" cy="203192"/>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26838" y="3826780"/>
            <a:ext cx="203195" cy="203192"/>
          </a:xfrm>
          <a:prstGeom prst="rect">
            <a:avLst/>
          </a:prstGeom>
          <a:noFill/>
        </p:spPr>
        <p:txBody>
          <a:bodyPr wrap="square" lIns="0" rIns="0" tIns="0" bIns="0" anchor="ctr">
            <a:spAutoFit/>
          </a:bodyPr>
          <a:lstStyle/>
          <a:p>
            <a:pPr algn="ctr"/>
            <a:r>
              <a:rPr sz="1200" b="0" i="0">
                <a:solidFill>
                  <a:srgbClr val="FFFFFF"/>
                </a:solidFill>
                <a:latin typeface="Futura LT"/>
              </a:rPr>
              <a:t>×</a:t>
            </a:r>
          </a:p>
        </p:txBody>
      </p:sp>
      <p:sp>
        <p:nvSpPr>
          <p:cNvPr id="18" name="Rectangle 17"/>
          <p:cNvSpPr/>
          <p:nvPr/>
        </p:nvSpPr>
        <p:spPr>
          <a:xfrm>
            <a:off x="4267093" y="3725184"/>
            <a:ext cx="3488179" cy="1354612"/>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hlomi-mor-logo-black.png"/>
          <p:cNvPicPr>
            <a:picLocks noChangeAspect="1"/>
          </p:cNvPicPr>
          <p:nvPr/>
        </p:nvPicPr>
        <p:blipFill>
          <a:blip r:embed="rId2"/>
          <a:stretch>
            <a:fillRect/>
          </a:stretch>
        </p:blipFill>
        <p:spPr>
          <a:xfrm>
            <a:off x="5596327" y="3928376"/>
            <a:ext cx="829713" cy="677306"/>
          </a:xfrm>
          <a:prstGeom prst="rect">
            <a:avLst/>
          </a:prstGeom>
        </p:spPr>
      </p:pic>
      <p:sp>
        <p:nvSpPr>
          <p:cNvPr id="20" name="TextBox 19"/>
          <p:cNvSpPr txBox="1"/>
          <p:nvPr/>
        </p:nvSpPr>
        <p:spPr>
          <a:xfrm>
            <a:off x="4402557" y="4808874"/>
            <a:ext cx="3217253" cy="118529"/>
          </a:xfrm>
          <a:prstGeom prst="rect">
            <a:avLst/>
          </a:prstGeom>
          <a:noFill/>
        </p:spPr>
        <p:txBody>
          <a:bodyPr wrap="square" lIns="0" rIns="0" tIns="0" bIns="0" anchor="t">
            <a:spAutoFit/>
          </a:bodyPr>
          <a:lstStyle/>
          <a:p>
            <a:pPr algn="l"/>
            <a:r>
              <a:rPr sz="1000" b="0" i="0" spc="180">
                <a:solidFill>
                  <a:srgbClr val="0E0E0E"/>
                </a:solidFill>
                <a:latin typeface="Futura LT"/>
              </a:rPr>
              <a:t>02 · NEVER STRETCH</a:t>
            </a:r>
          </a:p>
        </p:txBody>
      </p:sp>
      <p:sp>
        <p:nvSpPr>
          <p:cNvPr id="21" name="TextBox 20"/>
          <p:cNvSpPr txBox="1"/>
          <p:nvPr/>
        </p:nvSpPr>
        <p:spPr>
          <a:xfrm>
            <a:off x="4402557" y="4961268"/>
            <a:ext cx="3217253" cy="118529"/>
          </a:xfrm>
          <a:prstGeom prst="rect">
            <a:avLst/>
          </a:prstGeom>
          <a:noFill/>
        </p:spPr>
        <p:txBody>
          <a:bodyPr wrap="square" lIns="0" rIns="0" tIns="0" bIns="0" anchor="t">
            <a:spAutoFit/>
          </a:bodyPr>
          <a:lstStyle/>
          <a:p>
            <a:pPr algn="l"/>
            <a:r>
              <a:rPr sz="900" b="0" i="1">
                <a:solidFill>
                  <a:srgbClr val="8B8480"/>
                </a:solidFill>
                <a:latin typeface="Futura LT"/>
              </a:rPr>
              <a:t>Always uniform scale.</a:t>
            </a:r>
          </a:p>
        </p:txBody>
      </p:sp>
      <p:sp>
        <p:nvSpPr>
          <p:cNvPr id="22" name="Oval 21"/>
          <p:cNvSpPr/>
          <p:nvPr/>
        </p:nvSpPr>
        <p:spPr>
          <a:xfrm>
            <a:off x="7484346" y="3826780"/>
            <a:ext cx="203195" cy="203192"/>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84346" y="3826780"/>
            <a:ext cx="203195" cy="203192"/>
          </a:xfrm>
          <a:prstGeom prst="rect">
            <a:avLst/>
          </a:prstGeom>
          <a:noFill/>
        </p:spPr>
        <p:txBody>
          <a:bodyPr wrap="square" lIns="0" rIns="0" tIns="0" bIns="0" anchor="ctr">
            <a:spAutoFit/>
          </a:bodyPr>
          <a:lstStyle/>
          <a:p>
            <a:pPr algn="ctr"/>
            <a:r>
              <a:rPr sz="1200" b="0" i="0">
                <a:solidFill>
                  <a:srgbClr val="FFFFFF"/>
                </a:solidFill>
                <a:latin typeface="Futura LT"/>
              </a:rPr>
              <a:t>×</a:t>
            </a:r>
          </a:p>
        </p:txBody>
      </p:sp>
      <p:sp>
        <p:nvSpPr>
          <p:cNvPr id="24" name="Rectangle 23"/>
          <p:cNvSpPr/>
          <p:nvPr/>
        </p:nvSpPr>
        <p:spPr>
          <a:xfrm>
            <a:off x="7924602" y="3725184"/>
            <a:ext cx="3488179" cy="1354612"/>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hlomi-mor-logo-black.png"/>
          <p:cNvPicPr>
            <a:picLocks noChangeAspect="1"/>
          </p:cNvPicPr>
          <p:nvPr/>
        </p:nvPicPr>
        <p:blipFill>
          <a:blip r:embed="rId2"/>
          <a:stretch>
            <a:fillRect/>
          </a:stretch>
        </p:blipFill>
        <p:spPr>
          <a:xfrm>
            <a:off x="9253835" y="3928376"/>
            <a:ext cx="829713" cy="677306"/>
          </a:xfrm>
          <a:prstGeom prst="rect">
            <a:avLst/>
          </a:prstGeom>
        </p:spPr>
      </p:pic>
      <p:sp>
        <p:nvSpPr>
          <p:cNvPr id="26" name="TextBox 25"/>
          <p:cNvSpPr txBox="1"/>
          <p:nvPr/>
        </p:nvSpPr>
        <p:spPr>
          <a:xfrm>
            <a:off x="8060065" y="4808874"/>
            <a:ext cx="3217253" cy="118529"/>
          </a:xfrm>
          <a:prstGeom prst="rect">
            <a:avLst/>
          </a:prstGeom>
          <a:noFill/>
        </p:spPr>
        <p:txBody>
          <a:bodyPr wrap="square" lIns="0" rIns="0" tIns="0" bIns="0" anchor="t">
            <a:spAutoFit/>
          </a:bodyPr>
          <a:lstStyle/>
          <a:p>
            <a:pPr algn="l"/>
            <a:r>
              <a:rPr sz="1000" b="0" i="0" spc="180">
                <a:solidFill>
                  <a:srgbClr val="0E0E0E"/>
                </a:solidFill>
                <a:latin typeface="Futura LT"/>
              </a:rPr>
              <a:t>03 · NEVER LOW CONTRAST</a:t>
            </a:r>
          </a:p>
        </p:txBody>
      </p:sp>
      <p:sp>
        <p:nvSpPr>
          <p:cNvPr id="27" name="TextBox 26"/>
          <p:cNvSpPr txBox="1"/>
          <p:nvPr/>
        </p:nvSpPr>
        <p:spPr>
          <a:xfrm>
            <a:off x="8060065" y="4961268"/>
            <a:ext cx="3217253" cy="118529"/>
          </a:xfrm>
          <a:prstGeom prst="rect">
            <a:avLst/>
          </a:prstGeom>
          <a:noFill/>
        </p:spPr>
        <p:txBody>
          <a:bodyPr wrap="square" lIns="0" rIns="0" tIns="0" bIns="0" anchor="t">
            <a:spAutoFit/>
          </a:bodyPr>
          <a:lstStyle/>
          <a:p>
            <a:pPr algn="l"/>
            <a:r>
              <a:rPr sz="900" b="0" i="1">
                <a:solidFill>
                  <a:srgbClr val="8B8480"/>
                </a:solidFill>
                <a:latin typeface="Futura LT"/>
              </a:rPr>
              <a:t>Always legible.</a:t>
            </a:r>
          </a:p>
        </p:txBody>
      </p:sp>
      <p:sp>
        <p:nvSpPr>
          <p:cNvPr id="28" name="Oval 27"/>
          <p:cNvSpPr/>
          <p:nvPr/>
        </p:nvSpPr>
        <p:spPr>
          <a:xfrm>
            <a:off x="11141855" y="3826780"/>
            <a:ext cx="203195" cy="203192"/>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41855" y="3826780"/>
            <a:ext cx="203195" cy="203192"/>
          </a:xfrm>
          <a:prstGeom prst="rect">
            <a:avLst/>
          </a:prstGeom>
          <a:noFill/>
        </p:spPr>
        <p:txBody>
          <a:bodyPr wrap="square" lIns="0" rIns="0" tIns="0" bIns="0" anchor="ctr">
            <a:spAutoFit/>
          </a:bodyPr>
          <a:lstStyle/>
          <a:p>
            <a:pPr algn="ctr"/>
            <a:r>
              <a:rPr sz="1200" b="0" i="0">
                <a:solidFill>
                  <a:srgbClr val="FFFFFF"/>
                </a:solidFill>
                <a:latin typeface="Futura LT"/>
              </a:rPr>
              <a:t>×</a:t>
            </a:r>
          </a:p>
        </p:txBody>
      </p:sp>
      <p:sp>
        <p:nvSpPr>
          <p:cNvPr id="30" name="Rectangle 29"/>
          <p:cNvSpPr/>
          <p:nvPr/>
        </p:nvSpPr>
        <p:spPr>
          <a:xfrm>
            <a:off x="609585" y="5249123"/>
            <a:ext cx="3488179" cy="1354612"/>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hlomi-mor-logo-black.png"/>
          <p:cNvPicPr>
            <a:picLocks noChangeAspect="1"/>
          </p:cNvPicPr>
          <p:nvPr/>
        </p:nvPicPr>
        <p:blipFill>
          <a:blip r:embed="rId2"/>
          <a:stretch>
            <a:fillRect/>
          </a:stretch>
        </p:blipFill>
        <p:spPr>
          <a:xfrm>
            <a:off x="1938818" y="5452315"/>
            <a:ext cx="829713" cy="677306"/>
          </a:xfrm>
          <a:prstGeom prst="rect">
            <a:avLst/>
          </a:prstGeom>
        </p:spPr>
      </p:pic>
      <p:sp>
        <p:nvSpPr>
          <p:cNvPr id="32" name="TextBox 31"/>
          <p:cNvSpPr txBox="1"/>
          <p:nvPr/>
        </p:nvSpPr>
        <p:spPr>
          <a:xfrm>
            <a:off x="745048" y="6332813"/>
            <a:ext cx="3217253" cy="118529"/>
          </a:xfrm>
          <a:prstGeom prst="rect">
            <a:avLst/>
          </a:prstGeom>
          <a:noFill/>
        </p:spPr>
        <p:txBody>
          <a:bodyPr wrap="square" lIns="0" rIns="0" tIns="0" bIns="0" anchor="t">
            <a:spAutoFit/>
          </a:bodyPr>
          <a:lstStyle/>
          <a:p>
            <a:pPr algn="l"/>
            <a:r>
              <a:rPr sz="1000" b="0" i="0" spc="180">
                <a:solidFill>
                  <a:srgbClr val="0E0E0E"/>
                </a:solidFill>
                <a:latin typeface="Futura LT"/>
              </a:rPr>
              <a:t>04 · NEVER ADD SHADOWS</a:t>
            </a:r>
          </a:p>
        </p:txBody>
      </p:sp>
      <p:sp>
        <p:nvSpPr>
          <p:cNvPr id="33" name="TextBox 32"/>
          <p:cNvSpPr txBox="1"/>
          <p:nvPr/>
        </p:nvSpPr>
        <p:spPr>
          <a:xfrm>
            <a:off x="745048" y="6485207"/>
            <a:ext cx="3217253" cy="118529"/>
          </a:xfrm>
          <a:prstGeom prst="rect">
            <a:avLst/>
          </a:prstGeom>
          <a:noFill/>
        </p:spPr>
        <p:txBody>
          <a:bodyPr wrap="square" lIns="0" rIns="0" tIns="0" bIns="0" anchor="t">
            <a:spAutoFit/>
          </a:bodyPr>
          <a:lstStyle/>
          <a:p>
            <a:pPr algn="l"/>
            <a:r>
              <a:rPr sz="900" b="0" i="1">
                <a:solidFill>
                  <a:srgbClr val="8B8480"/>
                </a:solidFill>
                <a:latin typeface="Futura LT"/>
              </a:rPr>
              <a:t>The mark stands flat.</a:t>
            </a:r>
          </a:p>
        </p:txBody>
      </p:sp>
      <p:sp>
        <p:nvSpPr>
          <p:cNvPr id="34" name="Oval 33"/>
          <p:cNvSpPr/>
          <p:nvPr/>
        </p:nvSpPr>
        <p:spPr>
          <a:xfrm>
            <a:off x="3826838" y="5350719"/>
            <a:ext cx="203195" cy="203192"/>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26838" y="5350719"/>
            <a:ext cx="203195" cy="203192"/>
          </a:xfrm>
          <a:prstGeom prst="rect">
            <a:avLst/>
          </a:prstGeom>
          <a:noFill/>
        </p:spPr>
        <p:txBody>
          <a:bodyPr wrap="square" lIns="0" rIns="0" tIns="0" bIns="0" anchor="ctr">
            <a:spAutoFit/>
          </a:bodyPr>
          <a:lstStyle/>
          <a:p>
            <a:pPr algn="ctr"/>
            <a:r>
              <a:rPr sz="1200" b="0" i="0">
                <a:solidFill>
                  <a:srgbClr val="FFFFFF"/>
                </a:solidFill>
                <a:latin typeface="Futura LT"/>
              </a:rPr>
              <a:t>×</a:t>
            </a:r>
          </a:p>
        </p:txBody>
      </p:sp>
      <p:sp>
        <p:nvSpPr>
          <p:cNvPr id="36" name="Rectangle 35"/>
          <p:cNvSpPr/>
          <p:nvPr/>
        </p:nvSpPr>
        <p:spPr>
          <a:xfrm>
            <a:off x="4267093" y="5249123"/>
            <a:ext cx="3488179" cy="1354612"/>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hlomi-mor-logo-black.png"/>
          <p:cNvPicPr>
            <a:picLocks noChangeAspect="1"/>
          </p:cNvPicPr>
          <p:nvPr/>
        </p:nvPicPr>
        <p:blipFill>
          <a:blip r:embed="rId2"/>
          <a:stretch>
            <a:fillRect/>
          </a:stretch>
        </p:blipFill>
        <p:spPr>
          <a:xfrm>
            <a:off x="5596327" y="5452315"/>
            <a:ext cx="829713" cy="677306"/>
          </a:xfrm>
          <a:prstGeom prst="rect">
            <a:avLst/>
          </a:prstGeom>
        </p:spPr>
      </p:pic>
      <p:sp>
        <p:nvSpPr>
          <p:cNvPr id="38" name="TextBox 37"/>
          <p:cNvSpPr txBox="1"/>
          <p:nvPr/>
        </p:nvSpPr>
        <p:spPr>
          <a:xfrm>
            <a:off x="4402557" y="6332813"/>
            <a:ext cx="3217253" cy="118529"/>
          </a:xfrm>
          <a:prstGeom prst="rect">
            <a:avLst/>
          </a:prstGeom>
          <a:noFill/>
        </p:spPr>
        <p:txBody>
          <a:bodyPr wrap="square" lIns="0" rIns="0" tIns="0" bIns="0" anchor="t">
            <a:spAutoFit/>
          </a:bodyPr>
          <a:lstStyle/>
          <a:p>
            <a:pPr algn="l"/>
            <a:r>
              <a:rPr sz="1000" b="0" i="0" spc="180">
                <a:solidFill>
                  <a:srgbClr val="0E0E0E"/>
                </a:solidFill>
                <a:latin typeface="Futura LT"/>
              </a:rPr>
              <a:t>05 · NEVER APPLY GRADIENTS</a:t>
            </a:r>
          </a:p>
        </p:txBody>
      </p:sp>
      <p:sp>
        <p:nvSpPr>
          <p:cNvPr id="39" name="TextBox 38"/>
          <p:cNvSpPr txBox="1"/>
          <p:nvPr/>
        </p:nvSpPr>
        <p:spPr>
          <a:xfrm>
            <a:off x="4402557" y="6485207"/>
            <a:ext cx="3217253" cy="118529"/>
          </a:xfrm>
          <a:prstGeom prst="rect">
            <a:avLst/>
          </a:prstGeom>
          <a:noFill/>
        </p:spPr>
        <p:txBody>
          <a:bodyPr wrap="square" lIns="0" rIns="0" tIns="0" bIns="0" anchor="t">
            <a:spAutoFit/>
          </a:bodyPr>
          <a:lstStyle/>
          <a:p>
            <a:pPr algn="l"/>
            <a:r>
              <a:rPr sz="900" b="0" i="1">
                <a:solidFill>
                  <a:srgbClr val="8B8480"/>
                </a:solidFill>
                <a:latin typeface="Futura LT"/>
              </a:rPr>
              <a:t>Solid brand color only.</a:t>
            </a:r>
          </a:p>
        </p:txBody>
      </p:sp>
      <p:sp>
        <p:nvSpPr>
          <p:cNvPr id="40" name="Oval 39"/>
          <p:cNvSpPr/>
          <p:nvPr/>
        </p:nvSpPr>
        <p:spPr>
          <a:xfrm>
            <a:off x="7484346" y="5350719"/>
            <a:ext cx="203195" cy="203192"/>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84346" y="5350719"/>
            <a:ext cx="203195" cy="203192"/>
          </a:xfrm>
          <a:prstGeom prst="rect">
            <a:avLst/>
          </a:prstGeom>
          <a:noFill/>
        </p:spPr>
        <p:txBody>
          <a:bodyPr wrap="square" lIns="0" rIns="0" tIns="0" bIns="0" anchor="ctr">
            <a:spAutoFit/>
          </a:bodyPr>
          <a:lstStyle/>
          <a:p>
            <a:pPr algn="ctr"/>
            <a:r>
              <a:rPr sz="1200" b="0" i="0">
                <a:solidFill>
                  <a:srgbClr val="FFFFFF"/>
                </a:solidFill>
                <a:latin typeface="Futura LT"/>
              </a:rPr>
              <a:t>×</a:t>
            </a:r>
          </a:p>
        </p:txBody>
      </p:sp>
      <p:sp>
        <p:nvSpPr>
          <p:cNvPr id="42" name="Rectangle 41"/>
          <p:cNvSpPr/>
          <p:nvPr/>
        </p:nvSpPr>
        <p:spPr>
          <a:xfrm>
            <a:off x="7924602" y="5249123"/>
            <a:ext cx="3488179" cy="1354612"/>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shlomi-mor-logo-black.png"/>
          <p:cNvPicPr>
            <a:picLocks noChangeAspect="1"/>
          </p:cNvPicPr>
          <p:nvPr/>
        </p:nvPicPr>
        <p:blipFill>
          <a:blip r:embed="rId2"/>
          <a:stretch>
            <a:fillRect/>
          </a:stretch>
        </p:blipFill>
        <p:spPr>
          <a:xfrm>
            <a:off x="9253835" y="5452315"/>
            <a:ext cx="829713" cy="677306"/>
          </a:xfrm>
          <a:prstGeom prst="rect">
            <a:avLst/>
          </a:prstGeom>
        </p:spPr>
      </p:pic>
      <p:sp>
        <p:nvSpPr>
          <p:cNvPr id="44" name="TextBox 43"/>
          <p:cNvSpPr txBox="1"/>
          <p:nvPr/>
        </p:nvSpPr>
        <p:spPr>
          <a:xfrm>
            <a:off x="8060065" y="6332813"/>
            <a:ext cx="3217253" cy="118529"/>
          </a:xfrm>
          <a:prstGeom prst="rect">
            <a:avLst/>
          </a:prstGeom>
          <a:noFill/>
        </p:spPr>
        <p:txBody>
          <a:bodyPr wrap="square" lIns="0" rIns="0" tIns="0" bIns="0" anchor="t">
            <a:spAutoFit/>
          </a:bodyPr>
          <a:lstStyle/>
          <a:p>
            <a:pPr algn="l"/>
            <a:r>
              <a:rPr sz="1000" b="0" i="0" spc="180">
                <a:solidFill>
                  <a:srgbClr val="0E0E0E"/>
                </a:solidFill>
                <a:latin typeface="Futura LT"/>
              </a:rPr>
              <a:t>06 · NEVER OFF-BRAND COLOR</a:t>
            </a:r>
          </a:p>
        </p:txBody>
      </p:sp>
      <p:sp>
        <p:nvSpPr>
          <p:cNvPr id="45" name="TextBox 44"/>
          <p:cNvSpPr txBox="1"/>
          <p:nvPr/>
        </p:nvSpPr>
        <p:spPr>
          <a:xfrm>
            <a:off x="8060065" y="6485207"/>
            <a:ext cx="3217253" cy="118529"/>
          </a:xfrm>
          <a:prstGeom prst="rect">
            <a:avLst/>
          </a:prstGeom>
          <a:noFill/>
        </p:spPr>
        <p:txBody>
          <a:bodyPr wrap="square" lIns="0" rIns="0" tIns="0" bIns="0" anchor="t">
            <a:spAutoFit/>
          </a:bodyPr>
          <a:lstStyle/>
          <a:p>
            <a:pPr algn="l"/>
            <a:r>
              <a:rPr sz="900" b="0" i="1">
                <a:solidFill>
                  <a:srgbClr val="8B8480"/>
                </a:solidFill>
                <a:latin typeface="Futura LT"/>
              </a:rPr>
              <a:t>Use approved palette.</a:t>
            </a:r>
          </a:p>
        </p:txBody>
      </p:sp>
      <p:sp>
        <p:nvSpPr>
          <p:cNvPr id="46" name="Oval 45"/>
          <p:cNvSpPr/>
          <p:nvPr/>
        </p:nvSpPr>
        <p:spPr>
          <a:xfrm>
            <a:off x="11141855" y="5350719"/>
            <a:ext cx="203195" cy="203192"/>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141855" y="5350719"/>
            <a:ext cx="203195" cy="203192"/>
          </a:xfrm>
          <a:prstGeom prst="rect">
            <a:avLst/>
          </a:prstGeom>
          <a:noFill/>
        </p:spPr>
        <p:txBody>
          <a:bodyPr wrap="square" lIns="0" rIns="0" tIns="0" bIns="0" anchor="ctr">
            <a:spAutoFit/>
          </a:bodyPr>
          <a:lstStyle/>
          <a:p>
            <a:pPr algn="ctr"/>
            <a:r>
              <a:rPr sz="1200" b="0" i="0">
                <a:solidFill>
                  <a:srgbClr val="FFFFFF"/>
                </a:solidFill>
                <a:latin typeface="Futura LT"/>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COLOR</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09</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COLOR</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09</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09 — COLOR</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6400" b="0" i="0">
                <a:solidFill>
                  <a:srgbClr val="0E0E0E"/>
                </a:solidFill>
                <a:latin typeface="Didot"/>
              </a:rPr>
              <a:t>The main </a:t>
            </a:r>
            <a:r>
              <a:rPr sz="6400" b="0" i="1">
                <a:solidFill>
                  <a:srgbClr val="0E0E0E"/>
                </a:solidFill>
                <a:latin typeface="Didot"/>
              </a:rPr>
              <a:t>colors</a:t>
            </a:r>
            <a:r>
              <a:rPr sz="6400" b="0" i="0">
                <a:solidFill>
                  <a:srgbClr val="0E0E0E"/>
                </a:solidFill>
                <a:latin typeface="Didot"/>
              </a:rPr>
              <a:t>.</a:t>
            </a:r>
          </a:p>
        </p:txBody>
      </p:sp>
      <p:sp>
        <p:nvSpPr>
          <p:cNvPr id="11" name="Rectangle 10"/>
          <p:cNvSpPr/>
          <p:nvPr/>
        </p:nvSpPr>
        <p:spPr>
          <a:xfrm>
            <a:off x="609585" y="2709225"/>
            <a:ext cx="1687647" cy="2370572"/>
          </a:xfrm>
          <a:prstGeom prst="rect">
            <a:avLst/>
          </a:prstGeom>
          <a:solidFill>
            <a:srgbClr val="B68F90"/>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585" y="5249123"/>
            <a:ext cx="1687647" cy="135461"/>
          </a:xfrm>
          <a:prstGeom prst="rect">
            <a:avLst/>
          </a:prstGeom>
          <a:noFill/>
        </p:spPr>
        <p:txBody>
          <a:bodyPr wrap="square" lIns="0" rIns="0" tIns="0" bIns="0" anchor="t">
            <a:spAutoFit/>
          </a:bodyPr>
          <a:lstStyle/>
          <a:p>
            <a:pPr algn="l"/>
            <a:r>
              <a:rPr sz="1000" b="0" i="0" spc="160">
                <a:solidFill>
                  <a:srgbClr val="0E0E0E"/>
                </a:solidFill>
                <a:latin typeface="Futura LT"/>
              </a:rPr>
              <a:t>RICH DUSTY ROSE</a:t>
            </a:r>
          </a:p>
        </p:txBody>
      </p:sp>
      <p:sp>
        <p:nvSpPr>
          <p:cNvPr id="13" name="TextBox 12"/>
          <p:cNvSpPr txBox="1"/>
          <p:nvPr/>
        </p:nvSpPr>
        <p:spPr>
          <a:xfrm>
            <a:off x="609585" y="5418450"/>
            <a:ext cx="1687647" cy="101596"/>
          </a:xfrm>
          <a:prstGeom prst="rect">
            <a:avLst/>
          </a:prstGeom>
          <a:noFill/>
        </p:spPr>
        <p:txBody>
          <a:bodyPr wrap="square" lIns="0" rIns="0" tIns="0" bIns="0" anchor="t">
            <a:spAutoFit/>
          </a:bodyPr>
          <a:lstStyle/>
          <a:p>
            <a:pPr algn="l"/>
            <a:r>
              <a:rPr sz="900" b="0" i="0">
                <a:solidFill>
                  <a:srgbClr val="8B8480"/>
                </a:solidFill>
                <a:latin typeface="Futura LT"/>
              </a:rPr>
              <a:t>#B68F90</a:t>
            </a:r>
          </a:p>
        </p:txBody>
      </p:sp>
      <p:sp>
        <p:nvSpPr>
          <p:cNvPr id="14" name="TextBox 13"/>
          <p:cNvSpPr txBox="1"/>
          <p:nvPr/>
        </p:nvSpPr>
        <p:spPr>
          <a:xfrm>
            <a:off x="609585" y="5553911"/>
            <a:ext cx="1687647" cy="101596"/>
          </a:xfrm>
          <a:prstGeom prst="rect">
            <a:avLst/>
          </a:prstGeom>
          <a:noFill/>
        </p:spPr>
        <p:txBody>
          <a:bodyPr wrap="square" lIns="0" rIns="0" tIns="0" bIns="0" anchor="t">
            <a:spAutoFit/>
          </a:bodyPr>
          <a:lstStyle/>
          <a:p>
            <a:pPr algn="l"/>
            <a:r>
              <a:rPr sz="900" b="0" i="0">
                <a:solidFill>
                  <a:srgbClr val="8B8480"/>
                </a:solidFill>
                <a:latin typeface="Futura LT"/>
              </a:rPr>
              <a:t>R 182 · 143 · 144</a:t>
            </a:r>
          </a:p>
        </p:txBody>
      </p:sp>
      <p:sp>
        <p:nvSpPr>
          <p:cNvPr id="15" name="TextBox 14"/>
          <p:cNvSpPr txBox="1"/>
          <p:nvPr/>
        </p:nvSpPr>
        <p:spPr>
          <a:xfrm>
            <a:off x="609585" y="5689372"/>
            <a:ext cx="1687647" cy="101596"/>
          </a:xfrm>
          <a:prstGeom prst="rect">
            <a:avLst/>
          </a:prstGeom>
          <a:noFill/>
        </p:spPr>
        <p:txBody>
          <a:bodyPr wrap="square" lIns="0" rIns="0" tIns="0" bIns="0" anchor="t">
            <a:spAutoFit/>
          </a:bodyPr>
          <a:lstStyle/>
          <a:p>
            <a:pPr algn="l"/>
            <a:r>
              <a:rPr sz="900" b="0" i="0">
                <a:solidFill>
                  <a:srgbClr val="8B8480"/>
                </a:solidFill>
                <a:latin typeface="Futura LT"/>
              </a:rPr>
              <a:t>C 30 · 47 · 36 · 11</a:t>
            </a:r>
          </a:p>
        </p:txBody>
      </p:sp>
      <p:sp>
        <p:nvSpPr>
          <p:cNvPr id="16" name="Rectangle 15"/>
          <p:cNvSpPr/>
          <p:nvPr/>
        </p:nvSpPr>
        <p:spPr>
          <a:xfrm>
            <a:off x="2466561" y="2709225"/>
            <a:ext cx="1687647" cy="2370572"/>
          </a:xfrm>
          <a:prstGeom prst="rect">
            <a:avLst/>
          </a:prstGeom>
          <a:solidFill>
            <a:srgbClr val="FCE3E5"/>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6561" y="5249123"/>
            <a:ext cx="1687647" cy="135461"/>
          </a:xfrm>
          <a:prstGeom prst="rect">
            <a:avLst/>
          </a:prstGeom>
          <a:noFill/>
        </p:spPr>
        <p:txBody>
          <a:bodyPr wrap="square" lIns="0" rIns="0" tIns="0" bIns="0" anchor="t">
            <a:spAutoFit/>
          </a:bodyPr>
          <a:lstStyle/>
          <a:p>
            <a:pPr algn="l"/>
            <a:r>
              <a:rPr sz="1000" b="0" i="0" spc="160">
                <a:solidFill>
                  <a:srgbClr val="0E0E0E"/>
                </a:solidFill>
                <a:latin typeface="Futura LT"/>
              </a:rPr>
              <a:t>SOFT POWDER BLUSH</a:t>
            </a:r>
          </a:p>
        </p:txBody>
      </p:sp>
      <p:sp>
        <p:nvSpPr>
          <p:cNvPr id="18" name="TextBox 17"/>
          <p:cNvSpPr txBox="1"/>
          <p:nvPr/>
        </p:nvSpPr>
        <p:spPr>
          <a:xfrm>
            <a:off x="2466561" y="5418450"/>
            <a:ext cx="1687647" cy="101596"/>
          </a:xfrm>
          <a:prstGeom prst="rect">
            <a:avLst/>
          </a:prstGeom>
          <a:noFill/>
        </p:spPr>
        <p:txBody>
          <a:bodyPr wrap="square" lIns="0" rIns="0" tIns="0" bIns="0" anchor="t">
            <a:spAutoFit/>
          </a:bodyPr>
          <a:lstStyle/>
          <a:p>
            <a:pPr algn="l"/>
            <a:r>
              <a:rPr sz="900" b="0" i="0">
                <a:solidFill>
                  <a:srgbClr val="8B8480"/>
                </a:solidFill>
                <a:latin typeface="Futura LT"/>
              </a:rPr>
              <a:t>#FCE3E5</a:t>
            </a:r>
          </a:p>
        </p:txBody>
      </p:sp>
      <p:sp>
        <p:nvSpPr>
          <p:cNvPr id="19" name="TextBox 18"/>
          <p:cNvSpPr txBox="1"/>
          <p:nvPr/>
        </p:nvSpPr>
        <p:spPr>
          <a:xfrm>
            <a:off x="2466561" y="5553911"/>
            <a:ext cx="1687647" cy="101596"/>
          </a:xfrm>
          <a:prstGeom prst="rect">
            <a:avLst/>
          </a:prstGeom>
          <a:noFill/>
        </p:spPr>
        <p:txBody>
          <a:bodyPr wrap="square" lIns="0" rIns="0" tIns="0" bIns="0" anchor="t">
            <a:spAutoFit/>
          </a:bodyPr>
          <a:lstStyle/>
          <a:p>
            <a:pPr algn="l"/>
            <a:r>
              <a:rPr sz="900" b="0" i="0">
                <a:solidFill>
                  <a:srgbClr val="8B8480"/>
                </a:solidFill>
                <a:latin typeface="Futura LT"/>
              </a:rPr>
              <a:t>R 252 · 227 · 229</a:t>
            </a:r>
          </a:p>
        </p:txBody>
      </p:sp>
      <p:sp>
        <p:nvSpPr>
          <p:cNvPr id="20" name="TextBox 19"/>
          <p:cNvSpPr txBox="1"/>
          <p:nvPr/>
        </p:nvSpPr>
        <p:spPr>
          <a:xfrm>
            <a:off x="2466561" y="5689372"/>
            <a:ext cx="1687647" cy="101596"/>
          </a:xfrm>
          <a:prstGeom prst="rect">
            <a:avLst/>
          </a:prstGeom>
          <a:noFill/>
        </p:spPr>
        <p:txBody>
          <a:bodyPr wrap="square" lIns="0" rIns="0" tIns="0" bIns="0" anchor="t">
            <a:spAutoFit/>
          </a:bodyPr>
          <a:lstStyle/>
          <a:p>
            <a:pPr algn="l"/>
            <a:r>
              <a:rPr sz="900" b="0" i="0">
                <a:solidFill>
                  <a:srgbClr val="8B8480"/>
                </a:solidFill>
                <a:latin typeface="Futura LT"/>
              </a:rPr>
              <a:t>C 0 · 13 · 5 · 0</a:t>
            </a:r>
          </a:p>
        </p:txBody>
      </p:sp>
      <p:sp>
        <p:nvSpPr>
          <p:cNvPr id="21" name="Rectangle 20"/>
          <p:cNvSpPr/>
          <p:nvPr/>
        </p:nvSpPr>
        <p:spPr>
          <a:xfrm>
            <a:off x="4323536" y="2709225"/>
            <a:ext cx="1687647" cy="2370572"/>
          </a:xfrm>
          <a:prstGeom prst="rect">
            <a:avLst/>
          </a:prstGeom>
          <a:solidFill>
            <a:srgbClr val="A78D52"/>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3536" y="5249123"/>
            <a:ext cx="1687647" cy="135461"/>
          </a:xfrm>
          <a:prstGeom prst="rect">
            <a:avLst/>
          </a:prstGeom>
          <a:noFill/>
        </p:spPr>
        <p:txBody>
          <a:bodyPr wrap="square" lIns="0" rIns="0" tIns="0" bIns="0" anchor="t">
            <a:spAutoFit/>
          </a:bodyPr>
          <a:lstStyle/>
          <a:p>
            <a:pPr algn="l"/>
            <a:r>
              <a:rPr sz="1000" b="0" i="0" spc="160">
                <a:solidFill>
                  <a:srgbClr val="0E0E0E"/>
                </a:solidFill>
                <a:latin typeface="Futura LT"/>
              </a:rPr>
              <a:t>MUTED ANTIQUE GOLD</a:t>
            </a:r>
          </a:p>
        </p:txBody>
      </p:sp>
      <p:sp>
        <p:nvSpPr>
          <p:cNvPr id="23" name="TextBox 22"/>
          <p:cNvSpPr txBox="1"/>
          <p:nvPr/>
        </p:nvSpPr>
        <p:spPr>
          <a:xfrm>
            <a:off x="4323536" y="5418450"/>
            <a:ext cx="1687647" cy="101596"/>
          </a:xfrm>
          <a:prstGeom prst="rect">
            <a:avLst/>
          </a:prstGeom>
          <a:noFill/>
        </p:spPr>
        <p:txBody>
          <a:bodyPr wrap="square" lIns="0" rIns="0" tIns="0" bIns="0" anchor="t">
            <a:spAutoFit/>
          </a:bodyPr>
          <a:lstStyle/>
          <a:p>
            <a:pPr algn="l"/>
            <a:r>
              <a:rPr sz="900" b="0" i="0">
                <a:solidFill>
                  <a:srgbClr val="8B8480"/>
                </a:solidFill>
                <a:latin typeface="Futura LT"/>
              </a:rPr>
              <a:t>#A78D52</a:t>
            </a:r>
          </a:p>
        </p:txBody>
      </p:sp>
      <p:sp>
        <p:nvSpPr>
          <p:cNvPr id="24" name="TextBox 23"/>
          <p:cNvSpPr txBox="1"/>
          <p:nvPr/>
        </p:nvSpPr>
        <p:spPr>
          <a:xfrm>
            <a:off x="4323536" y="5553911"/>
            <a:ext cx="1687647" cy="101596"/>
          </a:xfrm>
          <a:prstGeom prst="rect">
            <a:avLst/>
          </a:prstGeom>
          <a:noFill/>
        </p:spPr>
        <p:txBody>
          <a:bodyPr wrap="square" lIns="0" rIns="0" tIns="0" bIns="0" anchor="t">
            <a:spAutoFit/>
          </a:bodyPr>
          <a:lstStyle/>
          <a:p>
            <a:pPr algn="l"/>
            <a:r>
              <a:rPr sz="900" b="0" i="0">
                <a:solidFill>
                  <a:srgbClr val="8B8480"/>
                </a:solidFill>
                <a:latin typeface="Futura LT"/>
              </a:rPr>
              <a:t>R 167 · 141 · 82</a:t>
            </a:r>
          </a:p>
        </p:txBody>
      </p:sp>
      <p:sp>
        <p:nvSpPr>
          <p:cNvPr id="25" name="TextBox 24"/>
          <p:cNvSpPr txBox="1"/>
          <p:nvPr/>
        </p:nvSpPr>
        <p:spPr>
          <a:xfrm>
            <a:off x="4323536" y="5689372"/>
            <a:ext cx="1687647" cy="101596"/>
          </a:xfrm>
          <a:prstGeom prst="rect">
            <a:avLst/>
          </a:prstGeom>
          <a:noFill/>
        </p:spPr>
        <p:txBody>
          <a:bodyPr wrap="square" lIns="0" rIns="0" tIns="0" bIns="0" anchor="t">
            <a:spAutoFit/>
          </a:bodyPr>
          <a:lstStyle/>
          <a:p>
            <a:pPr algn="l"/>
            <a:r>
              <a:rPr sz="900" b="0" i="0">
                <a:solidFill>
                  <a:srgbClr val="8B8480"/>
                </a:solidFill>
                <a:latin typeface="Futura LT"/>
              </a:rPr>
              <a:t>C 30 · 38 · 75 · 16</a:t>
            </a:r>
          </a:p>
        </p:txBody>
      </p:sp>
      <p:sp>
        <p:nvSpPr>
          <p:cNvPr id="26" name="Rectangle 25"/>
          <p:cNvSpPr/>
          <p:nvPr/>
        </p:nvSpPr>
        <p:spPr>
          <a:xfrm>
            <a:off x="6180512" y="2709225"/>
            <a:ext cx="1687647" cy="2370572"/>
          </a:xfrm>
          <a:prstGeom prst="rect">
            <a:avLst/>
          </a:prstGeom>
          <a:solidFill>
            <a:srgbClr val="C9AC7F"/>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0512" y="5249123"/>
            <a:ext cx="1687647" cy="135461"/>
          </a:xfrm>
          <a:prstGeom prst="rect">
            <a:avLst/>
          </a:prstGeom>
          <a:noFill/>
        </p:spPr>
        <p:txBody>
          <a:bodyPr wrap="square" lIns="0" rIns="0" tIns="0" bIns="0" anchor="t">
            <a:spAutoFit/>
          </a:bodyPr>
          <a:lstStyle/>
          <a:p>
            <a:pPr algn="l"/>
            <a:r>
              <a:rPr sz="1000" b="0" i="0" spc="160">
                <a:solidFill>
                  <a:srgbClr val="0E0E0E"/>
                </a:solidFill>
                <a:latin typeface="Futura LT"/>
              </a:rPr>
              <a:t>SOFT CHAMPAGNE</a:t>
            </a:r>
          </a:p>
        </p:txBody>
      </p:sp>
      <p:sp>
        <p:nvSpPr>
          <p:cNvPr id="28" name="TextBox 27"/>
          <p:cNvSpPr txBox="1"/>
          <p:nvPr/>
        </p:nvSpPr>
        <p:spPr>
          <a:xfrm>
            <a:off x="6180512" y="5418450"/>
            <a:ext cx="1687647" cy="101596"/>
          </a:xfrm>
          <a:prstGeom prst="rect">
            <a:avLst/>
          </a:prstGeom>
          <a:noFill/>
        </p:spPr>
        <p:txBody>
          <a:bodyPr wrap="square" lIns="0" rIns="0" tIns="0" bIns="0" anchor="t">
            <a:spAutoFit/>
          </a:bodyPr>
          <a:lstStyle/>
          <a:p>
            <a:pPr algn="l"/>
            <a:r>
              <a:rPr sz="900" b="0" i="0">
                <a:solidFill>
                  <a:srgbClr val="8B8480"/>
                </a:solidFill>
                <a:latin typeface="Futura LT"/>
              </a:rPr>
              <a:t>#C9AC7F</a:t>
            </a:r>
          </a:p>
        </p:txBody>
      </p:sp>
      <p:sp>
        <p:nvSpPr>
          <p:cNvPr id="29" name="TextBox 28"/>
          <p:cNvSpPr txBox="1"/>
          <p:nvPr/>
        </p:nvSpPr>
        <p:spPr>
          <a:xfrm>
            <a:off x="6180512" y="5553911"/>
            <a:ext cx="1687647" cy="101596"/>
          </a:xfrm>
          <a:prstGeom prst="rect">
            <a:avLst/>
          </a:prstGeom>
          <a:noFill/>
        </p:spPr>
        <p:txBody>
          <a:bodyPr wrap="square" lIns="0" rIns="0" tIns="0" bIns="0" anchor="t">
            <a:spAutoFit/>
          </a:bodyPr>
          <a:lstStyle/>
          <a:p>
            <a:pPr algn="l"/>
            <a:r>
              <a:rPr sz="900" b="0" i="0">
                <a:solidFill>
                  <a:srgbClr val="8B8480"/>
                </a:solidFill>
                <a:latin typeface="Futura LT"/>
              </a:rPr>
              <a:t>R 201 · 172 · 127</a:t>
            </a:r>
          </a:p>
        </p:txBody>
      </p:sp>
      <p:sp>
        <p:nvSpPr>
          <p:cNvPr id="30" name="TextBox 29"/>
          <p:cNvSpPr txBox="1"/>
          <p:nvPr/>
        </p:nvSpPr>
        <p:spPr>
          <a:xfrm>
            <a:off x="6180512" y="5689372"/>
            <a:ext cx="1687647" cy="101596"/>
          </a:xfrm>
          <a:prstGeom prst="rect">
            <a:avLst/>
          </a:prstGeom>
          <a:noFill/>
        </p:spPr>
        <p:txBody>
          <a:bodyPr wrap="square" lIns="0" rIns="0" tIns="0" bIns="0" anchor="t">
            <a:spAutoFit/>
          </a:bodyPr>
          <a:lstStyle/>
          <a:p>
            <a:pPr algn="l"/>
            <a:r>
              <a:rPr sz="900" b="0" i="0">
                <a:solidFill>
                  <a:srgbClr val="8B8480"/>
                </a:solidFill>
                <a:latin typeface="Futura LT"/>
              </a:rPr>
              <a:t>C 20 · 30 · 53 · 5</a:t>
            </a:r>
          </a:p>
        </p:txBody>
      </p:sp>
      <p:sp>
        <p:nvSpPr>
          <p:cNvPr id="31" name="Rectangle 30"/>
          <p:cNvSpPr/>
          <p:nvPr/>
        </p:nvSpPr>
        <p:spPr>
          <a:xfrm>
            <a:off x="8037488" y="2709225"/>
            <a:ext cx="1687647" cy="2370572"/>
          </a:xfrm>
          <a:prstGeom prst="rect">
            <a:avLst/>
          </a:prstGeom>
          <a:solidFill>
            <a:srgbClr val="0E0E0E"/>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37488" y="5249123"/>
            <a:ext cx="1687647" cy="135461"/>
          </a:xfrm>
          <a:prstGeom prst="rect">
            <a:avLst/>
          </a:prstGeom>
          <a:noFill/>
        </p:spPr>
        <p:txBody>
          <a:bodyPr wrap="square" lIns="0" rIns="0" tIns="0" bIns="0" anchor="t">
            <a:spAutoFit/>
          </a:bodyPr>
          <a:lstStyle/>
          <a:p>
            <a:pPr algn="l"/>
            <a:r>
              <a:rPr sz="1000" b="0" i="0" spc="160">
                <a:solidFill>
                  <a:srgbClr val="0E0E0E"/>
                </a:solidFill>
                <a:latin typeface="Futura LT"/>
              </a:rPr>
              <a:t>SIGNATURE BLACK</a:t>
            </a:r>
          </a:p>
        </p:txBody>
      </p:sp>
      <p:sp>
        <p:nvSpPr>
          <p:cNvPr id="33" name="TextBox 32"/>
          <p:cNvSpPr txBox="1"/>
          <p:nvPr/>
        </p:nvSpPr>
        <p:spPr>
          <a:xfrm>
            <a:off x="8037488" y="5418450"/>
            <a:ext cx="1687647" cy="101596"/>
          </a:xfrm>
          <a:prstGeom prst="rect">
            <a:avLst/>
          </a:prstGeom>
          <a:noFill/>
        </p:spPr>
        <p:txBody>
          <a:bodyPr wrap="square" lIns="0" rIns="0" tIns="0" bIns="0" anchor="t">
            <a:spAutoFit/>
          </a:bodyPr>
          <a:lstStyle/>
          <a:p>
            <a:pPr algn="l"/>
            <a:r>
              <a:rPr sz="900" b="0" i="0">
                <a:solidFill>
                  <a:srgbClr val="8B8480"/>
                </a:solidFill>
                <a:latin typeface="Futura LT"/>
              </a:rPr>
              <a:t>#0E0E0E</a:t>
            </a:r>
          </a:p>
        </p:txBody>
      </p:sp>
      <p:sp>
        <p:nvSpPr>
          <p:cNvPr id="34" name="TextBox 33"/>
          <p:cNvSpPr txBox="1"/>
          <p:nvPr/>
        </p:nvSpPr>
        <p:spPr>
          <a:xfrm>
            <a:off x="8037488" y="5553911"/>
            <a:ext cx="1687647" cy="101596"/>
          </a:xfrm>
          <a:prstGeom prst="rect">
            <a:avLst/>
          </a:prstGeom>
          <a:noFill/>
        </p:spPr>
        <p:txBody>
          <a:bodyPr wrap="square" lIns="0" rIns="0" tIns="0" bIns="0" anchor="t">
            <a:spAutoFit/>
          </a:bodyPr>
          <a:lstStyle/>
          <a:p>
            <a:pPr algn="l"/>
            <a:r>
              <a:rPr sz="900" b="0" i="0">
                <a:solidFill>
                  <a:srgbClr val="8B8480"/>
                </a:solidFill>
                <a:latin typeface="Futura LT"/>
              </a:rPr>
              <a:t>R 14 · 14 · 14</a:t>
            </a:r>
          </a:p>
        </p:txBody>
      </p:sp>
      <p:sp>
        <p:nvSpPr>
          <p:cNvPr id="35" name="TextBox 34"/>
          <p:cNvSpPr txBox="1"/>
          <p:nvPr/>
        </p:nvSpPr>
        <p:spPr>
          <a:xfrm>
            <a:off x="8037488" y="5689372"/>
            <a:ext cx="1687647" cy="101596"/>
          </a:xfrm>
          <a:prstGeom prst="rect">
            <a:avLst/>
          </a:prstGeom>
          <a:noFill/>
        </p:spPr>
        <p:txBody>
          <a:bodyPr wrap="square" lIns="0" rIns="0" tIns="0" bIns="0" anchor="t">
            <a:spAutoFit/>
          </a:bodyPr>
          <a:lstStyle/>
          <a:p>
            <a:pPr algn="l"/>
            <a:r>
              <a:rPr sz="900" b="0" i="0">
                <a:solidFill>
                  <a:srgbClr val="8B8480"/>
                </a:solidFill>
                <a:latin typeface="Futura LT"/>
              </a:rPr>
              <a:t>C 0 · 0 · 0 · 95</a:t>
            </a:r>
          </a:p>
        </p:txBody>
      </p:sp>
      <p:sp>
        <p:nvSpPr>
          <p:cNvPr id="36" name="Rectangle 35"/>
          <p:cNvSpPr/>
          <p:nvPr/>
        </p:nvSpPr>
        <p:spPr>
          <a:xfrm>
            <a:off x="9894464" y="2709225"/>
            <a:ext cx="1687647" cy="2370572"/>
          </a:xfrm>
          <a:prstGeom prst="rect">
            <a:avLst/>
          </a:prstGeom>
          <a:solidFill>
            <a:srgbClr val="6E6663"/>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94464" y="5249123"/>
            <a:ext cx="1687647" cy="135461"/>
          </a:xfrm>
          <a:prstGeom prst="rect">
            <a:avLst/>
          </a:prstGeom>
          <a:noFill/>
        </p:spPr>
        <p:txBody>
          <a:bodyPr wrap="square" lIns="0" rIns="0" tIns="0" bIns="0" anchor="t">
            <a:spAutoFit/>
          </a:bodyPr>
          <a:lstStyle/>
          <a:p>
            <a:pPr algn="l"/>
            <a:r>
              <a:rPr sz="1000" b="0" i="0" spc="160">
                <a:solidFill>
                  <a:srgbClr val="0E0E0E"/>
                </a:solidFill>
                <a:latin typeface="Futura LT"/>
              </a:rPr>
              <a:t>ELEGANT STONE GRAY</a:t>
            </a:r>
          </a:p>
        </p:txBody>
      </p:sp>
      <p:sp>
        <p:nvSpPr>
          <p:cNvPr id="38" name="TextBox 37"/>
          <p:cNvSpPr txBox="1"/>
          <p:nvPr/>
        </p:nvSpPr>
        <p:spPr>
          <a:xfrm>
            <a:off x="9894464" y="5418450"/>
            <a:ext cx="1687647" cy="101596"/>
          </a:xfrm>
          <a:prstGeom prst="rect">
            <a:avLst/>
          </a:prstGeom>
          <a:noFill/>
        </p:spPr>
        <p:txBody>
          <a:bodyPr wrap="square" lIns="0" rIns="0" tIns="0" bIns="0" anchor="t">
            <a:spAutoFit/>
          </a:bodyPr>
          <a:lstStyle/>
          <a:p>
            <a:pPr algn="l"/>
            <a:r>
              <a:rPr sz="900" b="0" i="0">
                <a:solidFill>
                  <a:srgbClr val="8B8480"/>
                </a:solidFill>
                <a:latin typeface="Futura LT"/>
              </a:rPr>
              <a:t>#6E6663</a:t>
            </a:r>
          </a:p>
        </p:txBody>
      </p:sp>
      <p:sp>
        <p:nvSpPr>
          <p:cNvPr id="39" name="TextBox 38"/>
          <p:cNvSpPr txBox="1"/>
          <p:nvPr/>
        </p:nvSpPr>
        <p:spPr>
          <a:xfrm>
            <a:off x="9894464" y="5553911"/>
            <a:ext cx="1687647" cy="101596"/>
          </a:xfrm>
          <a:prstGeom prst="rect">
            <a:avLst/>
          </a:prstGeom>
          <a:noFill/>
        </p:spPr>
        <p:txBody>
          <a:bodyPr wrap="square" lIns="0" rIns="0" tIns="0" bIns="0" anchor="t">
            <a:spAutoFit/>
          </a:bodyPr>
          <a:lstStyle/>
          <a:p>
            <a:pPr algn="l"/>
            <a:r>
              <a:rPr sz="900" b="0" i="0">
                <a:solidFill>
                  <a:srgbClr val="8B8480"/>
                </a:solidFill>
                <a:latin typeface="Futura LT"/>
              </a:rPr>
              <a:t>R 110 · 102 · 99</a:t>
            </a:r>
          </a:p>
        </p:txBody>
      </p:sp>
      <p:sp>
        <p:nvSpPr>
          <p:cNvPr id="40" name="TextBox 39"/>
          <p:cNvSpPr txBox="1"/>
          <p:nvPr/>
        </p:nvSpPr>
        <p:spPr>
          <a:xfrm>
            <a:off x="9894464" y="5689372"/>
            <a:ext cx="1687647" cy="101596"/>
          </a:xfrm>
          <a:prstGeom prst="rect">
            <a:avLst/>
          </a:prstGeom>
          <a:noFill/>
        </p:spPr>
        <p:txBody>
          <a:bodyPr wrap="square" lIns="0" rIns="0" tIns="0" bIns="0" anchor="t">
            <a:spAutoFit/>
          </a:bodyPr>
          <a:lstStyle/>
          <a:p>
            <a:pPr algn="l"/>
            <a:r>
              <a:rPr sz="900" b="0" i="0">
                <a:solidFill>
                  <a:srgbClr val="8B8480"/>
                </a:solidFill>
                <a:latin typeface="Futura LT"/>
              </a:rPr>
              <a:t>C 48 · 50 · 51 · 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PROPORTIONS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10</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PROPORTIONS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10</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10 — PROPORTIONS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How the </a:t>
            </a:r>
            <a:r>
              <a:rPr sz="5600" b="0" i="1">
                <a:solidFill>
                  <a:srgbClr val="0E0E0E"/>
                </a:solidFill>
                <a:latin typeface="Didot"/>
              </a:rPr>
              <a:t>palette</a:t>
            </a:r>
          </a:p>
          <a:p>
            <a:pPr algn="l"/>
            <a:r>
              <a:rPr sz="5600" b="0" i="0">
                <a:solidFill>
                  <a:srgbClr val="0E0E0E"/>
                </a:solidFill>
                <a:latin typeface="Didot"/>
              </a:rPr>
              <a:t>breathes.</a:t>
            </a:r>
          </a:p>
        </p:txBody>
      </p:sp>
      <p:sp>
        <p:nvSpPr>
          <p:cNvPr id="11" name="TextBox 10"/>
          <p:cNvSpPr txBox="1"/>
          <p:nvPr/>
        </p:nvSpPr>
        <p:spPr>
          <a:xfrm>
            <a:off x="609585" y="3047878"/>
            <a:ext cx="5079873" cy="135461"/>
          </a:xfrm>
          <a:prstGeom prst="rect">
            <a:avLst/>
          </a:prstGeom>
          <a:noFill/>
        </p:spPr>
        <p:txBody>
          <a:bodyPr wrap="square" lIns="0" rIns="0" tIns="0" bIns="0" anchor="t">
            <a:spAutoFit/>
          </a:bodyPr>
          <a:lstStyle/>
          <a:p>
            <a:pPr algn="l"/>
            <a:r>
              <a:rPr sz="1000" b="0" i="0" spc="200">
                <a:solidFill>
                  <a:srgbClr val="8B8480"/>
                </a:solidFill>
                <a:latin typeface="Futura LT"/>
              </a:rPr>
              <a:t>RECOMMENDED DISTRIBUTION</a:t>
            </a:r>
          </a:p>
        </p:txBody>
      </p:sp>
      <p:sp>
        <p:nvSpPr>
          <p:cNvPr id="12" name="Rectangle 11"/>
          <p:cNvSpPr/>
          <p:nvPr/>
        </p:nvSpPr>
        <p:spPr>
          <a:xfrm>
            <a:off x="609585" y="3386531"/>
            <a:ext cx="4937636" cy="677306"/>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585" y="4131568"/>
            <a:ext cx="4937636" cy="118529"/>
          </a:xfrm>
          <a:prstGeom prst="rect">
            <a:avLst/>
          </a:prstGeom>
          <a:noFill/>
        </p:spPr>
        <p:txBody>
          <a:bodyPr wrap="square" lIns="0" rIns="0" tIns="0" bIns="0" anchor="t">
            <a:spAutoFit/>
          </a:bodyPr>
          <a:lstStyle/>
          <a:p>
            <a:pPr algn="l"/>
            <a:r>
              <a:rPr sz="1100" b="0" i="0">
                <a:solidFill>
                  <a:srgbClr val="0E0E0E"/>
                </a:solidFill>
                <a:latin typeface="Didot"/>
              </a:rPr>
              <a:t>45%</a:t>
            </a:r>
          </a:p>
        </p:txBody>
      </p:sp>
      <p:sp>
        <p:nvSpPr>
          <p:cNvPr id="14" name="TextBox 13"/>
          <p:cNvSpPr txBox="1"/>
          <p:nvPr/>
        </p:nvSpPr>
        <p:spPr>
          <a:xfrm>
            <a:off x="609585" y="4267029"/>
            <a:ext cx="4937636" cy="118529"/>
          </a:xfrm>
          <a:prstGeom prst="rect">
            <a:avLst/>
          </a:prstGeom>
          <a:noFill/>
        </p:spPr>
        <p:txBody>
          <a:bodyPr wrap="square" lIns="0" rIns="0" tIns="0" bIns="0" anchor="t">
            <a:spAutoFit/>
          </a:bodyPr>
          <a:lstStyle/>
          <a:p>
            <a:pPr algn="l"/>
            <a:r>
              <a:rPr sz="800" b="0" i="0" spc="160">
                <a:solidFill>
                  <a:srgbClr val="8B8480"/>
                </a:solidFill>
                <a:latin typeface="Futura LT"/>
              </a:rPr>
              <a:t>PAPER CREAM</a:t>
            </a:r>
          </a:p>
        </p:txBody>
      </p:sp>
      <p:sp>
        <p:nvSpPr>
          <p:cNvPr id="15" name="Rectangle 14"/>
          <p:cNvSpPr/>
          <p:nvPr/>
        </p:nvSpPr>
        <p:spPr>
          <a:xfrm>
            <a:off x="5547221" y="3386531"/>
            <a:ext cx="2743131" cy="677306"/>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47221" y="4131568"/>
            <a:ext cx="2743131" cy="118529"/>
          </a:xfrm>
          <a:prstGeom prst="rect">
            <a:avLst/>
          </a:prstGeom>
          <a:noFill/>
        </p:spPr>
        <p:txBody>
          <a:bodyPr wrap="square" lIns="0" rIns="0" tIns="0" bIns="0" anchor="t">
            <a:spAutoFit/>
          </a:bodyPr>
          <a:lstStyle/>
          <a:p>
            <a:pPr algn="l"/>
            <a:r>
              <a:rPr sz="1100" b="0" i="0">
                <a:solidFill>
                  <a:srgbClr val="0E0E0E"/>
                </a:solidFill>
                <a:latin typeface="Didot"/>
              </a:rPr>
              <a:t>25%</a:t>
            </a:r>
          </a:p>
        </p:txBody>
      </p:sp>
      <p:sp>
        <p:nvSpPr>
          <p:cNvPr id="17" name="TextBox 16"/>
          <p:cNvSpPr txBox="1"/>
          <p:nvPr/>
        </p:nvSpPr>
        <p:spPr>
          <a:xfrm>
            <a:off x="5547221" y="4267029"/>
            <a:ext cx="2743131" cy="118529"/>
          </a:xfrm>
          <a:prstGeom prst="rect">
            <a:avLst/>
          </a:prstGeom>
          <a:noFill/>
        </p:spPr>
        <p:txBody>
          <a:bodyPr wrap="square" lIns="0" rIns="0" tIns="0" bIns="0" anchor="t">
            <a:spAutoFit/>
          </a:bodyPr>
          <a:lstStyle/>
          <a:p>
            <a:pPr algn="l"/>
            <a:r>
              <a:rPr sz="800" b="0" i="0" spc="160">
                <a:solidFill>
                  <a:srgbClr val="8B8480"/>
                </a:solidFill>
                <a:latin typeface="Futura LT"/>
              </a:rPr>
              <a:t>SIGNATURE BLACK</a:t>
            </a:r>
          </a:p>
        </p:txBody>
      </p:sp>
      <p:sp>
        <p:nvSpPr>
          <p:cNvPr id="18" name="Rectangle 17"/>
          <p:cNvSpPr/>
          <p:nvPr/>
        </p:nvSpPr>
        <p:spPr>
          <a:xfrm>
            <a:off x="8290353" y="3386531"/>
            <a:ext cx="1645879" cy="677306"/>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0353" y="4131568"/>
            <a:ext cx="1645879" cy="118529"/>
          </a:xfrm>
          <a:prstGeom prst="rect">
            <a:avLst/>
          </a:prstGeom>
          <a:noFill/>
        </p:spPr>
        <p:txBody>
          <a:bodyPr wrap="square" lIns="0" rIns="0" tIns="0" bIns="0" anchor="t">
            <a:spAutoFit/>
          </a:bodyPr>
          <a:lstStyle/>
          <a:p>
            <a:pPr algn="l"/>
            <a:r>
              <a:rPr sz="1100" b="0" i="0">
                <a:solidFill>
                  <a:srgbClr val="0E0E0E"/>
                </a:solidFill>
                <a:latin typeface="Didot"/>
              </a:rPr>
              <a:t>15%</a:t>
            </a:r>
          </a:p>
        </p:txBody>
      </p:sp>
      <p:sp>
        <p:nvSpPr>
          <p:cNvPr id="20" name="TextBox 19"/>
          <p:cNvSpPr txBox="1"/>
          <p:nvPr/>
        </p:nvSpPr>
        <p:spPr>
          <a:xfrm>
            <a:off x="8290353" y="4267029"/>
            <a:ext cx="1645879" cy="118529"/>
          </a:xfrm>
          <a:prstGeom prst="rect">
            <a:avLst/>
          </a:prstGeom>
          <a:noFill/>
        </p:spPr>
        <p:txBody>
          <a:bodyPr wrap="square" lIns="0" rIns="0" tIns="0" bIns="0" anchor="t">
            <a:spAutoFit/>
          </a:bodyPr>
          <a:lstStyle/>
          <a:p>
            <a:pPr algn="l"/>
            <a:r>
              <a:rPr sz="800" b="0" i="0" spc="160">
                <a:solidFill>
                  <a:srgbClr val="8B8480"/>
                </a:solidFill>
                <a:latin typeface="Futura LT"/>
              </a:rPr>
              <a:t>POWDER BLUSH</a:t>
            </a:r>
          </a:p>
        </p:txBody>
      </p:sp>
      <p:sp>
        <p:nvSpPr>
          <p:cNvPr id="21" name="Rectangle 20"/>
          <p:cNvSpPr/>
          <p:nvPr/>
        </p:nvSpPr>
        <p:spPr>
          <a:xfrm>
            <a:off x="9936231" y="3386531"/>
            <a:ext cx="877802" cy="677306"/>
          </a:xfrm>
          <a:prstGeom prst="rect">
            <a:avLst/>
          </a:prstGeom>
          <a:solidFill>
            <a:srgbClr val="A7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36231" y="4131568"/>
            <a:ext cx="877802" cy="118529"/>
          </a:xfrm>
          <a:prstGeom prst="rect">
            <a:avLst/>
          </a:prstGeom>
          <a:noFill/>
        </p:spPr>
        <p:txBody>
          <a:bodyPr wrap="square" lIns="0" rIns="0" tIns="0" bIns="0" anchor="t">
            <a:spAutoFit/>
          </a:bodyPr>
          <a:lstStyle/>
          <a:p>
            <a:pPr algn="l"/>
            <a:r>
              <a:rPr sz="1100" b="0" i="0">
                <a:solidFill>
                  <a:srgbClr val="0E0E0E"/>
                </a:solidFill>
                <a:latin typeface="Didot"/>
              </a:rPr>
              <a:t>8%</a:t>
            </a:r>
          </a:p>
        </p:txBody>
      </p:sp>
      <p:sp>
        <p:nvSpPr>
          <p:cNvPr id="23" name="TextBox 22"/>
          <p:cNvSpPr txBox="1"/>
          <p:nvPr/>
        </p:nvSpPr>
        <p:spPr>
          <a:xfrm>
            <a:off x="9936231" y="4267029"/>
            <a:ext cx="877802" cy="118529"/>
          </a:xfrm>
          <a:prstGeom prst="rect">
            <a:avLst/>
          </a:prstGeom>
          <a:noFill/>
        </p:spPr>
        <p:txBody>
          <a:bodyPr wrap="square" lIns="0" rIns="0" tIns="0" bIns="0" anchor="t">
            <a:spAutoFit/>
          </a:bodyPr>
          <a:lstStyle/>
          <a:p>
            <a:pPr algn="l"/>
            <a:r>
              <a:rPr sz="800" b="0" i="0" spc="160">
                <a:solidFill>
                  <a:srgbClr val="8B8480"/>
                </a:solidFill>
                <a:latin typeface="Futura LT"/>
              </a:rPr>
              <a:t>ANTIQUE GOLD</a:t>
            </a:r>
          </a:p>
        </p:txBody>
      </p:sp>
      <p:sp>
        <p:nvSpPr>
          <p:cNvPr id="24" name="Rectangle 23"/>
          <p:cNvSpPr/>
          <p:nvPr/>
        </p:nvSpPr>
        <p:spPr>
          <a:xfrm>
            <a:off x="10814033" y="3386531"/>
            <a:ext cx="548626" cy="677306"/>
          </a:xfrm>
          <a:prstGeom prst="rect">
            <a:avLst/>
          </a:prstGeom>
          <a:solidFill>
            <a:srgbClr val="B68F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14033" y="4131568"/>
            <a:ext cx="548626" cy="118529"/>
          </a:xfrm>
          <a:prstGeom prst="rect">
            <a:avLst/>
          </a:prstGeom>
          <a:noFill/>
        </p:spPr>
        <p:txBody>
          <a:bodyPr wrap="square" lIns="0" rIns="0" tIns="0" bIns="0" anchor="t">
            <a:spAutoFit/>
          </a:bodyPr>
          <a:lstStyle/>
          <a:p>
            <a:pPr algn="l"/>
            <a:r>
              <a:rPr sz="1100" b="0" i="0">
                <a:solidFill>
                  <a:srgbClr val="0E0E0E"/>
                </a:solidFill>
                <a:latin typeface="Didot"/>
              </a:rPr>
              <a:t>5%</a:t>
            </a:r>
          </a:p>
        </p:txBody>
      </p:sp>
      <p:sp>
        <p:nvSpPr>
          <p:cNvPr id="26" name="TextBox 25"/>
          <p:cNvSpPr txBox="1"/>
          <p:nvPr/>
        </p:nvSpPr>
        <p:spPr>
          <a:xfrm>
            <a:off x="10814033" y="4267029"/>
            <a:ext cx="548626" cy="118529"/>
          </a:xfrm>
          <a:prstGeom prst="rect">
            <a:avLst/>
          </a:prstGeom>
          <a:noFill/>
        </p:spPr>
        <p:txBody>
          <a:bodyPr wrap="square" lIns="0" rIns="0" tIns="0" bIns="0" anchor="t">
            <a:spAutoFit/>
          </a:bodyPr>
          <a:lstStyle/>
          <a:p>
            <a:pPr algn="l"/>
            <a:r>
              <a:rPr sz="800" b="0" i="0" spc="160">
                <a:solidFill>
                  <a:srgbClr val="8B8480"/>
                </a:solidFill>
                <a:latin typeface="Futura LT"/>
              </a:rPr>
              <a:t>DUSTY ROSE</a:t>
            </a:r>
          </a:p>
        </p:txBody>
      </p:sp>
      <p:sp>
        <p:nvSpPr>
          <p:cNvPr id="27" name="Rectangle 26"/>
          <p:cNvSpPr/>
          <p:nvPr/>
        </p:nvSpPr>
        <p:spPr>
          <a:xfrm>
            <a:off x="11362660" y="3386531"/>
            <a:ext cx="219451" cy="677306"/>
          </a:xfrm>
          <a:prstGeom prst="rect">
            <a:avLst/>
          </a:prstGeom>
          <a:solidFill>
            <a:srgbClr val="C9AC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362660" y="4131568"/>
            <a:ext cx="219451" cy="118529"/>
          </a:xfrm>
          <a:prstGeom prst="rect">
            <a:avLst/>
          </a:prstGeom>
          <a:noFill/>
        </p:spPr>
        <p:txBody>
          <a:bodyPr wrap="square" lIns="0" rIns="0" tIns="0" bIns="0" anchor="t">
            <a:spAutoFit/>
          </a:bodyPr>
          <a:lstStyle/>
          <a:p>
            <a:pPr algn="l"/>
            <a:r>
              <a:rPr sz="1100" b="0" i="0">
                <a:solidFill>
                  <a:srgbClr val="0E0E0E"/>
                </a:solidFill>
                <a:latin typeface="Didot"/>
              </a:rPr>
              <a:t>2%</a:t>
            </a:r>
          </a:p>
        </p:txBody>
      </p:sp>
      <p:sp>
        <p:nvSpPr>
          <p:cNvPr id="29" name="TextBox 28"/>
          <p:cNvSpPr txBox="1"/>
          <p:nvPr/>
        </p:nvSpPr>
        <p:spPr>
          <a:xfrm>
            <a:off x="11362660" y="4267029"/>
            <a:ext cx="219451" cy="118529"/>
          </a:xfrm>
          <a:prstGeom prst="rect">
            <a:avLst/>
          </a:prstGeom>
          <a:noFill/>
        </p:spPr>
        <p:txBody>
          <a:bodyPr wrap="square" lIns="0" rIns="0" tIns="0" bIns="0" anchor="t">
            <a:spAutoFit/>
          </a:bodyPr>
          <a:lstStyle/>
          <a:p>
            <a:pPr algn="l"/>
            <a:r>
              <a:rPr sz="800" b="0" i="0" spc="160">
                <a:solidFill>
                  <a:srgbClr val="8B8480"/>
                </a:solidFill>
                <a:latin typeface="Futura LT"/>
              </a:rPr>
              <a:t>CHAMPAGNE</a:t>
            </a:r>
          </a:p>
        </p:txBody>
      </p:sp>
      <p:sp>
        <p:nvSpPr>
          <p:cNvPr id="30" name="TextBox 29"/>
          <p:cNvSpPr txBox="1"/>
          <p:nvPr/>
        </p:nvSpPr>
        <p:spPr>
          <a:xfrm>
            <a:off x="609585" y="5079797"/>
            <a:ext cx="7619809" cy="846633"/>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Cream and black form the canvas. Blush and gold deliver warmth and luxury. Rose and champagne are reserved for accents and seasonal materials.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DISPLAY SERIF</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11</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DISPLAY SERIF</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11</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11 — DISPLAY SERIF</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Headlines — </a:t>
            </a:r>
            <a:r>
              <a:rPr sz="5600" b="0" i="1">
                <a:solidFill>
                  <a:srgbClr val="0E0E0E"/>
                </a:solidFill>
                <a:latin typeface="Didot"/>
              </a:rPr>
              <a:t>idot.</a:t>
            </a:r>
          </a:p>
        </p:txBody>
      </p:sp>
      <p:sp>
        <p:nvSpPr>
          <p:cNvPr id="11" name="TextBox 10"/>
          <p:cNvSpPr txBox="1"/>
          <p:nvPr/>
        </p:nvSpPr>
        <p:spPr>
          <a:xfrm>
            <a:off x="609585" y="2709225"/>
            <a:ext cx="5926518" cy="2539898"/>
          </a:xfrm>
          <a:prstGeom prst="rect">
            <a:avLst/>
          </a:prstGeom>
          <a:noFill/>
        </p:spPr>
        <p:txBody>
          <a:bodyPr wrap="square" lIns="0" rIns="0" tIns="0" bIns="0" anchor="t">
            <a:spAutoFit/>
          </a:bodyPr>
          <a:lstStyle/>
          <a:p>
            <a:pPr algn="l"/>
            <a:r>
              <a:rPr sz="18000" b="0" i="0">
                <a:solidFill>
                  <a:srgbClr val="0E0E0E"/>
                </a:solidFill>
                <a:latin typeface="Didot"/>
              </a:rPr>
              <a:t>AaBb</a:t>
            </a:r>
          </a:p>
        </p:txBody>
      </p:sp>
      <p:sp>
        <p:nvSpPr>
          <p:cNvPr id="12" name="TextBox 11"/>
          <p:cNvSpPr txBox="1"/>
          <p:nvPr/>
        </p:nvSpPr>
        <p:spPr>
          <a:xfrm>
            <a:off x="7196487" y="2709225"/>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TYPEFACE</a:t>
            </a:r>
          </a:p>
        </p:txBody>
      </p:sp>
      <p:sp>
        <p:nvSpPr>
          <p:cNvPr id="13" name="TextBox 12"/>
          <p:cNvSpPr txBox="1"/>
          <p:nvPr/>
        </p:nvSpPr>
        <p:spPr>
          <a:xfrm>
            <a:off x="7196487" y="2878551"/>
            <a:ext cx="4063898" cy="135461"/>
          </a:xfrm>
          <a:prstGeom prst="rect">
            <a:avLst/>
          </a:prstGeom>
          <a:noFill/>
        </p:spPr>
        <p:txBody>
          <a:bodyPr wrap="square" lIns="0" rIns="0" tIns="0" bIns="0" anchor="t">
            <a:spAutoFit/>
          </a:bodyPr>
          <a:lstStyle/>
          <a:p>
            <a:pPr algn="l"/>
            <a:r>
              <a:rPr sz="1300" b="0" i="0">
                <a:solidFill>
                  <a:srgbClr val="0E0E0E"/>
                </a:solidFill>
                <a:latin typeface="Futura LT"/>
              </a:rPr>
              <a:t>idot — high-contrast didone</a:t>
            </a:r>
          </a:p>
        </p:txBody>
      </p:sp>
      <p:sp>
        <p:nvSpPr>
          <p:cNvPr id="14" name="TextBox 13"/>
          <p:cNvSpPr txBox="1"/>
          <p:nvPr/>
        </p:nvSpPr>
        <p:spPr>
          <a:xfrm>
            <a:off x="7196487" y="3149474"/>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ROLE</a:t>
            </a:r>
          </a:p>
        </p:txBody>
      </p:sp>
      <p:sp>
        <p:nvSpPr>
          <p:cNvPr id="15" name="TextBox 14"/>
          <p:cNvSpPr txBox="1"/>
          <p:nvPr/>
        </p:nvSpPr>
        <p:spPr>
          <a:xfrm>
            <a:off x="7196487" y="3318800"/>
            <a:ext cx="4063898" cy="135461"/>
          </a:xfrm>
          <a:prstGeom prst="rect">
            <a:avLst/>
          </a:prstGeom>
          <a:noFill/>
        </p:spPr>
        <p:txBody>
          <a:bodyPr wrap="square" lIns="0" rIns="0" tIns="0" bIns="0" anchor="t">
            <a:spAutoFit/>
          </a:bodyPr>
          <a:lstStyle/>
          <a:p>
            <a:pPr algn="l"/>
            <a:r>
              <a:rPr sz="1300" b="0" i="0">
                <a:solidFill>
                  <a:srgbClr val="0E0E0E"/>
                </a:solidFill>
                <a:latin typeface="Futura LT"/>
              </a:rPr>
              <a:t>Headlines, covers, editorial titles</a:t>
            </a:r>
          </a:p>
        </p:txBody>
      </p:sp>
      <p:sp>
        <p:nvSpPr>
          <p:cNvPr id="16" name="TextBox 15"/>
          <p:cNvSpPr txBox="1"/>
          <p:nvPr/>
        </p:nvSpPr>
        <p:spPr>
          <a:xfrm>
            <a:off x="7196487" y="3589723"/>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MOOD</a:t>
            </a:r>
          </a:p>
        </p:txBody>
      </p:sp>
      <p:sp>
        <p:nvSpPr>
          <p:cNvPr id="17" name="TextBox 16"/>
          <p:cNvSpPr txBox="1"/>
          <p:nvPr/>
        </p:nvSpPr>
        <p:spPr>
          <a:xfrm>
            <a:off x="7196487" y="3759050"/>
            <a:ext cx="4063898" cy="135461"/>
          </a:xfrm>
          <a:prstGeom prst="rect">
            <a:avLst/>
          </a:prstGeom>
          <a:noFill/>
        </p:spPr>
        <p:txBody>
          <a:bodyPr wrap="square" lIns="0" rIns="0" tIns="0" bIns="0" anchor="t">
            <a:spAutoFit/>
          </a:bodyPr>
          <a:lstStyle/>
          <a:p>
            <a:pPr algn="l"/>
            <a:r>
              <a:rPr sz="1300" b="0" i="0">
                <a:solidFill>
                  <a:srgbClr val="0E0E0E"/>
                </a:solidFill>
                <a:latin typeface="Futura LT"/>
              </a:rPr>
              <a:t>Vogue · Harper's Bazaar · Couture</a:t>
            </a:r>
          </a:p>
        </p:txBody>
      </p:sp>
      <p:sp>
        <p:nvSpPr>
          <p:cNvPr id="18" name="TextBox 17"/>
          <p:cNvSpPr txBox="1"/>
          <p:nvPr/>
        </p:nvSpPr>
        <p:spPr>
          <a:xfrm>
            <a:off x="7196487" y="4029972"/>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TRACKING</a:t>
            </a:r>
          </a:p>
        </p:txBody>
      </p:sp>
      <p:sp>
        <p:nvSpPr>
          <p:cNvPr id="19" name="TextBox 18"/>
          <p:cNvSpPr txBox="1"/>
          <p:nvPr/>
        </p:nvSpPr>
        <p:spPr>
          <a:xfrm>
            <a:off x="7196487" y="4199299"/>
            <a:ext cx="4063898" cy="135461"/>
          </a:xfrm>
          <a:prstGeom prst="rect">
            <a:avLst/>
          </a:prstGeom>
          <a:noFill/>
        </p:spPr>
        <p:txBody>
          <a:bodyPr wrap="square" lIns="0" rIns="0" tIns="0" bIns="0" anchor="t">
            <a:spAutoFit/>
          </a:bodyPr>
          <a:lstStyle/>
          <a:p>
            <a:pPr algn="l"/>
            <a:r>
              <a:rPr sz="1300" b="0" i="0">
                <a:solidFill>
                  <a:srgbClr val="0E0E0E"/>
                </a:solidFill>
                <a:latin typeface="Futura LT"/>
              </a:rPr>
              <a:t>-1% to -2% at display sizes</a:t>
            </a:r>
          </a:p>
        </p:txBody>
      </p:sp>
      <p:sp>
        <p:nvSpPr>
          <p:cNvPr id="20" name="TextBox 19"/>
          <p:cNvSpPr txBox="1"/>
          <p:nvPr/>
        </p:nvSpPr>
        <p:spPr>
          <a:xfrm>
            <a:off x="7196487" y="4470221"/>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STYLE MIX</a:t>
            </a:r>
          </a:p>
        </p:txBody>
      </p:sp>
      <p:sp>
        <p:nvSpPr>
          <p:cNvPr id="21" name="TextBox 20"/>
          <p:cNvSpPr txBox="1"/>
          <p:nvPr/>
        </p:nvSpPr>
        <p:spPr>
          <a:xfrm>
            <a:off x="7196487" y="4639548"/>
            <a:ext cx="4063898" cy="135461"/>
          </a:xfrm>
          <a:prstGeom prst="rect">
            <a:avLst/>
          </a:prstGeom>
          <a:noFill/>
        </p:spPr>
        <p:txBody>
          <a:bodyPr wrap="square" lIns="0" rIns="0" tIns="0" bIns="0" anchor="t">
            <a:spAutoFit/>
          </a:bodyPr>
          <a:lstStyle/>
          <a:p>
            <a:pPr algn="l"/>
            <a:r>
              <a:rPr sz="1300" b="0" i="0">
                <a:solidFill>
                  <a:srgbClr val="0E0E0E"/>
                </a:solidFill>
                <a:latin typeface="Futura LT"/>
              </a:rPr>
              <a:t>Roman for statements, italic for emphasis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FUNCTIONAL SANS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12</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FUNCTIONAL SANS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12</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12 — FUNCTIONAL SANS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200" b="0" i="0">
                <a:solidFill>
                  <a:srgbClr val="0E0E0E"/>
                </a:solidFill>
                <a:latin typeface="Didot"/>
              </a:rPr>
              <a:t>Body &amp; UI — </a:t>
            </a:r>
            <a:r>
              <a:rPr sz="5200" b="0" i="1">
                <a:solidFill>
                  <a:srgbClr val="0E0E0E"/>
                </a:solidFill>
                <a:latin typeface="Didot"/>
              </a:rPr>
              <a:t>Futura LT / Inter.</a:t>
            </a:r>
          </a:p>
        </p:txBody>
      </p:sp>
      <p:sp>
        <p:nvSpPr>
          <p:cNvPr id="11" name="TextBox 10"/>
          <p:cNvSpPr txBox="1"/>
          <p:nvPr/>
        </p:nvSpPr>
        <p:spPr>
          <a:xfrm>
            <a:off x="609585" y="2709225"/>
            <a:ext cx="5926518" cy="2539898"/>
          </a:xfrm>
          <a:prstGeom prst="rect">
            <a:avLst/>
          </a:prstGeom>
          <a:noFill/>
        </p:spPr>
        <p:txBody>
          <a:bodyPr wrap="square" lIns="0" rIns="0" tIns="0" bIns="0" anchor="t">
            <a:spAutoFit/>
          </a:bodyPr>
          <a:lstStyle/>
          <a:p>
            <a:pPr algn="l"/>
            <a:r>
              <a:rPr sz="16000" b="0" i="0">
                <a:solidFill>
                  <a:srgbClr val="0E0E0E"/>
                </a:solidFill>
                <a:latin typeface="Futura LT"/>
              </a:rPr>
              <a:t>Aa Bb</a:t>
            </a:r>
          </a:p>
        </p:txBody>
      </p:sp>
      <p:sp>
        <p:nvSpPr>
          <p:cNvPr id="12" name="TextBox 11"/>
          <p:cNvSpPr txBox="1"/>
          <p:nvPr/>
        </p:nvSpPr>
        <p:spPr>
          <a:xfrm>
            <a:off x="7196487" y="2709225"/>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TYPEFACE</a:t>
            </a:r>
          </a:p>
        </p:txBody>
      </p:sp>
      <p:sp>
        <p:nvSpPr>
          <p:cNvPr id="13" name="TextBox 12"/>
          <p:cNvSpPr txBox="1"/>
          <p:nvPr/>
        </p:nvSpPr>
        <p:spPr>
          <a:xfrm>
            <a:off x="7196487" y="2878551"/>
            <a:ext cx="4063898" cy="135461"/>
          </a:xfrm>
          <a:prstGeom prst="rect">
            <a:avLst/>
          </a:prstGeom>
          <a:noFill/>
        </p:spPr>
        <p:txBody>
          <a:bodyPr wrap="square" lIns="0" rIns="0" tIns="0" bIns="0" anchor="t">
            <a:spAutoFit/>
          </a:bodyPr>
          <a:lstStyle/>
          <a:p>
            <a:pPr algn="l"/>
            <a:r>
              <a:rPr sz="1300" b="0" i="0">
                <a:solidFill>
                  <a:srgbClr val="0E0E0E"/>
                </a:solidFill>
                <a:latin typeface="Futura LT"/>
              </a:rPr>
              <a:t>Futura LT — with Inter as digital alternative</a:t>
            </a:r>
          </a:p>
        </p:txBody>
      </p:sp>
      <p:sp>
        <p:nvSpPr>
          <p:cNvPr id="14" name="TextBox 13"/>
          <p:cNvSpPr txBox="1"/>
          <p:nvPr/>
        </p:nvSpPr>
        <p:spPr>
          <a:xfrm>
            <a:off x="7196487" y="3149474"/>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ROLE</a:t>
            </a:r>
          </a:p>
        </p:txBody>
      </p:sp>
      <p:sp>
        <p:nvSpPr>
          <p:cNvPr id="15" name="TextBox 14"/>
          <p:cNvSpPr txBox="1"/>
          <p:nvPr/>
        </p:nvSpPr>
        <p:spPr>
          <a:xfrm>
            <a:off x="7196487" y="3318800"/>
            <a:ext cx="4063898" cy="135461"/>
          </a:xfrm>
          <a:prstGeom prst="rect">
            <a:avLst/>
          </a:prstGeom>
          <a:noFill/>
        </p:spPr>
        <p:txBody>
          <a:bodyPr wrap="square" lIns="0" rIns="0" tIns="0" bIns="0" anchor="t">
            <a:spAutoFit/>
          </a:bodyPr>
          <a:lstStyle/>
          <a:p>
            <a:pPr algn="l"/>
            <a:r>
              <a:rPr sz="1300" b="0" i="0">
                <a:solidFill>
                  <a:srgbClr val="0E0E0E"/>
                </a:solidFill>
                <a:latin typeface="Futura LT"/>
              </a:rPr>
              <a:t>Body, captions, navigation, CTAs, microcopy</a:t>
            </a:r>
          </a:p>
        </p:txBody>
      </p:sp>
      <p:sp>
        <p:nvSpPr>
          <p:cNvPr id="16" name="TextBox 15"/>
          <p:cNvSpPr txBox="1"/>
          <p:nvPr/>
        </p:nvSpPr>
        <p:spPr>
          <a:xfrm>
            <a:off x="7196487" y="3589723"/>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MOOD</a:t>
            </a:r>
          </a:p>
        </p:txBody>
      </p:sp>
      <p:sp>
        <p:nvSpPr>
          <p:cNvPr id="17" name="TextBox 16"/>
          <p:cNvSpPr txBox="1"/>
          <p:nvPr/>
        </p:nvSpPr>
        <p:spPr>
          <a:xfrm>
            <a:off x="7196487" y="3759050"/>
            <a:ext cx="4063898" cy="135461"/>
          </a:xfrm>
          <a:prstGeom prst="rect">
            <a:avLst/>
          </a:prstGeom>
          <a:noFill/>
        </p:spPr>
        <p:txBody>
          <a:bodyPr wrap="square" lIns="0" rIns="0" tIns="0" bIns="0" anchor="t">
            <a:spAutoFit/>
          </a:bodyPr>
          <a:lstStyle/>
          <a:p>
            <a:pPr algn="l"/>
            <a:r>
              <a:rPr sz="1300" b="0" i="0">
                <a:solidFill>
                  <a:srgbClr val="0E0E0E"/>
                </a:solidFill>
                <a:latin typeface="Futura LT"/>
              </a:rPr>
              <a:t>Clean, geometric, modern</a:t>
            </a:r>
          </a:p>
        </p:txBody>
      </p:sp>
      <p:sp>
        <p:nvSpPr>
          <p:cNvPr id="18" name="TextBox 17"/>
          <p:cNvSpPr txBox="1"/>
          <p:nvPr/>
        </p:nvSpPr>
        <p:spPr>
          <a:xfrm>
            <a:off x="7196487" y="4029972"/>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TRACKING</a:t>
            </a:r>
          </a:p>
        </p:txBody>
      </p:sp>
      <p:sp>
        <p:nvSpPr>
          <p:cNvPr id="19" name="TextBox 18"/>
          <p:cNvSpPr txBox="1"/>
          <p:nvPr/>
        </p:nvSpPr>
        <p:spPr>
          <a:xfrm>
            <a:off x="7196487" y="4199299"/>
            <a:ext cx="4063898" cy="135461"/>
          </a:xfrm>
          <a:prstGeom prst="rect">
            <a:avLst/>
          </a:prstGeom>
          <a:noFill/>
        </p:spPr>
        <p:txBody>
          <a:bodyPr wrap="square" lIns="0" rIns="0" tIns="0" bIns="0" anchor="t">
            <a:spAutoFit/>
          </a:bodyPr>
          <a:lstStyle/>
          <a:p>
            <a:pPr algn="l"/>
            <a:r>
              <a:rPr sz="1300" b="0" i="0">
                <a:solidFill>
                  <a:srgbClr val="0E0E0E"/>
                </a:solidFill>
                <a:latin typeface="Futura LT"/>
              </a:rPr>
              <a:t>+22% for eyebrows · 0% for body</a:t>
            </a:r>
          </a:p>
        </p:txBody>
      </p:sp>
      <p:sp>
        <p:nvSpPr>
          <p:cNvPr id="20" name="TextBox 19"/>
          <p:cNvSpPr txBox="1"/>
          <p:nvPr/>
        </p:nvSpPr>
        <p:spPr>
          <a:xfrm>
            <a:off x="7196487" y="4470221"/>
            <a:ext cx="1693291" cy="118529"/>
          </a:xfrm>
          <a:prstGeom prst="rect">
            <a:avLst/>
          </a:prstGeom>
          <a:noFill/>
        </p:spPr>
        <p:txBody>
          <a:bodyPr wrap="square" lIns="0" rIns="0" tIns="0" bIns="0" anchor="t">
            <a:spAutoFit/>
          </a:bodyPr>
          <a:lstStyle/>
          <a:p>
            <a:pPr algn="l"/>
            <a:r>
              <a:rPr sz="1000" b="0" i="0" spc="200">
                <a:solidFill>
                  <a:srgbClr val="8B8480"/>
                </a:solidFill>
                <a:latin typeface="Futura LT"/>
              </a:rPr>
              <a:t>WEIGHTS</a:t>
            </a:r>
          </a:p>
        </p:txBody>
      </p:sp>
      <p:sp>
        <p:nvSpPr>
          <p:cNvPr id="21" name="TextBox 20"/>
          <p:cNvSpPr txBox="1"/>
          <p:nvPr/>
        </p:nvSpPr>
        <p:spPr>
          <a:xfrm>
            <a:off x="7196487" y="4639548"/>
            <a:ext cx="4063898" cy="135461"/>
          </a:xfrm>
          <a:prstGeom prst="rect">
            <a:avLst/>
          </a:prstGeom>
          <a:noFill/>
        </p:spPr>
        <p:txBody>
          <a:bodyPr wrap="square" lIns="0" rIns="0" tIns="0" bIns="0" anchor="t">
            <a:spAutoFit/>
          </a:bodyPr>
          <a:lstStyle/>
          <a:p>
            <a:pPr algn="l"/>
            <a:r>
              <a:rPr sz="1300" b="0" i="0">
                <a:solidFill>
                  <a:srgbClr val="0E0E0E"/>
                </a:solidFill>
                <a:latin typeface="Futura LT"/>
              </a:rPr>
              <a:t>Light · Book · Medium · Bold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ACCENT</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13</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ACCENT</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13</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13 — ACCENT</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A whisper — </a:t>
            </a:r>
            <a:r>
              <a:rPr sz="5600" b="0" i="1">
                <a:solidFill>
                  <a:srgbClr val="0E0E0E"/>
                </a:solidFill>
                <a:latin typeface="Didot"/>
              </a:rPr>
              <a:t>Sacramento.</a:t>
            </a:r>
          </a:p>
        </p:txBody>
      </p:sp>
      <p:sp>
        <p:nvSpPr>
          <p:cNvPr id="11" name="TextBox 10"/>
          <p:cNvSpPr txBox="1"/>
          <p:nvPr/>
        </p:nvSpPr>
        <p:spPr>
          <a:xfrm>
            <a:off x="609585" y="2709225"/>
            <a:ext cx="5926518" cy="2539898"/>
          </a:xfrm>
          <a:prstGeom prst="rect">
            <a:avLst/>
          </a:prstGeom>
          <a:noFill/>
        </p:spPr>
        <p:txBody>
          <a:bodyPr wrap="square" lIns="0" rIns="0" tIns="0" bIns="0" anchor="t">
            <a:spAutoFit/>
          </a:bodyPr>
          <a:lstStyle/>
          <a:p>
            <a:pPr algn="l"/>
            <a:r>
              <a:rPr sz="20000" b="0" i="1">
                <a:solidFill>
                  <a:srgbClr val="A78D52"/>
                </a:solidFill>
                <a:latin typeface="Snell Roundhand"/>
              </a:rPr>
              <a:t>she</a:t>
            </a:r>
          </a:p>
        </p:txBody>
      </p:sp>
      <p:sp>
        <p:nvSpPr>
          <p:cNvPr id="12" name="TextBox 11"/>
          <p:cNvSpPr txBox="1"/>
          <p:nvPr/>
        </p:nvSpPr>
        <p:spPr>
          <a:xfrm>
            <a:off x="7196487" y="2709225"/>
            <a:ext cx="1693291" cy="118529"/>
          </a:xfrm>
          <a:prstGeom prst="rect">
            <a:avLst/>
          </a:prstGeom>
          <a:noFill/>
        </p:spPr>
        <p:txBody>
          <a:bodyPr wrap="square" lIns="0" rIns="0" tIns="0" bIns="0" anchor="t">
            <a:spAutoFit/>
          </a:bodyPr>
          <a:lstStyle/>
          <a:p>
            <a:pPr algn="l"/>
            <a:r>
              <a:rPr sz="1000" b="0" i="0" spc="200">
                <a:solidFill>
                  <a:srgbClr val="6E6663"/>
                </a:solidFill>
                <a:latin typeface="Futura LT"/>
              </a:rPr>
              <a:t>TYPEFACE</a:t>
            </a:r>
          </a:p>
        </p:txBody>
      </p:sp>
      <p:sp>
        <p:nvSpPr>
          <p:cNvPr id="13" name="TextBox 12"/>
          <p:cNvSpPr txBox="1"/>
          <p:nvPr/>
        </p:nvSpPr>
        <p:spPr>
          <a:xfrm>
            <a:off x="7196487" y="2878551"/>
            <a:ext cx="4063898" cy="135461"/>
          </a:xfrm>
          <a:prstGeom prst="rect">
            <a:avLst/>
          </a:prstGeom>
          <a:noFill/>
        </p:spPr>
        <p:txBody>
          <a:bodyPr wrap="square" lIns="0" rIns="0" tIns="0" bIns="0" anchor="t">
            <a:spAutoFit/>
          </a:bodyPr>
          <a:lstStyle/>
          <a:p>
            <a:pPr algn="l"/>
            <a:r>
              <a:rPr sz="1300" b="0" i="0">
                <a:solidFill>
                  <a:srgbClr val="0E0E0E"/>
                </a:solidFill>
                <a:latin typeface="Futura LT"/>
              </a:rPr>
              <a:t>Sacramento / Snell Roundhand</a:t>
            </a:r>
          </a:p>
        </p:txBody>
      </p:sp>
      <p:sp>
        <p:nvSpPr>
          <p:cNvPr id="14" name="TextBox 13"/>
          <p:cNvSpPr txBox="1"/>
          <p:nvPr/>
        </p:nvSpPr>
        <p:spPr>
          <a:xfrm>
            <a:off x="7196487" y="3149474"/>
            <a:ext cx="1693291" cy="118529"/>
          </a:xfrm>
          <a:prstGeom prst="rect">
            <a:avLst/>
          </a:prstGeom>
          <a:noFill/>
        </p:spPr>
        <p:txBody>
          <a:bodyPr wrap="square" lIns="0" rIns="0" tIns="0" bIns="0" anchor="t">
            <a:spAutoFit/>
          </a:bodyPr>
          <a:lstStyle/>
          <a:p>
            <a:pPr algn="l"/>
            <a:r>
              <a:rPr sz="1000" b="0" i="0" spc="200">
                <a:solidFill>
                  <a:srgbClr val="6E6663"/>
                </a:solidFill>
                <a:latin typeface="Futura LT"/>
              </a:rPr>
              <a:t>ROLE</a:t>
            </a:r>
          </a:p>
        </p:txBody>
      </p:sp>
      <p:sp>
        <p:nvSpPr>
          <p:cNvPr id="15" name="TextBox 14"/>
          <p:cNvSpPr txBox="1"/>
          <p:nvPr/>
        </p:nvSpPr>
        <p:spPr>
          <a:xfrm>
            <a:off x="7196487" y="3318800"/>
            <a:ext cx="4063898" cy="135461"/>
          </a:xfrm>
          <a:prstGeom prst="rect">
            <a:avLst/>
          </a:prstGeom>
          <a:noFill/>
        </p:spPr>
        <p:txBody>
          <a:bodyPr wrap="square" lIns="0" rIns="0" tIns="0" bIns="0" anchor="t">
            <a:spAutoFit/>
          </a:bodyPr>
          <a:lstStyle/>
          <a:p>
            <a:pPr algn="l"/>
            <a:r>
              <a:rPr sz="1300" b="0" i="0">
                <a:solidFill>
                  <a:srgbClr val="0E0E0E"/>
                </a:solidFill>
                <a:latin typeface="Futura LT"/>
              </a:rPr>
              <a:t>Accent only — one or two words per page</a:t>
            </a:r>
          </a:p>
        </p:txBody>
      </p:sp>
      <p:sp>
        <p:nvSpPr>
          <p:cNvPr id="16" name="TextBox 15"/>
          <p:cNvSpPr txBox="1"/>
          <p:nvPr/>
        </p:nvSpPr>
        <p:spPr>
          <a:xfrm>
            <a:off x="7196487" y="3589723"/>
            <a:ext cx="1693291" cy="118529"/>
          </a:xfrm>
          <a:prstGeom prst="rect">
            <a:avLst/>
          </a:prstGeom>
          <a:noFill/>
        </p:spPr>
        <p:txBody>
          <a:bodyPr wrap="square" lIns="0" rIns="0" tIns="0" bIns="0" anchor="t">
            <a:spAutoFit/>
          </a:bodyPr>
          <a:lstStyle/>
          <a:p>
            <a:pPr algn="l"/>
            <a:r>
              <a:rPr sz="1000" b="0" i="0" spc="200">
                <a:solidFill>
                  <a:srgbClr val="6E6663"/>
                </a:solidFill>
                <a:latin typeface="Futura LT"/>
              </a:rPr>
              <a:t>USE CASES</a:t>
            </a:r>
          </a:p>
        </p:txBody>
      </p:sp>
      <p:sp>
        <p:nvSpPr>
          <p:cNvPr id="17" name="TextBox 16"/>
          <p:cNvSpPr txBox="1"/>
          <p:nvPr/>
        </p:nvSpPr>
        <p:spPr>
          <a:xfrm>
            <a:off x="7196487" y="3759050"/>
            <a:ext cx="4063898" cy="135461"/>
          </a:xfrm>
          <a:prstGeom prst="rect">
            <a:avLst/>
          </a:prstGeom>
          <a:noFill/>
        </p:spPr>
        <p:txBody>
          <a:bodyPr wrap="square" lIns="0" rIns="0" tIns="0" bIns="0" anchor="t">
            <a:spAutoFit/>
          </a:bodyPr>
          <a:lstStyle/>
          <a:p>
            <a:pPr algn="l"/>
            <a:r>
              <a:rPr sz="1300" b="0" i="0">
                <a:solidFill>
                  <a:srgbClr val="0E0E0E"/>
                </a:solidFill>
                <a:latin typeface="Futura LT"/>
              </a:rPr>
              <a:t>Hero accents · taglines · signatures · social</a:t>
            </a:r>
          </a:p>
        </p:txBody>
      </p:sp>
      <p:sp>
        <p:nvSpPr>
          <p:cNvPr id="18" name="TextBox 17"/>
          <p:cNvSpPr txBox="1"/>
          <p:nvPr/>
        </p:nvSpPr>
        <p:spPr>
          <a:xfrm>
            <a:off x="7196487" y="4029972"/>
            <a:ext cx="1693291" cy="118529"/>
          </a:xfrm>
          <a:prstGeom prst="rect">
            <a:avLst/>
          </a:prstGeom>
          <a:noFill/>
        </p:spPr>
        <p:txBody>
          <a:bodyPr wrap="square" lIns="0" rIns="0" tIns="0" bIns="0" anchor="t">
            <a:spAutoFit/>
          </a:bodyPr>
          <a:lstStyle/>
          <a:p>
            <a:pPr algn="l"/>
            <a:r>
              <a:rPr sz="1000" b="0" i="0" spc="200">
                <a:solidFill>
                  <a:srgbClr val="6E6663"/>
                </a:solidFill>
                <a:latin typeface="Futura LT"/>
              </a:rPr>
              <a:t>COLOR</a:t>
            </a:r>
          </a:p>
        </p:txBody>
      </p:sp>
      <p:sp>
        <p:nvSpPr>
          <p:cNvPr id="19" name="TextBox 18"/>
          <p:cNvSpPr txBox="1"/>
          <p:nvPr/>
        </p:nvSpPr>
        <p:spPr>
          <a:xfrm>
            <a:off x="7196487" y="4199299"/>
            <a:ext cx="4063898" cy="135461"/>
          </a:xfrm>
          <a:prstGeom prst="rect">
            <a:avLst/>
          </a:prstGeom>
          <a:noFill/>
        </p:spPr>
        <p:txBody>
          <a:bodyPr wrap="square" lIns="0" rIns="0" tIns="0" bIns="0" anchor="t">
            <a:spAutoFit/>
          </a:bodyPr>
          <a:lstStyle/>
          <a:p>
            <a:pPr algn="l"/>
            <a:r>
              <a:rPr sz="1300" b="0" i="0">
                <a:solidFill>
                  <a:srgbClr val="0E0E0E"/>
                </a:solidFill>
                <a:latin typeface="Futura LT"/>
              </a:rPr>
              <a:t>Muted Antique Gold or Soft Champagne</a:t>
            </a:r>
          </a:p>
        </p:txBody>
      </p:sp>
      <p:sp>
        <p:nvSpPr>
          <p:cNvPr id="20" name="TextBox 19"/>
          <p:cNvSpPr txBox="1"/>
          <p:nvPr/>
        </p:nvSpPr>
        <p:spPr>
          <a:xfrm>
            <a:off x="7196487" y="4470221"/>
            <a:ext cx="1693291" cy="118529"/>
          </a:xfrm>
          <a:prstGeom prst="rect">
            <a:avLst/>
          </a:prstGeom>
          <a:noFill/>
        </p:spPr>
        <p:txBody>
          <a:bodyPr wrap="square" lIns="0" rIns="0" tIns="0" bIns="0" anchor="t">
            <a:spAutoFit/>
          </a:bodyPr>
          <a:lstStyle/>
          <a:p>
            <a:pPr algn="l"/>
            <a:r>
              <a:rPr sz="1000" b="0" i="0" spc="200">
                <a:solidFill>
                  <a:srgbClr val="6E6663"/>
                </a:solidFill>
                <a:latin typeface="Futura LT"/>
              </a:rPr>
              <a:t>TRACKING</a:t>
            </a:r>
          </a:p>
        </p:txBody>
      </p:sp>
      <p:sp>
        <p:nvSpPr>
          <p:cNvPr id="21" name="TextBox 20"/>
          <p:cNvSpPr txBox="1"/>
          <p:nvPr/>
        </p:nvSpPr>
        <p:spPr>
          <a:xfrm>
            <a:off x="7196487" y="4639548"/>
            <a:ext cx="4063898" cy="135461"/>
          </a:xfrm>
          <a:prstGeom prst="rect">
            <a:avLst/>
          </a:prstGeom>
          <a:noFill/>
        </p:spPr>
        <p:txBody>
          <a:bodyPr wrap="square" lIns="0" rIns="0" tIns="0" bIns="0" anchor="t">
            <a:spAutoFit/>
          </a:bodyPr>
          <a:lstStyle/>
          <a:p>
            <a:pPr algn="l"/>
            <a:r>
              <a:rPr sz="1300" b="0" i="0">
                <a:solidFill>
                  <a:srgbClr val="0E0E0E"/>
                </a:solidFill>
                <a:latin typeface="Futura LT"/>
              </a:rPr>
              <a:t>0%, never tracked or stretched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PAIRING &amp; HIERARCHY</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14</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PAIRING &amp; HIERARCHY</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14</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14 — PAIRING &amp; HIERARCHY</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How they </a:t>
            </a:r>
            <a:r>
              <a:rPr sz="5600" b="0" i="1">
                <a:solidFill>
                  <a:srgbClr val="0E0E0E"/>
                </a:solidFill>
                <a:latin typeface="Didot"/>
              </a:rPr>
              <a:t>speak.</a:t>
            </a:r>
          </a:p>
        </p:txBody>
      </p:sp>
      <p:sp>
        <p:nvSpPr>
          <p:cNvPr id="11" name="TextBox 10"/>
          <p:cNvSpPr txBox="1"/>
          <p:nvPr/>
        </p:nvSpPr>
        <p:spPr>
          <a:xfrm>
            <a:off x="609585" y="2709225"/>
            <a:ext cx="9313100" cy="135461"/>
          </a:xfrm>
          <a:prstGeom prst="rect">
            <a:avLst/>
          </a:prstGeom>
          <a:noFill/>
        </p:spPr>
        <p:txBody>
          <a:bodyPr wrap="square" lIns="0" rIns="0" tIns="0" bIns="0" anchor="t">
            <a:spAutoFit/>
          </a:bodyPr>
          <a:lstStyle/>
          <a:p>
            <a:pPr algn="l"/>
            <a:r>
              <a:rPr sz="1000" b="0" i="0" spc="200">
                <a:solidFill>
                  <a:srgbClr val="8B8480"/>
                </a:solidFill>
                <a:latin typeface="Futura LT"/>
              </a:rPr>
              <a:t>EYEBROW / 11 / 220</a:t>
            </a:r>
          </a:p>
        </p:txBody>
      </p:sp>
      <p:sp>
        <p:nvSpPr>
          <p:cNvPr id="12" name="TextBox 11"/>
          <p:cNvSpPr txBox="1"/>
          <p:nvPr/>
        </p:nvSpPr>
        <p:spPr>
          <a:xfrm>
            <a:off x="609585" y="2912417"/>
            <a:ext cx="9313100" cy="135461"/>
          </a:xfrm>
          <a:prstGeom prst="rect">
            <a:avLst/>
          </a:prstGeom>
          <a:noFill/>
        </p:spPr>
        <p:txBody>
          <a:bodyPr wrap="square" lIns="0" rIns="0" tIns="0" bIns="0" anchor="t">
            <a:spAutoFit/>
          </a:bodyPr>
          <a:lstStyle/>
          <a:p>
            <a:pPr algn="l"/>
            <a:r>
              <a:rPr sz="1000" b="0" i="0" spc="200">
                <a:solidFill>
                  <a:srgbClr val="0E0E0E"/>
                </a:solidFill>
                <a:latin typeface="Futura LT"/>
              </a:rPr>
              <a:t>HAND-CRAFTED IN NYC</a:t>
            </a:r>
          </a:p>
        </p:txBody>
      </p:sp>
      <p:sp>
        <p:nvSpPr>
          <p:cNvPr id="13" name="TextBox 12"/>
          <p:cNvSpPr txBox="1"/>
          <p:nvPr/>
        </p:nvSpPr>
        <p:spPr>
          <a:xfrm>
            <a:off x="609585" y="3251070"/>
            <a:ext cx="9313100" cy="846633"/>
          </a:xfrm>
          <a:prstGeom prst="rect">
            <a:avLst/>
          </a:prstGeom>
          <a:noFill/>
        </p:spPr>
        <p:txBody>
          <a:bodyPr wrap="square" lIns="0" rIns="0" tIns="0" bIns="0" anchor="t">
            <a:spAutoFit/>
          </a:bodyPr>
          <a:lstStyle/>
          <a:p>
            <a:pPr algn="l"/>
            <a:r>
              <a:rPr sz="1000" b="0" i="0" spc="200">
                <a:solidFill>
                  <a:srgbClr val="8B8480"/>
                </a:solidFill>
                <a:latin typeface="Futura LT"/>
              </a:rPr>
              <a:t>DISPLAY HEADLINE / 56 / DIDOT</a:t>
            </a:r>
          </a:p>
        </p:txBody>
      </p:sp>
      <p:sp>
        <p:nvSpPr>
          <p:cNvPr id="14" name="TextBox 13"/>
          <p:cNvSpPr txBox="1"/>
          <p:nvPr/>
        </p:nvSpPr>
        <p:spPr>
          <a:xfrm>
            <a:off x="609585" y="3454262"/>
            <a:ext cx="10972526" cy="846633"/>
          </a:xfrm>
          <a:prstGeom prst="rect">
            <a:avLst/>
          </a:prstGeom>
          <a:noFill/>
        </p:spPr>
        <p:txBody>
          <a:bodyPr wrap="square" lIns="0" rIns="0" tIns="0" bIns="0" anchor="t">
            <a:spAutoFit/>
          </a:bodyPr>
          <a:lstStyle/>
          <a:p>
            <a:pPr algn="l"/>
            <a:r>
              <a:rPr sz="5600" b="0" i="0">
                <a:solidFill>
                  <a:srgbClr val="0E0E0E"/>
                </a:solidFill>
                <a:latin typeface="Didot"/>
              </a:rPr>
              <a:t>A wig that feels like you, only quieter.</a:t>
            </a:r>
          </a:p>
        </p:txBody>
      </p:sp>
      <p:sp>
        <p:nvSpPr>
          <p:cNvPr id="15" name="TextBox 14"/>
          <p:cNvSpPr txBox="1"/>
          <p:nvPr/>
        </p:nvSpPr>
        <p:spPr>
          <a:xfrm>
            <a:off x="609585" y="4436356"/>
            <a:ext cx="9313100" cy="135461"/>
          </a:xfrm>
          <a:prstGeom prst="rect">
            <a:avLst/>
          </a:prstGeom>
          <a:noFill/>
        </p:spPr>
        <p:txBody>
          <a:bodyPr wrap="square" lIns="0" rIns="0" tIns="0" bIns="0" anchor="t">
            <a:spAutoFit/>
          </a:bodyPr>
          <a:lstStyle/>
          <a:p>
            <a:pPr algn="l"/>
            <a:r>
              <a:rPr sz="1000" b="0" i="0" spc="200">
                <a:solidFill>
                  <a:srgbClr val="8B8480"/>
                </a:solidFill>
                <a:latin typeface="Futura LT"/>
              </a:rPr>
              <a:t>BODY / 14 / 1.7</a:t>
            </a:r>
          </a:p>
        </p:txBody>
      </p:sp>
      <p:sp>
        <p:nvSpPr>
          <p:cNvPr id="16" name="TextBox 15"/>
          <p:cNvSpPr txBox="1"/>
          <p:nvPr/>
        </p:nvSpPr>
        <p:spPr>
          <a:xfrm>
            <a:off x="609585" y="4639548"/>
            <a:ext cx="6773164" cy="1693266"/>
          </a:xfrm>
          <a:prstGeom prst="rect">
            <a:avLst/>
          </a:prstGeom>
          <a:noFill/>
        </p:spPr>
        <p:txBody>
          <a:bodyPr wrap="square" lIns="0" rIns="0" tIns="0" bIns="0" anchor="t">
            <a:spAutoFit/>
          </a:bodyPr>
          <a:lstStyle/>
          <a:p>
            <a:pPr algn="l">
              <a:lnSpc>
                <a:spcPct val="170000"/>
              </a:lnSpc>
            </a:pPr>
            <a:r>
              <a:rPr sz="1400" b="0" i="0">
                <a:solidFill>
                  <a:srgbClr val="0E0E0E"/>
                </a:solidFill>
                <a:latin typeface="Futura LT"/>
              </a:rPr>
              <a:t>Each piece is custom-made for the woman who wears it — European hair, hand-knotted lace, a private fitting. The work happens slowly; the result feels inevitable.</a:t>
            </a:r>
          </a:p>
        </p:txBody>
      </p:sp>
      <p:sp>
        <p:nvSpPr>
          <p:cNvPr id="17" name="TextBox 16"/>
          <p:cNvSpPr txBox="1"/>
          <p:nvPr/>
        </p:nvSpPr>
        <p:spPr>
          <a:xfrm>
            <a:off x="609585" y="5858699"/>
            <a:ext cx="9313100" cy="135461"/>
          </a:xfrm>
          <a:prstGeom prst="rect">
            <a:avLst/>
          </a:prstGeom>
          <a:noFill/>
        </p:spPr>
        <p:txBody>
          <a:bodyPr wrap="square" lIns="0" rIns="0" tIns="0" bIns="0" anchor="t">
            <a:spAutoFit/>
          </a:bodyPr>
          <a:lstStyle/>
          <a:p>
            <a:pPr algn="l"/>
            <a:r>
              <a:rPr sz="1000" b="0" i="0" spc="200">
                <a:solidFill>
                  <a:srgbClr val="8B8480"/>
                </a:solidFill>
                <a:latin typeface="Futura LT"/>
              </a:rPr>
              <a:t>CTA / 12 / 180 / UPPERCASE</a:t>
            </a:r>
          </a:p>
        </p:txBody>
      </p:sp>
      <p:sp>
        <p:nvSpPr>
          <p:cNvPr id="18" name="TextBox 17"/>
          <p:cNvSpPr txBox="1"/>
          <p:nvPr/>
        </p:nvSpPr>
        <p:spPr>
          <a:xfrm>
            <a:off x="609585" y="6061891"/>
            <a:ext cx="3386582" cy="203192"/>
          </a:xfrm>
          <a:prstGeom prst="rect">
            <a:avLst/>
          </a:prstGeom>
          <a:noFill/>
        </p:spPr>
        <p:txBody>
          <a:bodyPr wrap="square" lIns="0" rIns="0" tIns="0" bIns="0" anchor="t">
            <a:spAutoFit/>
          </a:bodyPr>
          <a:lstStyle/>
          <a:p>
            <a:pPr algn="l"/>
            <a:r>
              <a:rPr sz="1200" b="1" i="0" spc="180">
                <a:solidFill>
                  <a:srgbClr val="0E0E0E"/>
                </a:solidFill>
                <a:latin typeface="Futura LT"/>
              </a:rPr>
              <a:t>BOOK CONSULTATION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GRID</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15</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GRID</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15</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15 — GRID</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A quiet </a:t>
            </a:r>
            <a:r>
              <a:rPr sz="5600" b="0" i="1">
                <a:solidFill>
                  <a:srgbClr val="0E0E0E"/>
                </a:solidFill>
                <a:latin typeface="Didot"/>
              </a:rPr>
              <a:t>twelve.</a:t>
            </a:r>
          </a:p>
        </p:txBody>
      </p:sp>
      <p:sp>
        <p:nvSpPr>
          <p:cNvPr id="11" name="TextBox 10"/>
          <p:cNvSpPr txBox="1"/>
          <p:nvPr/>
        </p:nvSpPr>
        <p:spPr>
          <a:xfrm>
            <a:off x="609585" y="2370572"/>
            <a:ext cx="592651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The book is built on a 12-column grid with a 72 px outer margin and a 24 px gutter, on a 1440 × 900 px stage. Each page is structured around an editorial silence — content occupies roughly 60% of the surface; the rest breathes.</a:t>
            </a:r>
          </a:p>
        </p:txBody>
      </p:sp>
      <p:sp>
        <p:nvSpPr>
          <p:cNvPr id="12" name="Rectangle 11"/>
          <p:cNvSpPr/>
          <p:nvPr/>
        </p:nvSpPr>
        <p:spPr>
          <a:xfrm>
            <a:off x="609585" y="3386531"/>
            <a:ext cx="10972526" cy="3047878"/>
          </a:xfrm>
          <a:prstGeom prst="rect">
            <a:avLst/>
          </a:prstGeom>
          <a:no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523962"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438339"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352716"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267093"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81470"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95848"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010225"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24602"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38979"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53356"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667733" y="3386531"/>
            <a:ext cx="0" cy="3047878"/>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585" y="6502140"/>
            <a:ext cx="10972526" cy="118529"/>
          </a:xfrm>
          <a:prstGeom prst="rect">
            <a:avLst/>
          </a:prstGeom>
          <a:noFill/>
        </p:spPr>
        <p:txBody>
          <a:bodyPr wrap="square" lIns="0" rIns="0" tIns="0" bIns="0" anchor="t">
            <a:spAutoFit/>
          </a:bodyPr>
          <a:lstStyle/>
          <a:p>
            <a:pPr algn="ctr"/>
            <a:r>
              <a:rPr sz="1000" b="0" i="0" spc="200">
                <a:solidFill>
                  <a:srgbClr val="8B8480"/>
                </a:solidFill>
                <a:latin typeface="Futura LT"/>
              </a:rPr>
              <a:t>12 COLUMNS · 72 PX MARGIN · 24 PX GUTTER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PHOTOGRAPHY</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16</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PHOTOGRAPHY</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16</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16 — PHOTOGRAPHY</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Light, </a:t>
            </a:r>
            <a:r>
              <a:rPr sz="5600" b="0" i="1">
                <a:solidFill>
                  <a:srgbClr val="0E0E0E"/>
                </a:solidFill>
                <a:latin typeface="Didot"/>
              </a:rPr>
              <a:t>skin</a:t>
            </a:r>
            <a:r>
              <a:rPr sz="5600" b="0" i="0">
                <a:solidFill>
                  <a:srgbClr val="0E0E0E"/>
                </a:solidFill>
                <a:latin typeface="Didot"/>
              </a:rPr>
              <a:t>, silence.</a:t>
            </a:r>
          </a:p>
        </p:txBody>
      </p:sp>
      <p:sp>
        <p:nvSpPr>
          <p:cNvPr id="11" name="Rectangle 10"/>
          <p:cNvSpPr/>
          <p:nvPr/>
        </p:nvSpPr>
        <p:spPr>
          <a:xfrm>
            <a:off x="609585" y="2709225"/>
            <a:ext cx="5249202" cy="2539898"/>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578" y="2878551"/>
            <a:ext cx="4571886" cy="135461"/>
          </a:xfrm>
          <a:prstGeom prst="rect">
            <a:avLst/>
          </a:prstGeom>
          <a:noFill/>
        </p:spPr>
        <p:txBody>
          <a:bodyPr wrap="square" lIns="0" rIns="0" tIns="0" bIns="0" anchor="t">
            <a:spAutoFit/>
          </a:bodyPr>
          <a:lstStyle/>
          <a:p>
            <a:pPr algn="l"/>
            <a:r>
              <a:rPr sz="1000" b="0" i="0" spc="200">
                <a:solidFill>
                  <a:srgbClr val="8B8480"/>
                </a:solidFill>
                <a:latin typeface="Futura LT"/>
              </a:rPr>
              <a:t>MEDICAL · RESTORATION</a:t>
            </a:r>
          </a:p>
        </p:txBody>
      </p:sp>
      <p:sp>
        <p:nvSpPr>
          <p:cNvPr id="13" name="TextBox 12"/>
          <p:cNvSpPr txBox="1"/>
          <p:nvPr/>
        </p:nvSpPr>
        <p:spPr>
          <a:xfrm>
            <a:off x="863578" y="3217205"/>
            <a:ext cx="4571886"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Warm window light. Hands, jewellery, the back of a neck. The wig as a quiet companion, not a performance.</a:t>
            </a:r>
          </a:p>
        </p:txBody>
      </p:sp>
      <p:sp>
        <p:nvSpPr>
          <p:cNvPr id="14" name="Rectangle 13"/>
          <p:cNvSpPr/>
          <p:nvPr/>
        </p:nvSpPr>
        <p:spPr>
          <a:xfrm>
            <a:off x="6197445" y="2709225"/>
            <a:ext cx="5249202" cy="2539898"/>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439" y="2878551"/>
            <a:ext cx="4571886" cy="135461"/>
          </a:xfrm>
          <a:prstGeom prst="rect">
            <a:avLst/>
          </a:prstGeom>
          <a:noFill/>
        </p:spPr>
        <p:txBody>
          <a:bodyPr wrap="square" lIns="0" rIns="0" tIns="0" bIns="0" anchor="t">
            <a:spAutoFit/>
          </a:bodyPr>
          <a:lstStyle/>
          <a:p>
            <a:pPr algn="l"/>
            <a:r>
              <a:rPr sz="1000" b="0" i="0" spc="200">
                <a:solidFill>
                  <a:srgbClr val="8B8480"/>
                </a:solidFill>
                <a:latin typeface="Futura LT"/>
              </a:rPr>
              <a:t>LUXURY · EDITORIAL</a:t>
            </a:r>
          </a:p>
        </p:txBody>
      </p:sp>
      <p:sp>
        <p:nvSpPr>
          <p:cNvPr id="16" name="TextBox 15"/>
          <p:cNvSpPr txBox="1"/>
          <p:nvPr/>
        </p:nvSpPr>
        <p:spPr>
          <a:xfrm>
            <a:off x="6451439" y="3217205"/>
            <a:ext cx="4571886"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Studio lighting. Bare shoulders, ironed silk, the architecture of a face. The wig as couture, photographed like couture.</a:t>
            </a:r>
          </a:p>
        </p:txBody>
      </p:sp>
      <p:sp>
        <p:nvSpPr>
          <p:cNvPr id="17" name="TextBox 16"/>
          <p:cNvSpPr txBox="1"/>
          <p:nvPr/>
        </p:nvSpPr>
        <p:spPr>
          <a:xfrm>
            <a:off x="609585" y="5587776"/>
            <a:ext cx="10972526" cy="846633"/>
          </a:xfrm>
          <a:prstGeom prst="rect">
            <a:avLst/>
          </a:prstGeom>
          <a:noFill/>
        </p:spPr>
        <p:txBody>
          <a:bodyPr wrap="square" lIns="0" rIns="0" tIns="0" bIns="0" anchor="t">
            <a:spAutoFit/>
          </a:bodyPr>
          <a:lstStyle/>
          <a:p>
            <a:pPr algn="l">
              <a:lnSpc>
                <a:spcPct val="160000"/>
              </a:lnSpc>
            </a:pPr>
            <a:r>
              <a:rPr sz="1300" b="0" i="0">
                <a:solidFill>
                  <a:srgbClr val="0E0E0E"/>
                </a:solidFill>
                <a:latin typeface="Futura LT"/>
              </a:rPr>
              <a:t>Always shoot on neutral grounds — paper white, cream, clay. Never on saturated color. Models are calm, off-centre, never looking at the camera.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TONE OF VOICE</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17</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TONE OF VOICE</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17</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17 — TONE OF VOICE</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Speak </a:t>
            </a:r>
            <a:r>
              <a:rPr sz="5600" b="0" i="1">
                <a:solidFill>
                  <a:srgbClr val="0E0E0E"/>
                </a:solidFill>
                <a:latin typeface="Didot"/>
              </a:rPr>
              <a:t>softly.</a:t>
            </a:r>
          </a:p>
        </p:txBody>
      </p:sp>
      <p:sp>
        <p:nvSpPr>
          <p:cNvPr id="11" name="TextBox 10"/>
          <p:cNvSpPr txBox="1"/>
          <p:nvPr/>
        </p:nvSpPr>
        <p:spPr>
          <a:xfrm>
            <a:off x="609585" y="2709225"/>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INTIMATE</a:t>
            </a:r>
          </a:p>
        </p:txBody>
      </p:sp>
      <p:sp>
        <p:nvSpPr>
          <p:cNvPr id="12" name="TextBox 11"/>
          <p:cNvSpPr txBox="1"/>
          <p:nvPr/>
        </p:nvSpPr>
        <p:spPr>
          <a:xfrm>
            <a:off x="609585" y="2912417"/>
            <a:ext cx="4571886" cy="423316"/>
          </a:xfrm>
          <a:prstGeom prst="rect">
            <a:avLst/>
          </a:prstGeom>
          <a:noFill/>
        </p:spPr>
        <p:txBody>
          <a:bodyPr wrap="square" lIns="0" rIns="0" tIns="0" bIns="0" anchor="t">
            <a:spAutoFit/>
          </a:bodyPr>
          <a:lstStyle/>
          <a:p>
            <a:pPr algn="l"/>
            <a:r>
              <a:rPr sz="2800" b="0" i="0">
                <a:solidFill>
                  <a:srgbClr val="0E0E0E"/>
                </a:solidFill>
                <a:latin typeface="Didot"/>
              </a:rPr>
              <a:t>Intimate</a:t>
            </a:r>
          </a:p>
        </p:txBody>
      </p:sp>
      <p:sp>
        <p:nvSpPr>
          <p:cNvPr id="13" name="TextBox 12"/>
          <p:cNvSpPr txBox="1"/>
          <p:nvPr/>
        </p:nvSpPr>
        <p:spPr>
          <a:xfrm>
            <a:off x="609585" y="3301868"/>
            <a:ext cx="4571886" cy="846633"/>
          </a:xfrm>
          <a:prstGeom prst="rect">
            <a:avLst/>
          </a:prstGeom>
          <a:noFill/>
        </p:spPr>
        <p:txBody>
          <a:bodyPr wrap="square" lIns="0" rIns="0" tIns="0" bIns="0" anchor="t">
            <a:spAutoFit/>
          </a:bodyPr>
          <a:lstStyle/>
          <a:p>
            <a:pPr algn="l">
              <a:lnSpc>
                <a:spcPct val="155000"/>
              </a:lnSpc>
            </a:pPr>
            <a:r>
              <a:rPr sz="1400" b="0" i="1">
                <a:solidFill>
                  <a:srgbClr val="0E0E0E"/>
                </a:solidFill>
                <a:latin typeface="Futura LT"/>
              </a:rPr>
              <a:t>Like a fitting in a quiet room.</a:t>
            </a:r>
          </a:p>
        </p:txBody>
      </p:sp>
      <p:sp>
        <p:nvSpPr>
          <p:cNvPr id="14" name="TextBox 13"/>
          <p:cNvSpPr txBox="1"/>
          <p:nvPr/>
        </p:nvSpPr>
        <p:spPr>
          <a:xfrm>
            <a:off x="6197445" y="2709225"/>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CONFIDENT</a:t>
            </a:r>
          </a:p>
        </p:txBody>
      </p:sp>
      <p:sp>
        <p:nvSpPr>
          <p:cNvPr id="15" name="TextBox 14"/>
          <p:cNvSpPr txBox="1"/>
          <p:nvPr/>
        </p:nvSpPr>
        <p:spPr>
          <a:xfrm>
            <a:off x="6197445" y="2912417"/>
            <a:ext cx="4571886" cy="423316"/>
          </a:xfrm>
          <a:prstGeom prst="rect">
            <a:avLst/>
          </a:prstGeom>
          <a:noFill/>
        </p:spPr>
        <p:txBody>
          <a:bodyPr wrap="square" lIns="0" rIns="0" tIns="0" bIns="0" anchor="t">
            <a:spAutoFit/>
          </a:bodyPr>
          <a:lstStyle/>
          <a:p>
            <a:pPr algn="l"/>
            <a:r>
              <a:rPr sz="2800" b="0" i="0">
                <a:solidFill>
                  <a:srgbClr val="0E0E0E"/>
                </a:solidFill>
                <a:latin typeface="Didot"/>
              </a:rPr>
              <a:t>Confident</a:t>
            </a:r>
          </a:p>
        </p:txBody>
      </p:sp>
      <p:sp>
        <p:nvSpPr>
          <p:cNvPr id="16" name="TextBox 15"/>
          <p:cNvSpPr txBox="1"/>
          <p:nvPr/>
        </p:nvSpPr>
        <p:spPr>
          <a:xfrm>
            <a:off x="6197445" y="3301868"/>
            <a:ext cx="4571886" cy="846633"/>
          </a:xfrm>
          <a:prstGeom prst="rect">
            <a:avLst/>
          </a:prstGeom>
          <a:noFill/>
        </p:spPr>
        <p:txBody>
          <a:bodyPr wrap="square" lIns="0" rIns="0" tIns="0" bIns="0" anchor="t">
            <a:spAutoFit/>
          </a:bodyPr>
          <a:lstStyle/>
          <a:p>
            <a:pPr algn="l">
              <a:lnSpc>
                <a:spcPct val="155000"/>
              </a:lnSpc>
            </a:pPr>
            <a:r>
              <a:rPr sz="1400" b="0" i="1">
                <a:solidFill>
                  <a:srgbClr val="0E0E0E"/>
                </a:solidFill>
                <a:latin typeface="Futura LT"/>
              </a:rPr>
              <a:t>Without ornament or proof.</a:t>
            </a:r>
          </a:p>
        </p:txBody>
      </p:sp>
      <p:sp>
        <p:nvSpPr>
          <p:cNvPr id="17" name="TextBox 16"/>
          <p:cNvSpPr txBox="1"/>
          <p:nvPr/>
        </p:nvSpPr>
        <p:spPr>
          <a:xfrm>
            <a:off x="609585" y="4233164"/>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EDITORIAL</a:t>
            </a:r>
          </a:p>
        </p:txBody>
      </p:sp>
      <p:sp>
        <p:nvSpPr>
          <p:cNvPr id="18" name="TextBox 17"/>
          <p:cNvSpPr txBox="1"/>
          <p:nvPr/>
        </p:nvSpPr>
        <p:spPr>
          <a:xfrm>
            <a:off x="609585" y="4436356"/>
            <a:ext cx="4571886" cy="423316"/>
          </a:xfrm>
          <a:prstGeom prst="rect">
            <a:avLst/>
          </a:prstGeom>
          <a:noFill/>
        </p:spPr>
        <p:txBody>
          <a:bodyPr wrap="square" lIns="0" rIns="0" tIns="0" bIns="0" anchor="t">
            <a:spAutoFit/>
          </a:bodyPr>
          <a:lstStyle/>
          <a:p>
            <a:pPr algn="l"/>
            <a:r>
              <a:rPr sz="2800" b="0" i="0">
                <a:solidFill>
                  <a:srgbClr val="0E0E0E"/>
                </a:solidFill>
                <a:latin typeface="Didot"/>
              </a:rPr>
              <a:t>Editorial</a:t>
            </a:r>
          </a:p>
        </p:txBody>
      </p:sp>
      <p:sp>
        <p:nvSpPr>
          <p:cNvPr id="19" name="TextBox 18"/>
          <p:cNvSpPr txBox="1"/>
          <p:nvPr/>
        </p:nvSpPr>
        <p:spPr>
          <a:xfrm>
            <a:off x="609585" y="4825807"/>
            <a:ext cx="4571886" cy="846633"/>
          </a:xfrm>
          <a:prstGeom prst="rect">
            <a:avLst/>
          </a:prstGeom>
          <a:noFill/>
        </p:spPr>
        <p:txBody>
          <a:bodyPr wrap="square" lIns="0" rIns="0" tIns="0" bIns="0" anchor="t">
            <a:spAutoFit/>
          </a:bodyPr>
          <a:lstStyle/>
          <a:p>
            <a:pPr algn="l">
              <a:lnSpc>
                <a:spcPct val="155000"/>
              </a:lnSpc>
            </a:pPr>
            <a:r>
              <a:rPr sz="1400" b="0" i="1">
                <a:solidFill>
                  <a:srgbClr val="0E0E0E"/>
                </a:solidFill>
                <a:latin typeface="Futura LT"/>
              </a:rPr>
              <a:t>Composed sentences, generous space.</a:t>
            </a:r>
          </a:p>
        </p:txBody>
      </p:sp>
      <p:sp>
        <p:nvSpPr>
          <p:cNvPr id="20" name="TextBox 19"/>
          <p:cNvSpPr txBox="1"/>
          <p:nvPr/>
        </p:nvSpPr>
        <p:spPr>
          <a:xfrm>
            <a:off x="6197445" y="4233164"/>
            <a:ext cx="1693291" cy="135461"/>
          </a:xfrm>
          <a:prstGeom prst="rect">
            <a:avLst/>
          </a:prstGeom>
          <a:noFill/>
        </p:spPr>
        <p:txBody>
          <a:bodyPr wrap="square" lIns="0" rIns="0" tIns="0" bIns="0" anchor="t">
            <a:spAutoFit/>
          </a:bodyPr>
          <a:lstStyle/>
          <a:p>
            <a:pPr algn="l"/>
            <a:r>
              <a:rPr sz="1000" b="0" i="0" spc="200">
                <a:solidFill>
                  <a:srgbClr val="8B8480"/>
                </a:solidFill>
                <a:latin typeface="Futura LT"/>
              </a:rPr>
              <a:t>EMPATHIC</a:t>
            </a:r>
          </a:p>
        </p:txBody>
      </p:sp>
      <p:sp>
        <p:nvSpPr>
          <p:cNvPr id="21" name="TextBox 20"/>
          <p:cNvSpPr txBox="1"/>
          <p:nvPr/>
        </p:nvSpPr>
        <p:spPr>
          <a:xfrm>
            <a:off x="6197445" y="4436356"/>
            <a:ext cx="4571886" cy="423316"/>
          </a:xfrm>
          <a:prstGeom prst="rect">
            <a:avLst/>
          </a:prstGeom>
          <a:noFill/>
        </p:spPr>
        <p:txBody>
          <a:bodyPr wrap="square" lIns="0" rIns="0" tIns="0" bIns="0" anchor="t">
            <a:spAutoFit/>
          </a:bodyPr>
          <a:lstStyle/>
          <a:p>
            <a:pPr algn="l"/>
            <a:r>
              <a:rPr sz="2800" b="0" i="0">
                <a:solidFill>
                  <a:srgbClr val="0E0E0E"/>
                </a:solidFill>
                <a:latin typeface="Didot"/>
              </a:rPr>
              <a:t>Empathic</a:t>
            </a:r>
          </a:p>
        </p:txBody>
      </p:sp>
      <p:sp>
        <p:nvSpPr>
          <p:cNvPr id="22" name="TextBox 21"/>
          <p:cNvSpPr txBox="1"/>
          <p:nvPr/>
        </p:nvSpPr>
        <p:spPr>
          <a:xfrm>
            <a:off x="6197445" y="4825807"/>
            <a:ext cx="4571886" cy="846633"/>
          </a:xfrm>
          <a:prstGeom prst="rect">
            <a:avLst/>
          </a:prstGeom>
          <a:noFill/>
        </p:spPr>
        <p:txBody>
          <a:bodyPr wrap="square" lIns="0" rIns="0" tIns="0" bIns="0" anchor="t">
            <a:spAutoFit/>
          </a:bodyPr>
          <a:lstStyle/>
          <a:p>
            <a:pPr algn="l">
              <a:lnSpc>
                <a:spcPct val="155000"/>
              </a:lnSpc>
            </a:pPr>
            <a:r>
              <a:rPr sz="1400" b="0" i="1">
                <a:solidFill>
                  <a:srgbClr val="0E0E0E"/>
                </a:solidFill>
                <a:latin typeface="Futura LT"/>
              </a:rPr>
              <a:t>Especially with the medical client.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PATTERNS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18</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THE SYSTEM — FOUR DISCREET REPEATS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18</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18 — PATTERNS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A quiet </a:t>
            </a:r>
            <a:r>
              <a:rPr sz="5600" b="0" i="1">
                <a:solidFill>
                  <a:srgbClr val="0E0E0E"/>
                </a:solidFill>
                <a:latin typeface="Didot"/>
              </a:rPr>
              <a:t>repeat.</a:t>
            </a:r>
          </a:p>
        </p:txBody>
      </p:sp>
      <p:sp>
        <p:nvSpPr>
          <p:cNvPr id="11" name="TextBox 10"/>
          <p:cNvSpPr txBox="1"/>
          <p:nvPr/>
        </p:nvSpPr>
        <p:spPr>
          <a:xfrm>
            <a:off x="609585" y="2370572"/>
            <a:ext cx="592651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Four discreet patterns extend the brand beyond the logo — for endpapers, dust-bag interiors, packaging linings, story backgrounds and stationery. Each is built from a single brand asset and is meant to be felt, never read.</a:t>
            </a:r>
          </a:p>
        </p:txBody>
      </p:sp>
      <p:sp>
        <p:nvSpPr>
          <p:cNvPr id="12" name="Rectangle 11"/>
          <p:cNvSpPr/>
          <p:nvPr/>
        </p:nvSpPr>
        <p:spPr>
          <a:xfrm>
            <a:off x="609585" y="3640521"/>
            <a:ext cx="5384665" cy="1473141"/>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847" y="3792915"/>
            <a:ext cx="3386582" cy="118529"/>
          </a:xfrm>
          <a:prstGeom prst="rect">
            <a:avLst/>
          </a:prstGeom>
          <a:noFill/>
        </p:spPr>
        <p:txBody>
          <a:bodyPr wrap="square" lIns="0" rIns="0" tIns="0" bIns="0" anchor="t">
            <a:spAutoFit/>
          </a:bodyPr>
          <a:lstStyle/>
          <a:p>
            <a:pPr algn="l"/>
            <a:r>
              <a:rPr sz="1000" b="0" i="0" spc="200">
                <a:solidFill>
                  <a:srgbClr val="0E0E0E"/>
                </a:solidFill>
                <a:latin typeface="Futura LT"/>
              </a:rPr>
              <a:t>01 — MONOGRAM FIELD</a:t>
            </a:r>
          </a:p>
        </p:txBody>
      </p:sp>
      <p:pic>
        <p:nvPicPr>
          <p:cNvPr id="14" name="Picture 13" descr="shlomi-mor-monogram-black.png"/>
          <p:cNvPicPr>
            <a:picLocks noChangeAspect="1"/>
          </p:cNvPicPr>
          <p:nvPr/>
        </p:nvPicPr>
        <p:blipFill>
          <a:blip r:embed="rId2"/>
          <a:stretch>
            <a:fillRect/>
          </a:stretch>
        </p:blipFill>
        <p:spPr>
          <a:xfrm rot="20280000">
            <a:off x="1202237" y="4148501"/>
            <a:ext cx="140103" cy="118529"/>
          </a:xfrm>
          <a:prstGeom prst="rect">
            <a:avLst/>
          </a:prstGeom>
        </p:spPr>
      </p:pic>
      <p:pic>
        <p:nvPicPr>
          <p:cNvPr id="15" name="Picture 14" descr="shlomi-mor-monogram-black.png"/>
          <p:cNvPicPr>
            <a:picLocks noChangeAspect="1"/>
          </p:cNvPicPr>
          <p:nvPr/>
        </p:nvPicPr>
        <p:blipFill>
          <a:blip r:embed="rId2"/>
          <a:stretch>
            <a:fillRect/>
          </a:stretch>
        </p:blipFill>
        <p:spPr>
          <a:xfrm rot="20280000">
            <a:off x="1456230" y="4470221"/>
            <a:ext cx="140103" cy="118529"/>
          </a:xfrm>
          <a:prstGeom prst="rect">
            <a:avLst/>
          </a:prstGeom>
        </p:spPr>
      </p:pic>
      <p:pic>
        <p:nvPicPr>
          <p:cNvPr id="16" name="Picture 15" descr="shlomi-mor-monogram-black.png"/>
          <p:cNvPicPr>
            <a:picLocks noChangeAspect="1"/>
          </p:cNvPicPr>
          <p:nvPr/>
        </p:nvPicPr>
        <p:blipFill>
          <a:blip r:embed="rId2"/>
          <a:stretch>
            <a:fillRect/>
          </a:stretch>
        </p:blipFill>
        <p:spPr>
          <a:xfrm rot="20280000">
            <a:off x="1202237" y="4791942"/>
            <a:ext cx="140103" cy="118529"/>
          </a:xfrm>
          <a:prstGeom prst="rect">
            <a:avLst/>
          </a:prstGeom>
        </p:spPr>
      </p:pic>
      <p:pic>
        <p:nvPicPr>
          <p:cNvPr id="17" name="Picture 16" descr="shlomi-mor-monogram-black.png"/>
          <p:cNvPicPr>
            <a:picLocks noChangeAspect="1"/>
          </p:cNvPicPr>
          <p:nvPr/>
        </p:nvPicPr>
        <p:blipFill>
          <a:blip r:embed="rId2"/>
          <a:stretch>
            <a:fillRect/>
          </a:stretch>
        </p:blipFill>
        <p:spPr>
          <a:xfrm rot="20280000">
            <a:off x="1879553" y="4148501"/>
            <a:ext cx="140103" cy="118529"/>
          </a:xfrm>
          <a:prstGeom prst="rect">
            <a:avLst/>
          </a:prstGeom>
        </p:spPr>
      </p:pic>
      <p:pic>
        <p:nvPicPr>
          <p:cNvPr id="18" name="Picture 17" descr="shlomi-mor-monogram-black.png"/>
          <p:cNvPicPr>
            <a:picLocks noChangeAspect="1"/>
          </p:cNvPicPr>
          <p:nvPr/>
        </p:nvPicPr>
        <p:blipFill>
          <a:blip r:embed="rId2"/>
          <a:stretch>
            <a:fillRect/>
          </a:stretch>
        </p:blipFill>
        <p:spPr>
          <a:xfrm rot="20280000">
            <a:off x="2133547" y="4470221"/>
            <a:ext cx="140103" cy="118529"/>
          </a:xfrm>
          <a:prstGeom prst="rect">
            <a:avLst/>
          </a:prstGeom>
        </p:spPr>
      </p:pic>
      <p:pic>
        <p:nvPicPr>
          <p:cNvPr id="19" name="Picture 18" descr="shlomi-mor-monogram-black.png"/>
          <p:cNvPicPr>
            <a:picLocks noChangeAspect="1"/>
          </p:cNvPicPr>
          <p:nvPr/>
        </p:nvPicPr>
        <p:blipFill>
          <a:blip r:embed="rId2"/>
          <a:stretch>
            <a:fillRect/>
          </a:stretch>
        </p:blipFill>
        <p:spPr>
          <a:xfrm rot="20280000">
            <a:off x="1879553" y="4791942"/>
            <a:ext cx="140103" cy="118529"/>
          </a:xfrm>
          <a:prstGeom prst="rect">
            <a:avLst/>
          </a:prstGeom>
        </p:spPr>
      </p:pic>
      <p:pic>
        <p:nvPicPr>
          <p:cNvPr id="20" name="Picture 19" descr="shlomi-mor-monogram-black.png"/>
          <p:cNvPicPr>
            <a:picLocks noChangeAspect="1"/>
          </p:cNvPicPr>
          <p:nvPr/>
        </p:nvPicPr>
        <p:blipFill>
          <a:blip r:embed="rId2"/>
          <a:stretch>
            <a:fillRect/>
          </a:stretch>
        </p:blipFill>
        <p:spPr>
          <a:xfrm rot="20280000">
            <a:off x="2556869" y="4148501"/>
            <a:ext cx="140103" cy="118529"/>
          </a:xfrm>
          <a:prstGeom prst="rect">
            <a:avLst/>
          </a:prstGeom>
        </p:spPr>
      </p:pic>
      <p:pic>
        <p:nvPicPr>
          <p:cNvPr id="21" name="Picture 20" descr="shlomi-mor-monogram-black.png"/>
          <p:cNvPicPr>
            <a:picLocks noChangeAspect="1"/>
          </p:cNvPicPr>
          <p:nvPr/>
        </p:nvPicPr>
        <p:blipFill>
          <a:blip r:embed="rId2"/>
          <a:stretch>
            <a:fillRect/>
          </a:stretch>
        </p:blipFill>
        <p:spPr>
          <a:xfrm rot="20280000">
            <a:off x="2810863" y="4470221"/>
            <a:ext cx="140103" cy="118529"/>
          </a:xfrm>
          <a:prstGeom prst="rect">
            <a:avLst/>
          </a:prstGeom>
        </p:spPr>
      </p:pic>
      <p:pic>
        <p:nvPicPr>
          <p:cNvPr id="22" name="Picture 21" descr="shlomi-mor-monogram-black.png"/>
          <p:cNvPicPr>
            <a:picLocks noChangeAspect="1"/>
          </p:cNvPicPr>
          <p:nvPr/>
        </p:nvPicPr>
        <p:blipFill>
          <a:blip r:embed="rId2"/>
          <a:stretch>
            <a:fillRect/>
          </a:stretch>
        </p:blipFill>
        <p:spPr>
          <a:xfrm rot="20280000">
            <a:off x="2556869" y="4791942"/>
            <a:ext cx="140103" cy="118529"/>
          </a:xfrm>
          <a:prstGeom prst="rect">
            <a:avLst/>
          </a:prstGeom>
        </p:spPr>
      </p:pic>
      <p:pic>
        <p:nvPicPr>
          <p:cNvPr id="23" name="Picture 22" descr="shlomi-mor-monogram-black.png"/>
          <p:cNvPicPr>
            <a:picLocks noChangeAspect="1"/>
          </p:cNvPicPr>
          <p:nvPr/>
        </p:nvPicPr>
        <p:blipFill>
          <a:blip r:embed="rId2"/>
          <a:stretch>
            <a:fillRect/>
          </a:stretch>
        </p:blipFill>
        <p:spPr>
          <a:xfrm rot="20280000">
            <a:off x="3234186" y="4148501"/>
            <a:ext cx="140103" cy="118529"/>
          </a:xfrm>
          <a:prstGeom prst="rect">
            <a:avLst/>
          </a:prstGeom>
        </p:spPr>
      </p:pic>
      <p:pic>
        <p:nvPicPr>
          <p:cNvPr id="24" name="Picture 23" descr="shlomi-mor-monogram-black.png"/>
          <p:cNvPicPr>
            <a:picLocks noChangeAspect="1"/>
          </p:cNvPicPr>
          <p:nvPr/>
        </p:nvPicPr>
        <p:blipFill>
          <a:blip r:embed="rId2"/>
          <a:stretch>
            <a:fillRect/>
          </a:stretch>
        </p:blipFill>
        <p:spPr>
          <a:xfrm rot="20280000">
            <a:off x="3488179" y="4470221"/>
            <a:ext cx="140103" cy="118529"/>
          </a:xfrm>
          <a:prstGeom prst="rect">
            <a:avLst/>
          </a:prstGeom>
        </p:spPr>
      </p:pic>
      <p:pic>
        <p:nvPicPr>
          <p:cNvPr id="25" name="Picture 24" descr="shlomi-mor-monogram-black.png"/>
          <p:cNvPicPr>
            <a:picLocks noChangeAspect="1"/>
          </p:cNvPicPr>
          <p:nvPr/>
        </p:nvPicPr>
        <p:blipFill>
          <a:blip r:embed="rId2"/>
          <a:stretch>
            <a:fillRect/>
          </a:stretch>
        </p:blipFill>
        <p:spPr>
          <a:xfrm rot="20280000">
            <a:off x="3234186" y="4791942"/>
            <a:ext cx="140103" cy="118529"/>
          </a:xfrm>
          <a:prstGeom prst="rect">
            <a:avLst/>
          </a:prstGeom>
        </p:spPr>
      </p:pic>
      <p:pic>
        <p:nvPicPr>
          <p:cNvPr id="26" name="Picture 25" descr="shlomi-mor-monogram-black.png"/>
          <p:cNvPicPr>
            <a:picLocks noChangeAspect="1"/>
          </p:cNvPicPr>
          <p:nvPr/>
        </p:nvPicPr>
        <p:blipFill>
          <a:blip r:embed="rId2"/>
          <a:stretch>
            <a:fillRect/>
          </a:stretch>
        </p:blipFill>
        <p:spPr>
          <a:xfrm rot="20280000">
            <a:off x="3911502" y="4148501"/>
            <a:ext cx="140103" cy="118529"/>
          </a:xfrm>
          <a:prstGeom prst="rect">
            <a:avLst/>
          </a:prstGeom>
        </p:spPr>
      </p:pic>
      <p:pic>
        <p:nvPicPr>
          <p:cNvPr id="27" name="Picture 26" descr="shlomi-mor-monogram-black.png"/>
          <p:cNvPicPr>
            <a:picLocks noChangeAspect="1"/>
          </p:cNvPicPr>
          <p:nvPr/>
        </p:nvPicPr>
        <p:blipFill>
          <a:blip r:embed="rId2"/>
          <a:stretch>
            <a:fillRect/>
          </a:stretch>
        </p:blipFill>
        <p:spPr>
          <a:xfrm rot="20280000">
            <a:off x="4165496" y="4470221"/>
            <a:ext cx="140103" cy="118529"/>
          </a:xfrm>
          <a:prstGeom prst="rect">
            <a:avLst/>
          </a:prstGeom>
        </p:spPr>
      </p:pic>
      <p:pic>
        <p:nvPicPr>
          <p:cNvPr id="28" name="Picture 27" descr="shlomi-mor-monogram-black.png"/>
          <p:cNvPicPr>
            <a:picLocks noChangeAspect="1"/>
          </p:cNvPicPr>
          <p:nvPr/>
        </p:nvPicPr>
        <p:blipFill>
          <a:blip r:embed="rId2"/>
          <a:stretch>
            <a:fillRect/>
          </a:stretch>
        </p:blipFill>
        <p:spPr>
          <a:xfrm rot="20280000">
            <a:off x="3911502" y="4791942"/>
            <a:ext cx="140103" cy="118529"/>
          </a:xfrm>
          <a:prstGeom prst="rect">
            <a:avLst/>
          </a:prstGeom>
        </p:spPr>
      </p:pic>
      <p:pic>
        <p:nvPicPr>
          <p:cNvPr id="29" name="Picture 28" descr="shlomi-mor-monogram-black.png"/>
          <p:cNvPicPr>
            <a:picLocks noChangeAspect="1"/>
          </p:cNvPicPr>
          <p:nvPr/>
        </p:nvPicPr>
        <p:blipFill>
          <a:blip r:embed="rId2"/>
          <a:stretch>
            <a:fillRect/>
          </a:stretch>
        </p:blipFill>
        <p:spPr>
          <a:xfrm rot="20280000">
            <a:off x="4588819" y="4148501"/>
            <a:ext cx="140103" cy="118529"/>
          </a:xfrm>
          <a:prstGeom prst="rect">
            <a:avLst/>
          </a:prstGeom>
        </p:spPr>
      </p:pic>
      <p:pic>
        <p:nvPicPr>
          <p:cNvPr id="30" name="Picture 29" descr="shlomi-mor-monogram-black.png"/>
          <p:cNvPicPr>
            <a:picLocks noChangeAspect="1"/>
          </p:cNvPicPr>
          <p:nvPr/>
        </p:nvPicPr>
        <p:blipFill>
          <a:blip r:embed="rId2"/>
          <a:stretch>
            <a:fillRect/>
          </a:stretch>
        </p:blipFill>
        <p:spPr>
          <a:xfrm rot="20280000">
            <a:off x="4842812" y="4470221"/>
            <a:ext cx="140103" cy="118529"/>
          </a:xfrm>
          <a:prstGeom prst="rect">
            <a:avLst/>
          </a:prstGeom>
        </p:spPr>
      </p:pic>
      <p:pic>
        <p:nvPicPr>
          <p:cNvPr id="31" name="Picture 30" descr="shlomi-mor-monogram-black.png"/>
          <p:cNvPicPr>
            <a:picLocks noChangeAspect="1"/>
          </p:cNvPicPr>
          <p:nvPr/>
        </p:nvPicPr>
        <p:blipFill>
          <a:blip r:embed="rId2"/>
          <a:stretch>
            <a:fillRect/>
          </a:stretch>
        </p:blipFill>
        <p:spPr>
          <a:xfrm rot="20280000">
            <a:off x="4588819" y="4791942"/>
            <a:ext cx="140103" cy="118529"/>
          </a:xfrm>
          <a:prstGeom prst="rect">
            <a:avLst/>
          </a:prstGeom>
        </p:spPr>
      </p:pic>
      <p:pic>
        <p:nvPicPr>
          <p:cNvPr id="32" name="Picture 31" descr="shlomi-mor-monogram-black.png"/>
          <p:cNvPicPr>
            <a:picLocks noChangeAspect="1"/>
          </p:cNvPicPr>
          <p:nvPr/>
        </p:nvPicPr>
        <p:blipFill>
          <a:blip r:embed="rId2"/>
          <a:stretch>
            <a:fillRect/>
          </a:stretch>
        </p:blipFill>
        <p:spPr>
          <a:xfrm rot="20280000">
            <a:off x="5266135" y="4148501"/>
            <a:ext cx="140103" cy="118529"/>
          </a:xfrm>
          <a:prstGeom prst="rect">
            <a:avLst/>
          </a:prstGeom>
        </p:spPr>
      </p:pic>
      <p:pic>
        <p:nvPicPr>
          <p:cNvPr id="33" name="Picture 32" descr="shlomi-mor-monogram-black.png"/>
          <p:cNvPicPr>
            <a:picLocks noChangeAspect="1"/>
          </p:cNvPicPr>
          <p:nvPr/>
        </p:nvPicPr>
        <p:blipFill>
          <a:blip r:embed="rId2"/>
          <a:stretch>
            <a:fillRect/>
          </a:stretch>
        </p:blipFill>
        <p:spPr>
          <a:xfrm rot="20280000">
            <a:off x="5520129" y="4470221"/>
            <a:ext cx="140103" cy="118529"/>
          </a:xfrm>
          <a:prstGeom prst="rect">
            <a:avLst/>
          </a:prstGeom>
        </p:spPr>
      </p:pic>
      <p:pic>
        <p:nvPicPr>
          <p:cNvPr id="34" name="Picture 33" descr="shlomi-mor-monogram-black.png"/>
          <p:cNvPicPr>
            <a:picLocks noChangeAspect="1"/>
          </p:cNvPicPr>
          <p:nvPr/>
        </p:nvPicPr>
        <p:blipFill>
          <a:blip r:embed="rId2"/>
          <a:stretch>
            <a:fillRect/>
          </a:stretch>
        </p:blipFill>
        <p:spPr>
          <a:xfrm rot="20280000">
            <a:off x="5266135" y="4791942"/>
            <a:ext cx="140103" cy="118529"/>
          </a:xfrm>
          <a:prstGeom prst="rect">
            <a:avLst/>
          </a:prstGeom>
        </p:spPr>
      </p:pic>
      <p:sp>
        <p:nvSpPr>
          <p:cNvPr id="35" name="Rectangle 34"/>
          <p:cNvSpPr/>
          <p:nvPr/>
        </p:nvSpPr>
        <p:spPr>
          <a:xfrm>
            <a:off x="6197445" y="3640521"/>
            <a:ext cx="5384665" cy="1473141"/>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3707" y="3792915"/>
            <a:ext cx="3386582" cy="118529"/>
          </a:xfrm>
          <a:prstGeom prst="rect">
            <a:avLst/>
          </a:prstGeom>
          <a:noFill/>
        </p:spPr>
        <p:txBody>
          <a:bodyPr wrap="square" lIns="0" rIns="0" tIns="0" bIns="0" anchor="t">
            <a:spAutoFit/>
          </a:bodyPr>
          <a:lstStyle/>
          <a:p>
            <a:pPr algn="l"/>
            <a:r>
              <a:rPr sz="1000" b="0" i="0" spc="200">
                <a:solidFill>
                  <a:srgbClr val="0E0E0E"/>
                </a:solidFill>
                <a:latin typeface="Futura LT"/>
              </a:rPr>
              <a:t>02 — HAIRLINE LATTICE</a:t>
            </a:r>
          </a:p>
        </p:txBody>
      </p:sp>
      <p:cxnSp>
        <p:nvCxnSpPr>
          <p:cNvPr id="37" name="Connector 36"/>
          <p:cNvCxnSpPr/>
          <p:nvPr/>
        </p:nvCxnSpPr>
        <p:spPr>
          <a:xfrm>
            <a:off x="355591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55591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776039"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776039"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996167"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996167"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216295" y="3809848"/>
            <a:ext cx="1134504"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216295" y="3809848"/>
            <a:ext cx="1134504"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436422"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436422"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656550"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656550"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87667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87667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96806"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096806"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316934"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316934"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53706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53706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757189"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757189"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77317"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977317"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7445"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6197445"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417573"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417573"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63770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63770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85782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685782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077956"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077956"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298084"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7298084"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518212"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7518212"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738340"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738340"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95846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95846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178595"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8178595"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398723"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398723"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61885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8618851"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838979"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8838979"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059107"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059107"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279235" y="3809848"/>
            <a:ext cx="1134504"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9279235" y="3809848"/>
            <a:ext cx="1134504"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9499362"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499362"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719490"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719490"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993961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939618" y="3809848"/>
            <a:ext cx="1134505" cy="1134487"/>
          </a:xfrm>
          <a:prstGeom prst="line">
            <a:avLst/>
          </a:prstGeom>
          <a:ln w="5080">
            <a:solidFill>
              <a:srgbClr val="A78D52"/>
            </a:solidFill>
          </a:ln>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609585" y="5282989"/>
            <a:ext cx="5384665" cy="1473141"/>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95847" y="5435382"/>
            <a:ext cx="3386582" cy="118529"/>
          </a:xfrm>
          <a:prstGeom prst="rect">
            <a:avLst/>
          </a:prstGeom>
          <a:noFill/>
        </p:spPr>
        <p:txBody>
          <a:bodyPr wrap="square" lIns="0" rIns="0" tIns="0" bIns="0" anchor="t">
            <a:spAutoFit/>
          </a:bodyPr>
          <a:lstStyle/>
          <a:p>
            <a:pPr algn="l"/>
            <a:r>
              <a:rPr sz="1000" b="0" i="0" spc="200">
                <a:solidFill>
                  <a:srgbClr val="0E0E0E"/>
                </a:solidFill>
                <a:latin typeface="Futura LT"/>
              </a:rPr>
              <a:t>03 — SCRIPT WATERMARK</a:t>
            </a:r>
          </a:p>
        </p:txBody>
      </p:sp>
      <p:sp>
        <p:nvSpPr>
          <p:cNvPr id="99" name="TextBox 98"/>
          <p:cNvSpPr txBox="1"/>
          <p:nvPr/>
        </p:nvSpPr>
        <p:spPr>
          <a:xfrm>
            <a:off x="897444" y="5774036"/>
            <a:ext cx="4910544" cy="237057"/>
          </a:xfrm>
          <a:prstGeom prst="rect">
            <a:avLst/>
          </a:prstGeom>
          <a:noFill/>
        </p:spPr>
        <p:txBody>
          <a:bodyPr wrap="square" lIns="0" rIns="0" tIns="0" bIns="0" anchor="t">
            <a:spAutoFit/>
          </a:bodyPr>
          <a:lstStyle/>
          <a:p>
            <a:pPr algn="l"/>
            <a:r>
              <a:rPr sz="2600" b="0" i="1">
                <a:solidFill>
                  <a:srgbClr val="A78D52"/>
                </a:solidFill>
                <a:latin typeface="Snell Roundhand"/>
              </a:rPr>
              <a:t>crown · confidence · she · crown</a:t>
            </a:r>
          </a:p>
        </p:txBody>
      </p:sp>
      <p:sp>
        <p:nvSpPr>
          <p:cNvPr id="100" name="TextBox 99"/>
          <p:cNvSpPr txBox="1"/>
          <p:nvPr/>
        </p:nvSpPr>
        <p:spPr>
          <a:xfrm>
            <a:off x="1354633" y="6146554"/>
            <a:ext cx="4910544" cy="237057"/>
          </a:xfrm>
          <a:prstGeom prst="rect">
            <a:avLst/>
          </a:prstGeom>
          <a:noFill/>
        </p:spPr>
        <p:txBody>
          <a:bodyPr wrap="square" lIns="0" rIns="0" tIns="0" bIns="0" anchor="t">
            <a:spAutoFit/>
          </a:bodyPr>
          <a:lstStyle/>
          <a:p>
            <a:pPr algn="l"/>
            <a:r>
              <a:rPr sz="2600" b="0" i="1">
                <a:solidFill>
                  <a:srgbClr val="A78D52"/>
                </a:solidFill>
                <a:latin typeface="Snell Roundhand"/>
              </a:rPr>
              <a:t>she · crown · confidence · she</a:t>
            </a:r>
          </a:p>
        </p:txBody>
      </p:sp>
      <p:sp>
        <p:nvSpPr>
          <p:cNvPr id="101" name="Rectangle 100"/>
          <p:cNvSpPr/>
          <p:nvPr/>
        </p:nvSpPr>
        <p:spPr>
          <a:xfrm>
            <a:off x="6197445" y="5282989"/>
            <a:ext cx="5384665" cy="1473141"/>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383707" y="5435382"/>
            <a:ext cx="3386582" cy="118529"/>
          </a:xfrm>
          <a:prstGeom prst="rect">
            <a:avLst/>
          </a:prstGeom>
          <a:noFill/>
        </p:spPr>
        <p:txBody>
          <a:bodyPr wrap="square" lIns="0" rIns="0" tIns="0" bIns="0" anchor="t">
            <a:spAutoFit/>
          </a:bodyPr>
          <a:lstStyle/>
          <a:p>
            <a:pPr algn="l"/>
            <a:r>
              <a:rPr sz="1000" b="0" i="0" spc="200">
                <a:solidFill>
                  <a:srgbClr val="0E0E0E"/>
                </a:solidFill>
                <a:latin typeface="Futura LT"/>
              </a:rPr>
              <a:t>04 — STRAND TEXTURE</a:t>
            </a:r>
          </a:p>
        </p:txBody>
      </p:sp>
      <p:cxnSp>
        <p:nvCxnSpPr>
          <p:cNvPr id="103" name="Connector 102"/>
          <p:cNvCxnSpPr/>
          <p:nvPr/>
        </p:nvCxnSpPr>
        <p:spPr>
          <a:xfrm>
            <a:off x="6451439" y="5621642"/>
            <a:ext cx="592651"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536103"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171087" y="5621642"/>
            <a:ext cx="592652"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255752"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890736" y="5621642"/>
            <a:ext cx="592652"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975400"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610385" y="5621642"/>
            <a:ext cx="592651"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8695049"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330033" y="5621642"/>
            <a:ext cx="592652"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414698"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0049682" y="5621642"/>
            <a:ext cx="592652"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0134346"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769331" y="5621642"/>
            <a:ext cx="592651" cy="965161"/>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853995" y="5536978"/>
            <a:ext cx="592652" cy="965162"/>
          </a:xfrm>
          <a:prstGeom prst="line">
            <a:avLst/>
          </a:prstGeom>
          <a:ln w="6350">
            <a:solidFill>
              <a:srgbClr val="A78D5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PATTERNS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19</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RULES &amp; APPLICATION</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19</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19 — PATTERNS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Where it </a:t>
            </a:r>
            <a:r>
              <a:rPr sz="5600" b="0" i="1">
                <a:solidFill>
                  <a:srgbClr val="0E0E0E"/>
                </a:solidFill>
                <a:latin typeface="Didot"/>
              </a:rPr>
              <a:t>lives.</a:t>
            </a:r>
          </a:p>
        </p:txBody>
      </p:sp>
      <p:sp>
        <p:nvSpPr>
          <p:cNvPr id="11" name="Rectangle 10"/>
          <p:cNvSpPr/>
          <p:nvPr/>
        </p:nvSpPr>
        <p:spPr>
          <a:xfrm>
            <a:off x="609585" y="2539898"/>
            <a:ext cx="2590735" cy="1693266"/>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lomi-mor-monogram-black.png"/>
          <p:cNvPicPr>
            <a:picLocks noChangeAspect="1"/>
          </p:cNvPicPr>
          <p:nvPr/>
        </p:nvPicPr>
        <p:blipFill>
          <a:blip r:embed="rId2"/>
          <a:stretch>
            <a:fillRect/>
          </a:stretch>
        </p:blipFill>
        <p:spPr>
          <a:xfrm rot="20280000">
            <a:off x="863578" y="2878551"/>
            <a:ext cx="140103" cy="118529"/>
          </a:xfrm>
          <a:prstGeom prst="rect">
            <a:avLst/>
          </a:prstGeom>
        </p:spPr>
      </p:pic>
      <p:pic>
        <p:nvPicPr>
          <p:cNvPr id="13" name="Picture 12" descr="shlomi-mor-monogram-black.png"/>
          <p:cNvPicPr>
            <a:picLocks noChangeAspect="1"/>
          </p:cNvPicPr>
          <p:nvPr/>
        </p:nvPicPr>
        <p:blipFill>
          <a:blip r:embed="rId2"/>
          <a:stretch>
            <a:fillRect/>
          </a:stretch>
        </p:blipFill>
        <p:spPr>
          <a:xfrm rot="20280000">
            <a:off x="1032907" y="3251070"/>
            <a:ext cx="140103" cy="118529"/>
          </a:xfrm>
          <a:prstGeom prst="rect">
            <a:avLst/>
          </a:prstGeom>
        </p:spPr>
      </p:pic>
      <p:pic>
        <p:nvPicPr>
          <p:cNvPr id="14" name="Picture 13" descr="shlomi-mor-monogram-black.png"/>
          <p:cNvPicPr>
            <a:picLocks noChangeAspect="1"/>
          </p:cNvPicPr>
          <p:nvPr/>
        </p:nvPicPr>
        <p:blipFill>
          <a:blip r:embed="rId2"/>
          <a:stretch>
            <a:fillRect/>
          </a:stretch>
        </p:blipFill>
        <p:spPr>
          <a:xfrm rot="20280000">
            <a:off x="863578" y="3623588"/>
            <a:ext cx="140103" cy="118529"/>
          </a:xfrm>
          <a:prstGeom prst="rect">
            <a:avLst/>
          </a:prstGeom>
        </p:spPr>
      </p:pic>
      <p:pic>
        <p:nvPicPr>
          <p:cNvPr id="15" name="Picture 14" descr="shlomi-mor-monogram-black.png"/>
          <p:cNvPicPr>
            <a:picLocks noChangeAspect="1"/>
          </p:cNvPicPr>
          <p:nvPr/>
        </p:nvPicPr>
        <p:blipFill>
          <a:blip r:embed="rId2"/>
          <a:stretch>
            <a:fillRect/>
          </a:stretch>
        </p:blipFill>
        <p:spPr>
          <a:xfrm rot="20280000">
            <a:off x="1371566" y="2878551"/>
            <a:ext cx="140103" cy="118529"/>
          </a:xfrm>
          <a:prstGeom prst="rect">
            <a:avLst/>
          </a:prstGeom>
        </p:spPr>
      </p:pic>
      <p:pic>
        <p:nvPicPr>
          <p:cNvPr id="16" name="Picture 15" descr="shlomi-mor-monogram-black.png"/>
          <p:cNvPicPr>
            <a:picLocks noChangeAspect="1"/>
          </p:cNvPicPr>
          <p:nvPr/>
        </p:nvPicPr>
        <p:blipFill>
          <a:blip r:embed="rId2"/>
          <a:stretch>
            <a:fillRect/>
          </a:stretch>
        </p:blipFill>
        <p:spPr>
          <a:xfrm rot="20280000">
            <a:off x="1540895" y="3251070"/>
            <a:ext cx="140103" cy="118529"/>
          </a:xfrm>
          <a:prstGeom prst="rect">
            <a:avLst/>
          </a:prstGeom>
        </p:spPr>
      </p:pic>
      <p:pic>
        <p:nvPicPr>
          <p:cNvPr id="17" name="Picture 16" descr="shlomi-mor-monogram-black.png"/>
          <p:cNvPicPr>
            <a:picLocks noChangeAspect="1"/>
          </p:cNvPicPr>
          <p:nvPr/>
        </p:nvPicPr>
        <p:blipFill>
          <a:blip r:embed="rId2"/>
          <a:stretch>
            <a:fillRect/>
          </a:stretch>
        </p:blipFill>
        <p:spPr>
          <a:xfrm rot="20280000">
            <a:off x="1371566" y="3623588"/>
            <a:ext cx="140103" cy="118529"/>
          </a:xfrm>
          <a:prstGeom prst="rect">
            <a:avLst/>
          </a:prstGeom>
        </p:spPr>
      </p:pic>
      <p:pic>
        <p:nvPicPr>
          <p:cNvPr id="18" name="Picture 17" descr="shlomi-mor-monogram-black.png"/>
          <p:cNvPicPr>
            <a:picLocks noChangeAspect="1"/>
          </p:cNvPicPr>
          <p:nvPr/>
        </p:nvPicPr>
        <p:blipFill>
          <a:blip r:embed="rId2"/>
          <a:stretch>
            <a:fillRect/>
          </a:stretch>
        </p:blipFill>
        <p:spPr>
          <a:xfrm rot="20280000">
            <a:off x="1879553" y="2878551"/>
            <a:ext cx="140103" cy="118529"/>
          </a:xfrm>
          <a:prstGeom prst="rect">
            <a:avLst/>
          </a:prstGeom>
        </p:spPr>
      </p:pic>
      <p:pic>
        <p:nvPicPr>
          <p:cNvPr id="19" name="Picture 18" descr="shlomi-mor-monogram-black.png"/>
          <p:cNvPicPr>
            <a:picLocks noChangeAspect="1"/>
          </p:cNvPicPr>
          <p:nvPr/>
        </p:nvPicPr>
        <p:blipFill>
          <a:blip r:embed="rId2"/>
          <a:stretch>
            <a:fillRect/>
          </a:stretch>
        </p:blipFill>
        <p:spPr>
          <a:xfrm rot="20280000">
            <a:off x="2048882" y="3251070"/>
            <a:ext cx="140103" cy="118529"/>
          </a:xfrm>
          <a:prstGeom prst="rect">
            <a:avLst/>
          </a:prstGeom>
        </p:spPr>
      </p:pic>
      <p:pic>
        <p:nvPicPr>
          <p:cNvPr id="20" name="Picture 19" descr="shlomi-mor-monogram-black.png"/>
          <p:cNvPicPr>
            <a:picLocks noChangeAspect="1"/>
          </p:cNvPicPr>
          <p:nvPr/>
        </p:nvPicPr>
        <p:blipFill>
          <a:blip r:embed="rId2"/>
          <a:stretch>
            <a:fillRect/>
          </a:stretch>
        </p:blipFill>
        <p:spPr>
          <a:xfrm rot="20280000">
            <a:off x="1879553" y="3623588"/>
            <a:ext cx="140103" cy="118529"/>
          </a:xfrm>
          <a:prstGeom prst="rect">
            <a:avLst/>
          </a:prstGeom>
        </p:spPr>
      </p:pic>
      <p:pic>
        <p:nvPicPr>
          <p:cNvPr id="21" name="Picture 20" descr="shlomi-mor-monogram-black.png"/>
          <p:cNvPicPr>
            <a:picLocks noChangeAspect="1"/>
          </p:cNvPicPr>
          <p:nvPr/>
        </p:nvPicPr>
        <p:blipFill>
          <a:blip r:embed="rId2"/>
          <a:stretch>
            <a:fillRect/>
          </a:stretch>
        </p:blipFill>
        <p:spPr>
          <a:xfrm rot="20280000">
            <a:off x="2387540" y="2878551"/>
            <a:ext cx="140103" cy="118529"/>
          </a:xfrm>
          <a:prstGeom prst="rect">
            <a:avLst/>
          </a:prstGeom>
        </p:spPr>
      </p:pic>
      <p:pic>
        <p:nvPicPr>
          <p:cNvPr id="22" name="Picture 21" descr="shlomi-mor-monogram-black.png"/>
          <p:cNvPicPr>
            <a:picLocks noChangeAspect="1"/>
          </p:cNvPicPr>
          <p:nvPr/>
        </p:nvPicPr>
        <p:blipFill>
          <a:blip r:embed="rId2"/>
          <a:stretch>
            <a:fillRect/>
          </a:stretch>
        </p:blipFill>
        <p:spPr>
          <a:xfrm rot="20280000">
            <a:off x="2556869" y="3251070"/>
            <a:ext cx="140103" cy="118529"/>
          </a:xfrm>
          <a:prstGeom prst="rect">
            <a:avLst/>
          </a:prstGeom>
        </p:spPr>
      </p:pic>
      <p:pic>
        <p:nvPicPr>
          <p:cNvPr id="23" name="Picture 22" descr="shlomi-mor-monogram-black.png"/>
          <p:cNvPicPr>
            <a:picLocks noChangeAspect="1"/>
          </p:cNvPicPr>
          <p:nvPr/>
        </p:nvPicPr>
        <p:blipFill>
          <a:blip r:embed="rId2"/>
          <a:stretch>
            <a:fillRect/>
          </a:stretch>
        </p:blipFill>
        <p:spPr>
          <a:xfrm rot="20280000">
            <a:off x="2387540" y="3623588"/>
            <a:ext cx="140103" cy="118529"/>
          </a:xfrm>
          <a:prstGeom prst="rect">
            <a:avLst/>
          </a:prstGeom>
        </p:spPr>
      </p:pic>
      <p:pic>
        <p:nvPicPr>
          <p:cNvPr id="24" name="Picture 23" descr="shlomi-mor-monogram-black.png"/>
          <p:cNvPicPr>
            <a:picLocks noChangeAspect="1"/>
          </p:cNvPicPr>
          <p:nvPr/>
        </p:nvPicPr>
        <p:blipFill>
          <a:blip r:embed="rId2"/>
          <a:stretch>
            <a:fillRect/>
          </a:stretch>
        </p:blipFill>
        <p:spPr>
          <a:xfrm rot="20280000">
            <a:off x="2895528" y="2878551"/>
            <a:ext cx="140103" cy="118529"/>
          </a:xfrm>
          <a:prstGeom prst="rect">
            <a:avLst/>
          </a:prstGeom>
        </p:spPr>
      </p:pic>
      <p:pic>
        <p:nvPicPr>
          <p:cNvPr id="25" name="Picture 24" descr="shlomi-mor-monogram-black.png"/>
          <p:cNvPicPr>
            <a:picLocks noChangeAspect="1"/>
          </p:cNvPicPr>
          <p:nvPr/>
        </p:nvPicPr>
        <p:blipFill>
          <a:blip r:embed="rId2"/>
          <a:stretch>
            <a:fillRect/>
          </a:stretch>
        </p:blipFill>
        <p:spPr>
          <a:xfrm rot="20280000">
            <a:off x="3064857" y="3251070"/>
            <a:ext cx="140103" cy="118529"/>
          </a:xfrm>
          <a:prstGeom prst="rect">
            <a:avLst/>
          </a:prstGeom>
        </p:spPr>
      </p:pic>
      <p:pic>
        <p:nvPicPr>
          <p:cNvPr id="26" name="Picture 25" descr="shlomi-mor-monogram-black.png"/>
          <p:cNvPicPr>
            <a:picLocks noChangeAspect="1"/>
          </p:cNvPicPr>
          <p:nvPr/>
        </p:nvPicPr>
        <p:blipFill>
          <a:blip r:embed="rId2"/>
          <a:stretch>
            <a:fillRect/>
          </a:stretch>
        </p:blipFill>
        <p:spPr>
          <a:xfrm rot="20280000">
            <a:off x="2895528" y="3623588"/>
            <a:ext cx="140103" cy="118529"/>
          </a:xfrm>
          <a:prstGeom prst="rect">
            <a:avLst/>
          </a:prstGeom>
        </p:spPr>
      </p:pic>
      <p:sp>
        <p:nvSpPr>
          <p:cNvPr id="27" name="TextBox 26"/>
          <p:cNvSpPr txBox="1"/>
          <p:nvPr/>
        </p:nvSpPr>
        <p:spPr>
          <a:xfrm>
            <a:off x="1371566" y="3217205"/>
            <a:ext cx="1185304" cy="423316"/>
          </a:xfrm>
          <a:prstGeom prst="rect">
            <a:avLst/>
          </a:prstGeom>
          <a:noFill/>
        </p:spPr>
        <p:txBody>
          <a:bodyPr wrap="square" lIns="0" rIns="0" tIns="0" bIns="0" anchor="t">
            <a:spAutoFit/>
          </a:bodyPr>
          <a:lstStyle/>
          <a:p>
            <a:pPr algn="ctr"/>
            <a:r>
              <a:rPr sz="3600" b="0" i="1">
                <a:solidFill>
                  <a:srgbClr val="0E0E0E"/>
                </a:solidFill>
                <a:latin typeface="Snell Roundhand"/>
              </a:rPr>
              <a:t>she</a:t>
            </a:r>
          </a:p>
        </p:txBody>
      </p:sp>
      <p:sp>
        <p:nvSpPr>
          <p:cNvPr id="28" name="TextBox 27"/>
          <p:cNvSpPr txBox="1"/>
          <p:nvPr/>
        </p:nvSpPr>
        <p:spPr>
          <a:xfrm>
            <a:off x="609585" y="4351692"/>
            <a:ext cx="2590735" cy="135461"/>
          </a:xfrm>
          <a:prstGeom prst="rect">
            <a:avLst/>
          </a:prstGeom>
          <a:noFill/>
        </p:spPr>
        <p:txBody>
          <a:bodyPr wrap="square" lIns="0" rIns="0" tIns="0" bIns="0" anchor="t">
            <a:spAutoFit/>
          </a:bodyPr>
          <a:lstStyle/>
          <a:p>
            <a:pPr algn="l"/>
            <a:r>
              <a:rPr sz="900" b="0" i="0" spc="200">
                <a:solidFill>
                  <a:srgbClr val="8B8480"/>
                </a:solidFill>
                <a:latin typeface="Futura LT"/>
              </a:rPr>
              <a:t>DUST-BAG INTERIOR · MONOGRAM FIELD</a:t>
            </a:r>
          </a:p>
        </p:txBody>
      </p:sp>
      <p:sp>
        <p:nvSpPr>
          <p:cNvPr id="29" name="Rectangle 28"/>
          <p:cNvSpPr/>
          <p:nvPr/>
        </p:nvSpPr>
        <p:spPr>
          <a:xfrm>
            <a:off x="3403515" y="2539898"/>
            <a:ext cx="2590735" cy="1693266"/>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777956"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777956"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98115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98115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18434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18434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38754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38754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59073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59073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79393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79393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99712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299712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20032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20032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40351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03515"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60671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606710"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809905"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809905"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013100"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013100"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216295"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216295"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1948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1948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62268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62268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82587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82587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02907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02907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23226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23226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43546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43546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63865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63865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84185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841854"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04504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045049" y="2709225"/>
            <a:ext cx="1354633"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248244"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248244"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451439"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451439" y="2709225"/>
            <a:ext cx="1354632" cy="1354612"/>
          </a:xfrm>
          <a:prstGeom prst="line">
            <a:avLst/>
          </a:prstGeom>
          <a:ln w="4445">
            <a:solidFill>
              <a:srgbClr val="A78D52"/>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606710" y="3149474"/>
            <a:ext cx="2184345" cy="253990"/>
          </a:xfrm>
          <a:prstGeom prst="rect">
            <a:avLst/>
          </a:prstGeom>
          <a:noFill/>
        </p:spPr>
        <p:txBody>
          <a:bodyPr wrap="square" lIns="0" rIns="0" tIns="0" bIns="0" anchor="t">
            <a:spAutoFit/>
          </a:bodyPr>
          <a:lstStyle/>
          <a:p>
            <a:pPr algn="ctr"/>
            <a:r>
              <a:rPr sz="2200" b="0" i="0">
                <a:solidFill>
                  <a:srgbClr val="0E0E0E"/>
                </a:solidFill>
                <a:latin typeface="Didot"/>
              </a:rPr>
              <a:t>Thank you</a:t>
            </a:r>
          </a:p>
        </p:txBody>
      </p:sp>
      <p:sp>
        <p:nvSpPr>
          <p:cNvPr id="79" name="TextBox 78"/>
          <p:cNvSpPr txBox="1"/>
          <p:nvPr/>
        </p:nvSpPr>
        <p:spPr>
          <a:xfrm>
            <a:off x="3606710" y="3454262"/>
            <a:ext cx="2184345" cy="253990"/>
          </a:xfrm>
          <a:prstGeom prst="rect">
            <a:avLst/>
          </a:prstGeom>
          <a:noFill/>
        </p:spPr>
        <p:txBody>
          <a:bodyPr wrap="square" lIns="0" rIns="0" tIns="0" bIns="0" anchor="t">
            <a:spAutoFit/>
          </a:bodyPr>
          <a:lstStyle/>
          <a:p>
            <a:pPr algn="ctr"/>
            <a:r>
              <a:rPr sz="2200" b="0" i="1">
                <a:solidFill>
                  <a:srgbClr val="0E0E0E"/>
                </a:solidFill>
                <a:latin typeface="Didot"/>
              </a:rPr>
              <a:t>Shlomi</a:t>
            </a:r>
          </a:p>
        </p:txBody>
      </p:sp>
      <p:sp>
        <p:nvSpPr>
          <p:cNvPr id="80" name="TextBox 79"/>
          <p:cNvSpPr txBox="1"/>
          <p:nvPr/>
        </p:nvSpPr>
        <p:spPr>
          <a:xfrm>
            <a:off x="3403515" y="4351692"/>
            <a:ext cx="2590735" cy="135461"/>
          </a:xfrm>
          <a:prstGeom prst="rect">
            <a:avLst/>
          </a:prstGeom>
          <a:noFill/>
        </p:spPr>
        <p:txBody>
          <a:bodyPr wrap="square" lIns="0" rIns="0" tIns="0" bIns="0" anchor="t">
            <a:spAutoFit/>
          </a:bodyPr>
          <a:lstStyle/>
          <a:p>
            <a:pPr algn="l"/>
            <a:r>
              <a:rPr sz="900" b="0" i="0" spc="200">
                <a:solidFill>
                  <a:srgbClr val="8B8480"/>
                </a:solidFill>
                <a:latin typeface="Futura LT"/>
              </a:rPr>
              <a:t>THANK-YOU CARD · HAIRLINE LATTICE</a:t>
            </a:r>
          </a:p>
        </p:txBody>
      </p:sp>
      <p:sp>
        <p:nvSpPr>
          <p:cNvPr id="81" name="Rectangle 80"/>
          <p:cNvSpPr/>
          <p:nvPr/>
        </p:nvSpPr>
        <p:spPr>
          <a:xfrm>
            <a:off x="6197445" y="2539898"/>
            <a:ext cx="2590735" cy="1693266"/>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282110" y="2963215"/>
            <a:ext cx="2421406" cy="237057"/>
          </a:xfrm>
          <a:prstGeom prst="rect">
            <a:avLst/>
          </a:prstGeom>
          <a:noFill/>
        </p:spPr>
        <p:txBody>
          <a:bodyPr wrap="square" lIns="0" rIns="0" tIns="0" bIns="0" anchor="t">
            <a:spAutoFit/>
          </a:bodyPr>
          <a:lstStyle/>
          <a:p>
            <a:pPr algn="l"/>
            <a:r>
              <a:rPr sz="2200" b="0" i="1">
                <a:solidFill>
                  <a:srgbClr val="A78D52"/>
                </a:solidFill>
                <a:latin typeface="Snell Roundhand"/>
              </a:rPr>
              <a:t>crown · confidence · she</a:t>
            </a:r>
          </a:p>
        </p:txBody>
      </p:sp>
      <p:sp>
        <p:nvSpPr>
          <p:cNvPr id="83" name="TextBox 82"/>
          <p:cNvSpPr txBox="1"/>
          <p:nvPr/>
        </p:nvSpPr>
        <p:spPr>
          <a:xfrm>
            <a:off x="6451439" y="3301868"/>
            <a:ext cx="2421406" cy="237057"/>
          </a:xfrm>
          <a:prstGeom prst="rect">
            <a:avLst/>
          </a:prstGeom>
          <a:noFill/>
        </p:spPr>
        <p:txBody>
          <a:bodyPr wrap="square" lIns="0" rIns="0" tIns="0" bIns="0" anchor="t">
            <a:spAutoFit/>
          </a:bodyPr>
          <a:lstStyle/>
          <a:p>
            <a:pPr algn="l"/>
            <a:r>
              <a:rPr sz="2200" b="0" i="1">
                <a:solidFill>
                  <a:srgbClr val="A78D52"/>
                </a:solidFill>
                <a:latin typeface="Snell Roundhand"/>
              </a:rPr>
              <a:t>she · crown · confidence</a:t>
            </a:r>
          </a:p>
        </p:txBody>
      </p:sp>
      <p:sp>
        <p:nvSpPr>
          <p:cNvPr id="84" name="TextBox 83"/>
          <p:cNvSpPr txBox="1"/>
          <p:nvPr/>
        </p:nvSpPr>
        <p:spPr>
          <a:xfrm>
            <a:off x="6400640" y="3132541"/>
            <a:ext cx="2184345" cy="338653"/>
          </a:xfrm>
          <a:prstGeom prst="rect">
            <a:avLst/>
          </a:prstGeom>
          <a:noFill/>
        </p:spPr>
        <p:txBody>
          <a:bodyPr wrap="square" lIns="0" rIns="0" tIns="0" bIns="0" anchor="t">
            <a:spAutoFit/>
          </a:bodyPr>
          <a:lstStyle/>
          <a:p>
            <a:pPr algn="ctr"/>
            <a:r>
              <a:rPr sz="2200" b="0" i="1">
                <a:solidFill>
                  <a:srgbClr val="0E0E0E"/>
                </a:solidFill>
                <a:latin typeface="Didot"/>
              </a:rPr>
              <a:t>Crown</a:t>
            </a:r>
          </a:p>
        </p:txBody>
      </p:sp>
      <p:sp>
        <p:nvSpPr>
          <p:cNvPr id="85" name="TextBox 84"/>
          <p:cNvSpPr txBox="1"/>
          <p:nvPr/>
        </p:nvSpPr>
        <p:spPr>
          <a:xfrm>
            <a:off x="6400640" y="3403464"/>
            <a:ext cx="2184345" cy="338653"/>
          </a:xfrm>
          <a:prstGeom prst="rect">
            <a:avLst/>
          </a:prstGeom>
          <a:noFill/>
        </p:spPr>
        <p:txBody>
          <a:bodyPr wrap="square" lIns="0" rIns="0" tIns="0" bIns="0" anchor="t">
            <a:spAutoFit/>
          </a:bodyPr>
          <a:lstStyle/>
          <a:p>
            <a:pPr algn="ctr"/>
            <a:r>
              <a:rPr sz="2200" b="0" i="1">
                <a:solidFill>
                  <a:srgbClr val="0E0E0E"/>
                </a:solidFill>
                <a:latin typeface="Didot"/>
              </a:rPr>
              <a:t>your confidence</a:t>
            </a:r>
          </a:p>
        </p:txBody>
      </p:sp>
      <p:sp>
        <p:nvSpPr>
          <p:cNvPr id="86" name="TextBox 85"/>
          <p:cNvSpPr txBox="1"/>
          <p:nvPr/>
        </p:nvSpPr>
        <p:spPr>
          <a:xfrm>
            <a:off x="6197445" y="4351692"/>
            <a:ext cx="2590735" cy="135461"/>
          </a:xfrm>
          <a:prstGeom prst="rect">
            <a:avLst/>
          </a:prstGeom>
          <a:noFill/>
        </p:spPr>
        <p:txBody>
          <a:bodyPr wrap="square" lIns="0" rIns="0" tIns="0" bIns="0" anchor="t">
            <a:spAutoFit/>
          </a:bodyPr>
          <a:lstStyle/>
          <a:p>
            <a:pPr algn="l"/>
            <a:r>
              <a:rPr sz="900" b="0" i="0" spc="200">
                <a:solidFill>
                  <a:srgbClr val="8B8480"/>
                </a:solidFill>
                <a:latin typeface="Futura LT"/>
              </a:rPr>
              <a:t>IG STORY BACKGROUND · SCRIPT</a:t>
            </a:r>
          </a:p>
        </p:txBody>
      </p:sp>
      <p:sp>
        <p:nvSpPr>
          <p:cNvPr id="87" name="Rectangle 86"/>
          <p:cNvSpPr/>
          <p:nvPr/>
        </p:nvSpPr>
        <p:spPr>
          <a:xfrm>
            <a:off x="8991375" y="2539898"/>
            <a:ext cx="2590735" cy="1693266"/>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9160704" y="2709225"/>
            <a:ext cx="423323" cy="1354612"/>
          </a:xfrm>
          <a:prstGeom prst="line">
            <a:avLst/>
          </a:prstGeom>
          <a:ln w="5080">
            <a:solidFill>
              <a:srgbClr val="C9AC7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668691" y="2709225"/>
            <a:ext cx="423323" cy="1354612"/>
          </a:xfrm>
          <a:prstGeom prst="line">
            <a:avLst/>
          </a:prstGeom>
          <a:ln w="5080">
            <a:solidFill>
              <a:srgbClr val="C9AC7F"/>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176679" y="2709225"/>
            <a:ext cx="423322" cy="1354612"/>
          </a:xfrm>
          <a:prstGeom prst="line">
            <a:avLst/>
          </a:prstGeom>
          <a:ln w="5080">
            <a:solidFill>
              <a:srgbClr val="C9AC7F"/>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684666" y="2709225"/>
            <a:ext cx="423323" cy="1354612"/>
          </a:xfrm>
          <a:prstGeom prst="line">
            <a:avLst/>
          </a:prstGeom>
          <a:ln w="5080">
            <a:solidFill>
              <a:srgbClr val="C9AC7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1192653" y="2709225"/>
            <a:ext cx="423323" cy="1354612"/>
          </a:xfrm>
          <a:prstGeom prst="line">
            <a:avLst/>
          </a:prstGeom>
          <a:ln w="5080">
            <a:solidFill>
              <a:srgbClr val="C9AC7F"/>
            </a:solidFill>
          </a:ln>
        </p:spPr>
        <p:style>
          <a:lnRef idx="2">
            <a:schemeClr val="accent1"/>
          </a:lnRef>
          <a:fillRef idx="0">
            <a:schemeClr val="accent1"/>
          </a:fillRef>
          <a:effectRef idx="1">
            <a:schemeClr val="accent1"/>
          </a:effectRef>
          <a:fontRef idx="minor">
            <a:schemeClr val="tx1"/>
          </a:fontRef>
        </p:style>
      </p:cxnSp>
      <p:pic>
        <p:nvPicPr>
          <p:cNvPr id="93" name="Picture 92" descr="shlomi-mor-monogram-white.png"/>
          <p:cNvPicPr>
            <a:picLocks noChangeAspect="1"/>
          </p:cNvPicPr>
          <p:nvPr/>
        </p:nvPicPr>
        <p:blipFill>
          <a:blip r:embed="rId3"/>
          <a:stretch>
            <a:fillRect/>
          </a:stretch>
        </p:blipFill>
        <p:spPr>
          <a:xfrm>
            <a:off x="9956500" y="3107142"/>
            <a:ext cx="660485" cy="558778"/>
          </a:xfrm>
          <a:prstGeom prst="rect">
            <a:avLst/>
          </a:prstGeom>
        </p:spPr>
      </p:pic>
      <p:sp>
        <p:nvSpPr>
          <p:cNvPr id="94" name="TextBox 93"/>
          <p:cNvSpPr txBox="1"/>
          <p:nvPr/>
        </p:nvSpPr>
        <p:spPr>
          <a:xfrm>
            <a:off x="8991375" y="4351692"/>
            <a:ext cx="2590735" cy="135461"/>
          </a:xfrm>
          <a:prstGeom prst="rect">
            <a:avLst/>
          </a:prstGeom>
          <a:noFill/>
        </p:spPr>
        <p:txBody>
          <a:bodyPr wrap="square" lIns="0" rIns="0" tIns="0" bIns="0" anchor="t">
            <a:spAutoFit/>
          </a:bodyPr>
          <a:lstStyle/>
          <a:p>
            <a:pPr algn="l"/>
            <a:r>
              <a:rPr sz="900" b="0" i="0" spc="200">
                <a:solidFill>
                  <a:srgbClr val="8B8480"/>
                </a:solidFill>
                <a:latin typeface="Futura LT"/>
              </a:rPr>
              <a:t>BOX ENDPAPER · STRAND TEXTURE</a:t>
            </a:r>
          </a:p>
        </p:txBody>
      </p:sp>
      <p:cxnSp>
        <p:nvCxnSpPr>
          <p:cNvPr id="95" name="Connector 94"/>
          <p:cNvCxnSpPr/>
          <p:nvPr/>
        </p:nvCxnSpPr>
        <p:spPr>
          <a:xfrm>
            <a:off x="609585" y="4673413"/>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609585" y="484273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SCALE</a:t>
            </a:r>
          </a:p>
        </p:txBody>
      </p:sp>
      <p:sp>
        <p:nvSpPr>
          <p:cNvPr id="97" name="TextBox 96"/>
          <p:cNvSpPr txBox="1"/>
          <p:nvPr/>
        </p:nvSpPr>
        <p:spPr>
          <a:xfrm>
            <a:off x="609585" y="5079797"/>
            <a:ext cx="2539936"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Monogram tile 48–72 px on stationery, 96–128 px on packaging. Never below 32 px on print.</a:t>
            </a:r>
          </a:p>
        </p:txBody>
      </p:sp>
      <p:sp>
        <p:nvSpPr>
          <p:cNvPr id="98" name="TextBox 97"/>
          <p:cNvSpPr txBox="1"/>
          <p:nvPr/>
        </p:nvSpPr>
        <p:spPr>
          <a:xfrm>
            <a:off x="3352716" y="484273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OPACITY</a:t>
            </a:r>
          </a:p>
        </p:txBody>
      </p:sp>
      <p:sp>
        <p:nvSpPr>
          <p:cNvPr id="99" name="TextBox 98"/>
          <p:cNvSpPr txBox="1"/>
          <p:nvPr/>
        </p:nvSpPr>
        <p:spPr>
          <a:xfrm>
            <a:off x="3352716" y="5079797"/>
            <a:ext cx="2539936"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8–14% on cream surfaces, 18–22% on ink. Always sit at least one tone below the foreground.</a:t>
            </a:r>
          </a:p>
        </p:txBody>
      </p:sp>
      <p:sp>
        <p:nvSpPr>
          <p:cNvPr id="100" name="TextBox 99"/>
          <p:cNvSpPr txBox="1"/>
          <p:nvPr/>
        </p:nvSpPr>
        <p:spPr>
          <a:xfrm>
            <a:off x="6095848" y="484273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COLOR RULES</a:t>
            </a:r>
          </a:p>
        </p:txBody>
      </p:sp>
      <p:sp>
        <p:nvSpPr>
          <p:cNvPr id="101" name="TextBox 100"/>
          <p:cNvSpPr txBox="1"/>
          <p:nvPr/>
        </p:nvSpPr>
        <p:spPr>
          <a:xfrm>
            <a:off x="6095848" y="5079797"/>
            <a:ext cx="2539936"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Antique Gold or Ink only. Never tint with Dusty Rose, Champagne or Blush — those are voice colors, not pattern colors.</a:t>
            </a:r>
          </a:p>
        </p:txBody>
      </p:sp>
      <p:sp>
        <p:nvSpPr>
          <p:cNvPr id="102" name="TextBox 101"/>
          <p:cNvSpPr txBox="1"/>
          <p:nvPr/>
        </p:nvSpPr>
        <p:spPr>
          <a:xfrm>
            <a:off x="8838979" y="484273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NEVER</a:t>
            </a:r>
          </a:p>
        </p:txBody>
      </p:sp>
      <p:sp>
        <p:nvSpPr>
          <p:cNvPr id="103" name="TextBox 102"/>
          <p:cNvSpPr txBox="1"/>
          <p:nvPr/>
        </p:nvSpPr>
        <p:spPr>
          <a:xfrm>
            <a:off x="8838979" y="5079797"/>
            <a:ext cx="2539936" cy="1693266"/>
          </a:xfrm>
          <a:prstGeom prst="rect">
            <a:avLst/>
          </a:prstGeom>
          <a:noFill/>
        </p:spPr>
        <p:txBody>
          <a:bodyPr wrap="square" lIns="0" rIns="0" tIns="0" bIns="0" anchor="t">
            <a:spAutoFit/>
          </a:bodyPr>
          <a:lstStyle/>
          <a:p>
            <a:pPr algn="l">
              <a:lnSpc>
                <a:spcPct val="155000"/>
              </a:lnSpc>
            </a:pPr>
            <a:r>
              <a:rPr sz="1200" b="0" i="0">
                <a:solidFill>
                  <a:srgbClr val="0E0E0E"/>
                </a:solidFill>
                <a:latin typeface="Futura LT"/>
              </a:rPr>
              <a:t>Never on portraits, never over the logo, never mix two patterns on one surface, never animate on web.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SPECIMEN</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20</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SPECIMEN &amp; UI KIT</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20</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20 — SPECIMEN</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The ideal </a:t>
            </a:r>
            <a:r>
              <a:rPr sz="5600" b="0" i="1">
                <a:solidFill>
                  <a:srgbClr val="0E0E0E"/>
                </a:solidFill>
                <a:latin typeface="Didot"/>
              </a:rPr>
              <a:t>stack.</a:t>
            </a:r>
          </a:p>
        </p:txBody>
      </p:sp>
      <p:sp>
        <p:nvSpPr>
          <p:cNvPr id="11" name="TextBox 10"/>
          <p:cNvSpPr txBox="1"/>
          <p:nvPr/>
        </p:nvSpPr>
        <p:spPr>
          <a:xfrm>
            <a:off x="609585" y="2370572"/>
            <a:ext cx="4571886" cy="135461"/>
          </a:xfrm>
          <a:prstGeom prst="rect">
            <a:avLst/>
          </a:prstGeom>
          <a:noFill/>
        </p:spPr>
        <p:txBody>
          <a:bodyPr wrap="square" lIns="0" rIns="0" tIns="0" bIns="0" anchor="t">
            <a:spAutoFit/>
          </a:bodyPr>
          <a:lstStyle/>
          <a:p>
            <a:pPr algn="l"/>
            <a:r>
              <a:rPr sz="1100" b="0" i="0" spc="320">
                <a:solidFill>
                  <a:srgbClr val="0E0E0E"/>
                </a:solidFill>
                <a:latin typeface="Futura LT"/>
              </a:rPr>
              <a:t>HAND-CRAFTED IN NYC</a:t>
            </a:r>
          </a:p>
        </p:txBody>
      </p:sp>
      <p:sp>
        <p:nvSpPr>
          <p:cNvPr id="12" name="TextBox 11"/>
          <p:cNvSpPr txBox="1"/>
          <p:nvPr/>
        </p:nvSpPr>
        <p:spPr>
          <a:xfrm>
            <a:off x="609585" y="2624562"/>
            <a:ext cx="4571886" cy="423316"/>
          </a:xfrm>
          <a:prstGeom prst="rect">
            <a:avLst/>
          </a:prstGeom>
          <a:noFill/>
        </p:spPr>
        <p:txBody>
          <a:bodyPr wrap="square" lIns="0" rIns="0" tIns="0" bIns="0" anchor="t">
            <a:spAutoFit/>
          </a:bodyPr>
          <a:lstStyle/>
          <a:p>
            <a:pPr algn="l"/>
            <a:r>
              <a:rPr sz="3200" b="0" i="1">
                <a:solidFill>
                  <a:srgbClr val="A78D52"/>
                </a:solidFill>
                <a:latin typeface="Snell Roundhand"/>
              </a:rPr>
              <a:t>virgin european</a:t>
            </a:r>
          </a:p>
        </p:txBody>
      </p:sp>
      <p:sp>
        <p:nvSpPr>
          <p:cNvPr id="13" name="TextBox 12"/>
          <p:cNvSpPr txBox="1"/>
          <p:nvPr/>
        </p:nvSpPr>
        <p:spPr>
          <a:xfrm>
            <a:off x="609585" y="3030945"/>
            <a:ext cx="4571886" cy="677306"/>
          </a:xfrm>
          <a:prstGeom prst="rect">
            <a:avLst/>
          </a:prstGeom>
          <a:noFill/>
        </p:spPr>
        <p:txBody>
          <a:bodyPr wrap="square" lIns="0" rIns="0" tIns="0" bIns="0" anchor="t">
            <a:spAutoFit/>
          </a:bodyPr>
          <a:lstStyle/>
          <a:p>
            <a:pPr algn="l"/>
            <a:r>
              <a:rPr sz="4400" b="0" i="0">
                <a:solidFill>
                  <a:srgbClr val="0E0E0E"/>
                </a:solidFill>
                <a:latin typeface="Didot"/>
              </a:rPr>
              <a:t>Couture for the hairline.</a:t>
            </a:r>
          </a:p>
        </p:txBody>
      </p:sp>
      <p:sp>
        <p:nvSpPr>
          <p:cNvPr id="14" name="TextBox 13"/>
          <p:cNvSpPr txBox="1"/>
          <p:nvPr/>
        </p:nvSpPr>
        <p:spPr>
          <a:xfrm>
            <a:off x="609585" y="3657454"/>
            <a:ext cx="4571886" cy="338653"/>
          </a:xfrm>
          <a:prstGeom prst="rect">
            <a:avLst/>
          </a:prstGeom>
          <a:noFill/>
        </p:spPr>
        <p:txBody>
          <a:bodyPr wrap="square" lIns="0" rIns="0" tIns="0" bIns="0" anchor="t">
            <a:spAutoFit/>
          </a:bodyPr>
          <a:lstStyle/>
          <a:p>
            <a:pPr algn="l"/>
            <a:r>
              <a:rPr sz="2200" b="0" i="1">
                <a:solidFill>
                  <a:srgbClr val="0E0E0E"/>
                </a:solidFill>
                <a:latin typeface="Didot"/>
              </a:rPr>
              <a:t>A wig that feels like you, only quieter.</a:t>
            </a:r>
          </a:p>
        </p:txBody>
      </p:sp>
      <p:sp>
        <p:nvSpPr>
          <p:cNvPr id="15" name="TextBox 14"/>
          <p:cNvSpPr txBox="1"/>
          <p:nvPr/>
        </p:nvSpPr>
        <p:spPr>
          <a:xfrm>
            <a:off x="609585" y="4063837"/>
            <a:ext cx="4571886" cy="846633"/>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Each piece is hand-ventilated in our New York atelier, knot by knot — a hairline that disappears into skin, a parting that moves like memory.</a:t>
            </a:r>
          </a:p>
        </p:txBody>
      </p:sp>
      <p:sp>
        <p:nvSpPr>
          <p:cNvPr id="16" name="Rectangle 15"/>
          <p:cNvSpPr/>
          <p:nvPr/>
        </p:nvSpPr>
        <p:spPr>
          <a:xfrm>
            <a:off x="609585" y="4978201"/>
            <a:ext cx="1693291" cy="321720"/>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5" y="5045931"/>
            <a:ext cx="1693291" cy="203192"/>
          </a:xfrm>
          <a:prstGeom prst="rect">
            <a:avLst/>
          </a:prstGeom>
          <a:noFill/>
        </p:spPr>
        <p:txBody>
          <a:bodyPr wrap="square" lIns="0" rIns="0" tIns="0" bIns="0" anchor="t">
            <a:spAutoFit/>
          </a:bodyPr>
          <a:lstStyle/>
          <a:p>
            <a:pPr algn="ctr"/>
            <a:r>
              <a:rPr sz="1100" b="1" i="0" spc="220">
                <a:solidFill>
                  <a:srgbClr val="FFFFFF"/>
                </a:solidFill>
                <a:latin typeface="Futura LT"/>
              </a:rPr>
              <a:t>BOOK CONSULTATION</a:t>
            </a:r>
          </a:p>
        </p:txBody>
      </p:sp>
      <p:sp>
        <p:nvSpPr>
          <p:cNvPr id="18" name="Rectangle 17"/>
          <p:cNvSpPr/>
          <p:nvPr/>
        </p:nvSpPr>
        <p:spPr>
          <a:xfrm>
            <a:off x="5587860" y="2370572"/>
            <a:ext cx="2810863" cy="1168353"/>
          </a:xfrm>
          <a:prstGeom prst="rect">
            <a:avLst/>
          </a:prstGeom>
          <a:solidFill>
            <a:srgbClr val="FFFFFF"/>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40256" y="2489100"/>
            <a:ext cx="2539936" cy="118529"/>
          </a:xfrm>
          <a:prstGeom prst="rect">
            <a:avLst/>
          </a:prstGeom>
          <a:noFill/>
        </p:spPr>
        <p:txBody>
          <a:bodyPr wrap="square" lIns="0" rIns="0" tIns="0" bIns="0" anchor="t">
            <a:spAutoFit/>
          </a:bodyPr>
          <a:lstStyle/>
          <a:p>
            <a:pPr algn="l"/>
            <a:r>
              <a:rPr sz="1000" b="0" i="0" spc="220">
                <a:solidFill>
                  <a:srgbClr val="8B8480"/>
                </a:solidFill>
                <a:latin typeface="Futura LT"/>
              </a:rPr>
              <a:t>BUTTONS</a:t>
            </a:r>
          </a:p>
        </p:txBody>
      </p:sp>
      <p:sp>
        <p:nvSpPr>
          <p:cNvPr id="20" name="Rectangle 19"/>
          <p:cNvSpPr/>
          <p:nvPr/>
        </p:nvSpPr>
        <p:spPr>
          <a:xfrm>
            <a:off x="8618851" y="2370572"/>
            <a:ext cx="2810863" cy="1168353"/>
          </a:xfrm>
          <a:prstGeom prst="rect">
            <a:avLst/>
          </a:prstGeom>
          <a:solidFill>
            <a:srgbClr val="FFFFFF"/>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1247" y="2489100"/>
            <a:ext cx="2539936" cy="118529"/>
          </a:xfrm>
          <a:prstGeom prst="rect">
            <a:avLst/>
          </a:prstGeom>
          <a:noFill/>
        </p:spPr>
        <p:txBody>
          <a:bodyPr wrap="square" lIns="0" rIns="0" tIns="0" bIns="0" anchor="t">
            <a:spAutoFit/>
          </a:bodyPr>
          <a:lstStyle/>
          <a:p>
            <a:pPr algn="l"/>
            <a:r>
              <a:rPr sz="1000" b="0" i="0" spc="220">
                <a:solidFill>
                  <a:srgbClr val="8B8480"/>
                </a:solidFill>
                <a:latin typeface="Futura LT"/>
              </a:rPr>
              <a:t>TAGS &amp; BADGES</a:t>
            </a:r>
          </a:p>
        </p:txBody>
      </p:sp>
      <p:sp>
        <p:nvSpPr>
          <p:cNvPr id="22" name="Rectangle 21"/>
          <p:cNvSpPr/>
          <p:nvPr/>
        </p:nvSpPr>
        <p:spPr>
          <a:xfrm>
            <a:off x="5587860" y="3657454"/>
            <a:ext cx="2810863" cy="1168353"/>
          </a:xfrm>
          <a:prstGeom prst="rect">
            <a:avLst/>
          </a:prstGeom>
          <a:solidFill>
            <a:srgbClr val="FFFFFF"/>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40256" y="3775982"/>
            <a:ext cx="2539936" cy="118529"/>
          </a:xfrm>
          <a:prstGeom prst="rect">
            <a:avLst/>
          </a:prstGeom>
          <a:noFill/>
        </p:spPr>
        <p:txBody>
          <a:bodyPr wrap="square" lIns="0" rIns="0" tIns="0" bIns="0" anchor="t">
            <a:spAutoFit/>
          </a:bodyPr>
          <a:lstStyle/>
          <a:p>
            <a:pPr algn="l"/>
            <a:r>
              <a:rPr sz="1000" b="0" i="0" spc="220">
                <a:solidFill>
                  <a:srgbClr val="8B8480"/>
                </a:solidFill>
                <a:latin typeface="Futura LT"/>
              </a:rPr>
              <a:t>FORM FIELD</a:t>
            </a:r>
          </a:p>
        </p:txBody>
      </p:sp>
      <p:sp>
        <p:nvSpPr>
          <p:cNvPr id="24" name="Rectangle 23"/>
          <p:cNvSpPr/>
          <p:nvPr/>
        </p:nvSpPr>
        <p:spPr>
          <a:xfrm>
            <a:off x="8618851" y="3657454"/>
            <a:ext cx="2810863" cy="1168353"/>
          </a:xfrm>
          <a:prstGeom prst="rect">
            <a:avLst/>
          </a:prstGeom>
          <a:solidFill>
            <a:srgbClr val="FFFFFF"/>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1247" y="3775982"/>
            <a:ext cx="2539936" cy="118529"/>
          </a:xfrm>
          <a:prstGeom prst="rect">
            <a:avLst/>
          </a:prstGeom>
          <a:noFill/>
        </p:spPr>
        <p:txBody>
          <a:bodyPr wrap="square" lIns="0" rIns="0" tIns="0" bIns="0" anchor="t">
            <a:spAutoFit/>
          </a:bodyPr>
          <a:lstStyle/>
          <a:p>
            <a:pPr algn="l"/>
            <a:r>
              <a:rPr sz="1000" b="0" i="0" spc="220">
                <a:solidFill>
                  <a:srgbClr val="8B8480"/>
                </a:solidFill>
                <a:latin typeface="Futura LT"/>
              </a:rPr>
              <a:t>PULL-QUOTE</a:t>
            </a:r>
          </a:p>
        </p:txBody>
      </p:sp>
      <p:sp>
        <p:nvSpPr>
          <p:cNvPr id="26" name="Rectangle 25"/>
          <p:cNvSpPr/>
          <p:nvPr/>
        </p:nvSpPr>
        <p:spPr>
          <a:xfrm>
            <a:off x="5740256" y="2726158"/>
            <a:ext cx="1100639" cy="270922"/>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40256" y="2776956"/>
            <a:ext cx="1100639" cy="203192"/>
          </a:xfrm>
          <a:prstGeom prst="rect">
            <a:avLst/>
          </a:prstGeom>
          <a:noFill/>
        </p:spPr>
        <p:txBody>
          <a:bodyPr wrap="square" lIns="0" rIns="0" tIns="0" bIns="0" anchor="t">
            <a:spAutoFit/>
          </a:bodyPr>
          <a:lstStyle/>
          <a:p>
            <a:pPr algn="ctr"/>
            <a:r>
              <a:rPr sz="1000" b="1" i="0" spc="220">
                <a:solidFill>
                  <a:srgbClr val="FFFFFF"/>
                </a:solidFill>
                <a:latin typeface="Futura LT"/>
              </a:rPr>
              <a:t>PRIMARY CTA</a:t>
            </a:r>
          </a:p>
        </p:txBody>
      </p:sp>
      <p:sp>
        <p:nvSpPr>
          <p:cNvPr id="28" name="Rectangle 27"/>
          <p:cNvSpPr/>
          <p:nvPr/>
        </p:nvSpPr>
        <p:spPr>
          <a:xfrm>
            <a:off x="6925560" y="2726158"/>
            <a:ext cx="1100639" cy="270922"/>
          </a:xfrm>
          <a:prstGeom prst="rect">
            <a:avLst/>
          </a:prstGeom>
          <a:noFill/>
          <a:ln w="6350">
            <a:solidFill>
              <a:srgbClr val="0E0E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25560" y="2776956"/>
            <a:ext cx="1100639" cy="203192"/>
          </a:xfrm>
          <a:prstGeom prst="rect">
            <a:avLst/>
          </a:prstGeom>
          <a:noFill/>
        </p:spPr>
        <p:txBody>
          <a:bodyPr wrap="square" lIns="0" rIns="0" tIns="0" bIns="0" anchor="t">
            <a:spAutoFit/>
          </a:bodyPr>
          <a:lstStyle/>
          <a:p>
            <a:pPr algn="ctr"/>
            <a:r>
              <a:rPr sz="1000" b="1" i="0" spc="220">
                <a:solidFill>
                  <a:srgbClr val="0E0E0E"/>
                </a:solidFill>
                <a:latin typeface="Futura LT"/>
              </a:rPr>
              <a:t>SECONDARY</a:t>
            </a:r>
          </a:p>
        </p:txBody>
      </p:sp>
      <p:sp>
        <p:nvSpPr>
          <p:cNvPr id="30" name="TextBox 29"/>
          <p:cNvSpPr txBox="1"/>
          <p:nvPr/>
        </p:nvSpPr>
        <p:spPr>
          <a:xfrm>
            <a:off x="5740256" y="3115609"/>
            <a:ext cx="2455272" cy="152394"/>
          </a:xfrm>
          <a:prstGeom prst="rect">
            <a:avLst/>
          </a:prstGeom>
          <a:noFill/>
        </p:spPr>
        <p:txBody>
          <a:bodyPr wrap="square" lIns="0" rIns="0" tIns="0" bIns="0" anchor="t">
            <a:spAutoFit/>
          </a:bodyPr>
          <a:lstStyle/>
          <a:p>
            <a:pPr algn="l"/>
            <a:r>
              <a:rPr sz="1100" b="0" i="1">
                <a:solidFill>
                  <a:srgbClr val="0E0E0E"/>
                </a:solidFill>
                <a:latin typeface="Futura LT"/>
              </a:rPr>
              <a:t>read the story →</a:t>
            </a:r>
          </a:p>
        </p:txBody>
      </p:sp>
      <p:sp>
        <p:nvSpPr>
          <p:cNvPr id="31" name="Rectangle 30"/>
          <p:cNvSpPr/>
          <p:nvPr/>
        </p:nvSpPr>
        <p:spPr>
          <a:xfrm>
            <a:off x="8771247" y="2743090"/>
            <a:ext cx="474121" cy="186259"/>
          </a:xfrm>
          <a:prstGeom prst="rect">
            <a:avLst/>
          </a:prstGeom>
          <a:noFill/>
          <a:ln w="6350">
            <a:solidFill>
              <a:srgbClr val="0E0E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71247" y="2776956"/>
            <a:ext cx="474121" cy="152394"/>
          </a:xfrm>
          <a:prstGeom prst="rect">
            <a:avLst/>
          </a:prstGeom>
          <a:noFill/>
        </p:spPr>
        <p:txBody>
          <a:bodyPr wrap="square" lIns="0" rIns="0" tIns="0" bIns="0" anchor="t">
            <a:spAutoFit/>
          </a:bodyPr>
          <a:lstStyle/>
          <a:p>
            <a:pPr algn="ctr"/>
            <a:r>
              <a:rPr sz="900" b="0" i="0" spc="200">
                <a:solidFill>
                  <a:srgbClr val="0E0E0E"/>
                </a:solidFill>
                <a:latin typeface="Futura LT"/>
              </a:rPr>
              <a:t>NEW</a:t>
            </a:r>
          </a:p>
        </p:txBody>
      </p:sp>
      <p:sp>
        <p:nvSpPr>
          <p:cNvPr id="33" name="Rectangle 32"/>
          <p:cNvSpPr/>
          <p:nvPr/>
        </p:nvSpPr>
        <p:spPr>
          <a:xfrm>
            <a:off x="9313100" y="2743090"/>
            <a:ext cx="1100639" cy="186259"/>
          </a:xfrm>
          <a:prstGeom prst="rect">
            <a:avLst/>
          </a:prstGeom>
          <a:solidFill>
            <a:srgbClr val="A7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13100" y="2776956"/>
            <a:ext cx="1100639" cy="152394"/>
          </a:xfrm>
          <a:prstGeom prst="rect">
            <a:avLst/>
          </a:prstGeom>
          <a:noFill/>
        </p:spPr>
        <p:txBody>
          <a:bodyPr wrap="square" lIns="0" rIns="0" tIns="0" bIns="0" anchor="t">
            <a:spAutoFit/>
          </a:bodyPr>
          <a:lstStyle/>
          <a:p>
            <a:pPr algn="ctr"/>
            <a:r>
              <a:rPr sz="900" b="0" i="0" spc="200">
                <a:solidFill>
                  <a:srgbClr val="FFFFFF"/>
                </a:solidFill>
                <a:latin typeface="Futura LT"/>
              </a:rPr>
              <a:t>MEDICAL STREAM</a:t>
            </a:r>
          </a:p>
        </p:txBody>
      </p:sp>
      <p:sp>
        <p:nvSpPr>
          <p:cNvPr id="35" name="Rectangle 34"/>
          <p:cNvSpPr/>
          <p:nvPr/>
        </p:nvSpPr>
        <p:spPr>
          <a:xfrm>
            <a:off x="10481471" y="2743090"/>
            <a:ext cx="677316" cy="186259"/>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1471" y="2776956"/>
            <a:ext cx="677316" cy="152394"/>
          </a:xfrm>
          <a:prstGeom prst="rect">
            <a:avLst/>
          </a:prstGeom>
          <a:noFill/>
        </p:spPr>
        <p:txBody>
          <a:bodyPr wrap="square" lIns="0" rIns="0" tIns="0" bIns="0" anchor="t">
            <a:spAutoFit/>
          </a:bodyPr>
          <a:lstStyle/>
          <a:p>
            <a:pPr algn="ctr"/>
            <a:r>
              <a:rPr sz="900" b="0" i="0" spc="200">
                <a:solidFill>
                  <a:srgbClr val="FFFFFF"/>
                </a:solidFill>
                <a:latin typeface="Futura LT"/>
              </a:rPr>
              <a:t>CUSTOM</a:t>
            </a:r>
          </a:p>
        </p:txBody>
      </p:sp>
      <p:sp>
        <p:nvSpPr>
          <p:cNvPr id="37" name="TextBox 36"/>
          <p:cNvSpPr txBox="1"/>
          <p:nvPr/>
        </p:nvSpPr>
        <p:spPr>
          <a:xfrm>
            <a:off x="8771247" y="3098676"/>
            <a:ext cx="2455272" cy="152394"/>
          </a:xfrm>
          <a:prstGeom prst="rect">
            <a:avLst/>
          </a:prstGeom>
          <a:noFill/>
        </p:spPr>
        <p:txBody>
          <a:bodyPr wrap="square" lIns="0" rIns="0" tIns="0" bIns="0" anchor="t">
            <a:spAutoFit/>
          </a:bodyPr>
          <a:lstStyle/>
          <a:p>
            <a:pPr algn="l">
              <a:lnSpc>
                <a:spcPct val="140000"/>
              </a:lnSpc>
            </a:pPr>
            <a:r>
              <a:rPr sz="1000" b="0" i="1">
                <a:solidFill>
                  <a:srgbClr val="8B8480"/>
                </a:solidFill>
                <a:latin typeface="Futura LT"/>
              </a:rPr>
              <a:t>Use sparingly — one per surface, never more than two per page.</a:t>
            </a:r>
          </a:p>
        </p:txBody>
      </p:sp>
      <p:sp>
        <p:nvSpPr>
          <p:cNvPr id="38" name="TextBox 37"/>
          <p:cNvSpPr txBox="1"/>
          <p:nvPr/>
        </p:nvSpPr>
        <p:spPr>
          <a:xfrm>
            <a:off x="5740256" y="4029972"/>
            <a:ext cx="2455272" cy="135461"/>
          </a:xfrm>
          <a:prstGeom prst="rect">
            <a:avLst/>
          </a:prstGeom>
          <a:noFill/>
        </p:spPr>
        <p:txBody>
          <a:bodyPr wrap="square" lIns="0" rIns="0" tIns="0" bIns="0" anchor="t">
            <a:spAutoFit/>
          </a:bodyPr>
          <a:lstStyle/>
          <a:p>
            <a:pPr algn="l"/>
            <a:r>
              <a:rPr sz="1000" b="0" i="0" spc="220">
                <a:solidFill>
                  <a:srgbClr val="8B8480"/>
                </a:solidFill>
                <a:latin typeface="Futura LT"/>
              </a:rPr>
              <a:t>YOUR EMAIL</a:t>
            </a:r>
          </a:p>
        </p:txBody>
      </p:sp>
      <p:sp>
        <p:nvSpPr>
          <p:cNvPr id="39" name="TextBox 38"/>
          <p:cNvSpPr txBox="1"/>
          <p:nvPr/>
        </p:nvSpPr>
        <p:spPr>
          <a:xfrm>
            <a:off x="5740256" y="4216231"/>
            <a:ext cx="2455272" cy="237057"/>
          </a:xfrm>
          <a:prstGeom prst="rect">
            <a:avLst/>
          </a:prstGeom>
          <a:noFill/>
        </p:spPr>
        <p:txBody>
          <a:bodyPr wrap="square" lIns="0" rIns="0" tIns="0" bIns="0" anchor="t">
            <a:spAutoFit/>
          </a:bodyPr>
          <a:lstStyle/>
          <a:p>
            <a:pPr algn="l"/>
            <a:r>
              <a:rPr sz="1800" b="0" i="1">
                <a:solidFill>
                  <a:srgbClr val="0E0E0E"/>
                </a:solidFill>
                <a:latin typeface="Didot"/>
              </a:rPr>
              <a:t>name@studio.com</a:t>
            </a:r>
          </a:p>
        </p:txBody>
      </p:sp>
      <p:cxnSp>
        <p:nvCxnSpPr>
          <p:cNvPr id="40" name="Connector 39"/>
          <p:cNvCxnSpPr/>
          <p:nvPr/>
        </p:nvCxnSpPr>
        <p:spPr>
          <a:xfrm>
            <a:off x="5740256" y="4487154"/>
            <a:ext cx="2455272" cy="0"/>
          </a:xfrm>
          <a:prstGeom prst="line">
            <a:avLst/>
          </a:prstGeom>
          <a:ln w="10160">
            <a:solidFill>
              <a:srgbClr val="0E0E0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740256" y="4554884"/>
            <a:ext cx="2455272" cy="152394"/>
          </a:xfrm>
          <a:prstGeom prst="rect">
            <a:avLst/>
          </a:prstGeom>
          <a:noFill/>
        </p:spPr>
        <p:txBody>
          <a:bodyPr wrap="square" lIns="0" rIns="0" tIns="0" bIns="0" anchor="t">
            <a:spAutoFit/>
          </a:bodyPr>
          <a:lstStyle/>
          <a:p>
            <a:pPr algn="l"/>
            <a:r>
              <a:rPr sz="900" b="0" i="1">
                <a:solidFill>
                  <a:srgbClr val="8B8480"/>
                </a:solidFill>
                <a:latin typeface="Futura LT"/>
              </a:rPr>
              <a:t>Underlined italic · 32 px field height</a:t>
            </a:r>
          </a:p>
        </p:txBody>
      </p:sp>
      <p:sp>
        <p:nvSpPr>
          <p:cNvPr id="42" name="TextBox 41"/>
          <p:cNvSpPr txBox="1"/>
          <p:nvPr/>
        </p:nvSpPr>
        <p:spPr>
          <a:xfrm>
            <a:off x="8771247" y="4013039"/>
            <a:ext cx="2455272" cy="677306"/>
          </a:xfrm>
          <a:prstGeom prst="rect">
            <a:avLst/>
          </a:prstGeom>
          <a:noFill/>
        </p:spPr>
        <p:txBody>
          <a:bodyPr wrap="square" lIns="0" rIns="0" tIns="0" bIns="0" anchor="t">
            <a:spAutoFit/>
          </a:bodyPr>
          <a:lstStyle/>
          <a:p>
            <a:pPr algn="l"/>
            <a:r>
              <a:rPr sz="1800" b="0" i="1">
                <a:solidFill>
                  <a:srgbClr val="0E0E0E"/>
                </a:solidFill>
                <a:latin typeface="Didot"/>
              </a:rPr>
              <a:t>“She felt like herself, only </a:t>
            </a:r>
            <a:r>
              <a:rPr sz="2400" b="0" i="1">
                <a:solidFill>
                  <a:srgbClr val="A78D52"/>
                </a:solidFill>
                <a:latin typeface="Snell Roundhand"/>
              </a:rPr>
              <a:t>quieter</a:t>
            </a:r>
            <a:r>
              <a:rPr sz="1800" b="0" i="1">
                <a:solidFill>
                  <a:srgbClr val="0E0E0E"/>
                </a:solidFill>
                <a:latin typeface="Didot"/>
              </a:rPr>
              <a:t>.”</a:t>
            </a:r>
          </a:p>
        </p:txBody>
      </p:sp>
      <p:cxnSp>
        <p:nvCxnSpPr>
          <p:cNvPr id="43" name="Connector 42"/>
          <p:cNvCxnSpPr/>
          <p:nvPr/>
        </p:nvCxnSpPr>
        <p:spPr>
          <a:xfrm>
            <a:off x="5587860" y="4978201"/>
            <a:ext cx="5994250"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587860" y="5079797"/>
            <a:ext cx="1693291" cy="135461"/>
          </a:xfrm>
          <a:prstGeom prst="rect">
            <a:avLst/>
          </a:prstGeom>
          <a:noFill/>
        </p:spPr>
        <p:txBody>
          <a:bodyPr wrap="square" lIns="0" rIns="0" tIns="0" bIns="0" anchor="t">
            <a:spAutoFit/>
          </a:bodyPr>
          <a:lstStyle/>
          <a:p>
            <a:pPr algn="l"/>
            <a:r>
              <a:rPr sz="900" b="0" i="0" spc="200">
                <a:solidFill>
                  <a:srgbClr val="8B8480"/>
                </a:solidFill>
                <a:latin typeface="Futura LT"/>
              </a:rPr>
              <a:t>ROLE</a:t>
            </a:r>
          </a:p>
        </p:txBody>
      </p:sp>
      <p:sp>
        <p:nvSpPr>
          <p:cNvPr id="45" name="TextBox 44"/>
          <p:cNvSpPr txBox="1"/>
          <p:nvPr/>
        </p:nvSpPr>
        <p:spPr>
          <a:xfrm>
            <a:off x="7281151" y="5079797"/>
            <a:ext cx="1862620" cy="135461"/>
          </a:xfrm>
          <a:prstGeom prst="rect">
            <a:avLst/>
          </a:prstGeom>
          <a:noFill/>
        </p:spPr>
        <p:txBody>
          <a:bodyPr wrap="square" lIns="0" rIns="0" tIns="0" bIns="0" anchor="t">
            <a:spAutoFit/>
          </a:bodyPr>
          <a:lstStyle/>
          <a:p>
            <a:pPr algn="l"/>
            <a:r>
              <a:rPr sz="900" b="0" i="0" spc="200">
                <a:solidFill>
                  <a:srgbClr val="8B8480"/>
                </a:solidFill>
                <a:latin typeface="Futura LT"/>
              </a:rPr>
              <a:t>FAMILY</a:t>
            </a:r>
          </a:p>
        </p:txBody>
      </p:sp>
      <p:sp>
        <p:nvSpPr>
          <p:cNvPr id="46" name="TextBox 45"/>
          <p:cNvSpPr txBox="1"/>
          <p:nvPr/>
        </p:nvSpPr>
        <p:spPr>
          <a:xfrm>
            <a:off x="9143771" y="5079797"/>
            <a:ext cx="1354633" cy="135461"/>
          </a:xfrm>
          <a:prstGeom prst="rect">
            <a:avLst/>
          </a:prstGeom>
          <a:noFill/>
        </p:spPr>
        <p:txBody>
          <a:bodyPr wrap="square" lIns="0" rIns="0" tIns="0" bIns="0" anchor="t">
            <a:spAutoFit/>
          </a:bodyPr>
          <a:lstStyle/>
          <a:p>
            <a:pPr algn="l"/>
            <a:r>
              <a:rPr sz="900" b="0" i="0" spc="200">
                <a:solidFill>
                  <a:srgbClr val="8B8480"/>
                </a:solidFill>
                <a:latin typeface="Futura LT"/>
              </a:rPr>
              <a:t>SIZE / LINE</a:t>
            </a:r>
          </a:p>
        </p:txBody>
      </p:sp>
      <p:sp>
        <p:nvSpPr>
          <p:cNvPr id="47" name="TextBox 46"/>
          <p:cNvSpPr txBox="1"/>
          <p:nvPr/>
        </p:nvSpPr>
        <p:spPr>
          <a:xfrm>
            <a:off x="10498404" y="5079797"/>
            <a:ext cx="1015975" cy="135461"/>
          </a:xfrm>
          <a:prstGeom prst="rect">
            <a:avLst/>
          </a:prstGeom>
          <a:noFill/>
        </p:spPr>
        <p:txBody>
          <a:bodyPr wrap="square" lIns="0" rIns="0" tIns="0" bIns="0" anchor="t">
            <a:spAutoFit/>
          </a:bodyPr>
          <a:lstStyle/>
          <a:p>
            <a:pPr algn="l"/>
            <a:r>
              <a:rPr sz="900" b="0" i="0" spc="200">
                <a:solidFill>
                  <a:srgbClr val="8B8480"/>
                </a:solidFill>
                <a:latin typeface="Futura LT"/>
              </a:rPr>
              <a:t>TRACKING</a:t>
            </a:r>
          </a:p>
        </p:txBody>
      </p:sp>
      <p:sp>
        <p:nvSpPr>
          <p:cNvPr id="48" name="TextBox 47"/>
          <p:cNvSpPr txBox="1"/>
          <p:nvPr/>
        </p:nvSpPr>
        <p:spPr>
          <a:xfrm>
            <a:off x="5587860" y="5266056"/>
            <a:ext cx="1693291" cy="152394"/>
          </a:xfrm>
          <a:prstGeom prst="rect">
            <a:avLst/>
          </a:prstGeom>
          <a:noFill/>
        </p:spPr>
        <p:txBody>
          <a:bodyPr wrap="square" lIns="0" rIns="0" tIns="0" bIns="0" anchor="t">
            <a:spAutoFit/>
          </a:bodyPr>
          <a:lstStyle/>
          <a:p>
            <a:pPr algn="l"/>
            <a:r>
              <a:rPr sz="1100" b="0" i="0">
                <a:solidFill>
                  <a:srgbClr val="0E0E0E"/>
                </a:solidFill>
                <a:latin typeface="Futura LT"/>
              </a:rPr>
              <a:t>H1 · Display</a:t>
            </a:r>
          </a:p>
        </p:txBody>
      </p:sp>
      <p:sp>
        <p:nvSpPr>
          <p:cNvPr id="49" name="TextBox 48"/>
          <p:cNvSpPr txBox="1"/>
          <p:nvPr/>
        </p:nvSpPr>
        <p:spPr>
          <a:xfrm>
            <a:off x="7281151" y="5266056"/>
            <a:ext cx="1862620" cy="152394"/>
          </a:xfrm>
          <a:prstGeom prst="rect">
            <a:avLst/>
          </a:prstGeom>
          <a:noFill/>
        </p:spPr>
        <p:txBody>
          <a:bodyPr wrap="square" lIns="0" rIns="0" tIns="0" bIns="0" anchor="t">
            <a:spAutoFit/>
          </a:bodyPr>
          <a:lstStyle/>
          <a:p>
            <a:pPr algn="l"/>
            <a:r>
              <a:rPr sz="1100" b="0" i="0">
                <a:solidFill>
                  <a:srgbClr val="0E0E0E"/>
                </a:solidFill>
                <a:latin typeface="Futura LT"/>
              </a:rPr>
              <a:t>idot · Regular</a:t>
            </a:r>
          </a:p>
        </p:txBody>
      </p:sp>
      <p:sp>
        <p:nvSpPr>
          <p:cNvPr id="50" name="TextBox 49"/>
          <p:cNvSpPr txBox="1"/>
          <p:nvPr/>
        </p:nvSpPr>
        <p:spPr>
          <a:xfrm>
            <a:off x="9143771" y="5266056"/>
            <a:ext cx="1354633" cy="152394"/>
          </a:xfrm>
          <a:prstGeom prst="rect">
            <a:avLst/>
          </a:prstGeom>
          <a:noFill/>
        </p:spPr>
        <p:txBody>
          <a:bodyPr wrap="square" lIns="0" rIns="0" tIns="0" bIns="0" anchor="t">
            <a:spAutoFit/>
          </a:bodyPr>
          <a:lstStyle/>
          <a:p>
            <a:pPr algn="l"/>
            <a:r>
              <a:rPr sz="1100" b="0" i="0">
                <a:solidFill>
                  <a:srgbClr val="0E0E0E"/>
                </a:solidFill>
                <a:latin typeface="Futura LT"/>
              </a:rPr>
              <a:t>72 / 76</a:t>
            </a:r>
          </a:p>
        </p:txBody>
      </p:sp>
      <p:sp>
        <p:nvSpPr>
          <p:cNvPr id="51" name="TextBox 50"/>
          <p:cNvSpPr txBox="1"/>
          <p:nvPr/>
        </p:nvSpPr>
        <p:spPr>
          <a:xfrm>
            <a:off x="10498404" y="5266056"/>
            <a:ext cx="1015975" cy="152394"/>
          </a:xfrm>
          <a:prstGeom prst="rect">
            <a:avLst/>
          </a:prstGeom>
          <a:noFill/>
        </p:spPr>
        <p:txBody>
          <a:bodyPr wrap="square" lIns="0" rIns="0" tIns="0" bIns="0" anchor="t">
            <a:spAutoFit/>
          </a:bodyPr>
          <a:lstStyle/>
          <a:p>
            <a:pPr algn="l"/>
            <a:r>
              <a:rPr sz="1100" b="0" i="0">
                <a:solidFill>
                  <a:srgbClr val="0E0E0E"/>
                </a:solidFill>
                <a:latin typeface="Futura LT"/>
              </a:rPr>
              <a:t>-0.005em</a:t>
            </a:r>
          </a:p>
        </p:txBody>
      </p:sp>
      <p:cxnSp>
        <p:nvCxnSpPr>
          <p:cNvPr id="52" name="Connector 51"/>
          <p:cNvCxnSpPr/>
          <p:nvPr/>
        </p:nvCxnSpPr>
        <p:spPr>
          <a:xfrm>
            <a:off x="5587860" y="5452315"/>
            <a:ext cx="5994250"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587860" y="5486180"/>
            <a:ext cx="1693291" cy="152394"/>
          </a:xfrm>
          <a:prstGeom prst="rect">
            <a:avLst/>
          </a:prstGeom>
          <a:noFill/>
        </p:spPr>
        <p:txBody>
          <a:bodyPr wrap="square" lIns="0" rIns="0" tIns="0" bIns="0" anchor="t">
            <a:spAutoFit/>
          </a:bodyPr>
          <a:lstStyle/>
          <a:p>
            <a:pPr algn="l"/>
            <a:r>
              <a:rPr sz="1100" b="0" i="0">
                <a:solidFill>
                  <a:srgbClr val="0E0E0E"/>
                </a:solidFill>
                <a:latin typeface="Futura LT"/>
              </a:rPr>
              <a:t>H2 · Section</a:t>
            </a:r>
          </a:p>
        </p:txBody>
      </p:sp>
      <p:sp>
        <p:nvSpPr>
          <p:cNvPr id="54" name="TextBox 53"/>
          <p:cNvSpPr txBox="1"/>
          <p:nvPr/>
        </p:nvSpPr>
        <p:spPr>
          <a:xfrm>
            <a:off x="7281151" y="5486180"/>
            <a:ext cx="1862620" cy="152394"/>
          </a:xfrm>
          <a:prstGeom prst="rect">
            <a:avLst/>
          </a:prstGeom>
          <a:noFill/>
        </p:spPr>
        <p:txBody>
          <a:bodyPr wrap="square" lIns="0" rIns="0" tIns="0" bIns="0" anchor="t">
            <a:spAutoFit/>
          </a:bodyPr>
          <a:lstStyle/>
          <a:p>
            <a:pPr algn="l"/>
            <a:r>
              <a:rPr sz="1100" b="0" i="0">
                <a:solidFill>
                  <a:srgbClr val="0E0E0E"/>
                </a:solidFill>
                <a:latin typeface="Futura LT"/>
              </a:rPr>
              <a:t>idot · Italic</a:t>
            </a:r>
          </a:p>
        </p:txBody>
      </p:sp>
      <p:sp>
        <p:nvSpPr>
          <p:cNvPr id="55" name="TextBox 54"/>
          <p:cNvSpPr txBox="1"/>
          <p:nvPr/>
        </p:nvSpPr>
        <p:spPr>
          <a:xfrm>
            <a:off x="9143771" y="5486180"/>
            <a:ext cx="1354633" cy="152394"/>
          </a:xfrm>
          <a:prstGeom prst="rect">
            <a:avLst/>
          </a:prstGeom>
          <a:noFill/>
        </p:spPr>
        <p:txBody>
          <a:bodyPr wrap="square" lIns="0" rIns="0" tIns="0" bIns="0" anchor="t">
            <a:spAutoFit/>
          </a:bodyPr>
          <a:lstStyle/>
          <a:p>
            <a:pPr algn="l"/>
            <a:r>
              <a:rPr sz="1100" b="0" i="0">
                <a:solidFill>
                  <a:srgbClr val="0E0E0E"/>
                </a:solidFill>
                <a:latin typeface="Futura LT"/>
              </a:rPr>
              <a:t>48 / 52</a:t>
            </a:r>
          </a:p>
        </p:txBody>
      </p:sp>
      <p:sp>
        <p:nvSpPr>
          <p:cNvPr id="56" name="TextBox 55"/>
          <p:cNvSpPr txBox="1"/>
          <p:nvPr/>
        </p:nvSpPr>
        <p:spPr>
          <a:xfrm>
            <a:off x="10498404" y="5486180"/>
            <a:ext cx="1015975" cy="152394"/>
          </a:xfrm>
          <a:prstGeom prst="rect">
            <a:avLst/>
          </a:prstGeom>
          <a:noFill/>
        </p:spPr>
        <p:txBody>
          <a:bodyPr wrap="square" lIns="0" rIns="0" tIns="0" bIns="0" anchor="t">
            <a:spAutoFit/>
          </a:bodyPr>
          <a:lstStyle/>
          <a:p>
            <a:pPr algn="l"/>
            <a:r>
              <a:rPr sz="1100" b="0" i="0">
                <a:solidFill>
                  <a:srgbClr val="0E0E0E"/>
                </a:solidFill>
                <a:latin typeface="Futura LT"/>
              </a:rPr>
              <a:t>-0.005em</a:t>
            </a:r>
          </a:p>
        </p:txBody>
      </p:sp>
      <p:cxnSp>
        <p:nvCxnSpPr>
          <p:cNvPr id="57" name="Connector 56"/>
          <p:cNvCxnSpPr/>
          <p:nvPr/>
        </p:nvCxnSpPr>
        <p:spPr>
          <a:xfrm>
            <a:off x="5587860" y="5672440"/>
            <a:ext cx="5994250"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587860" y="5706305"/>
            <a:ext cx="1693291" cy="152394"/>
          </a:xfrm>
          <a:prstGeom prst="rect">
            <a:avLst/>
          </a:prstGeom>
          <a:noFill/>
        </p:spPr>
        <p:txBody>
          <a:bodyPr wrap="square" lIns="0" rIns="0" tIns="0" bIns="0" anchor="t">
            <a:spAutoFit/>
          </a:bodyPr>
          <a:lstStyle/>
          <a:p>
            <a:pPr algn="l"/>
            <a:r>
              <a:rPr sz="1100" b="0" i="0">
                <a:solidFill>
                  <a:srgbClr val="0E0E0E"/>
                </a:solidFill>
                <a:latin typeface="Futura LT"/>
              </a:rPr>
              <a:t>H3 · Sub</a:t>
            </a:r>
          </a:p>
        </p:txBody>
      </p:sp>
      <p:sp>
        <p:nvSpPr>
          <p:cNvPr id="59" name="TextBox 58"/>
          <p:cNvSpPr txBox="1"/>
          <p:nvPr/>
        </p:nvSpPr>
        <p:spPr>
          <a:xfrm>
            <a:off x="7281151" y="5706305"/>
            <a:ext cx="1862620" cy="152394"/>
          </a:xfrm>
          <a:prstGeom prst="rect">
            <a:avLst/>
          </a:prstGeom>
          <a:noFill/>
        </p:spPr>
        <p:txBody>
          <a:bodyPr wrap="square" lIns="0" rIns="0" tIns="0" bIns="0" anchor="t">
            <a:spAutoFit/>
          </a:bodyPr>
          <a:lstStyle/>
          <a:p>
            <a:pPr algn="l"/>
            <a:r>
              <a:rPr sz="1100" b="0" i="0">
                <a:solidFill>
                  <a:srgbClr val="0E0E0E"/>
                </a:solidFill>
                <a:latin typeface="Futura LT"/>
              </a:rPr>
              <a:t>idot · Regular</a:t>
            </a:r>
          </a:p>
        </p:txBody>
      </p:sp>
      <p:sp>
        <p:nvSpPr>
          <p:cNvPr id="60" name="TextBox 59"/>
          <p:cNvSpPr txBox="1"/>
          <p:nvPr/>
        </p:nvSpPr>
        <p:spPr>
          <a:xfrm>
            <a:off x="9143771" y="5706305"/>
            <a:ext cx="1354633" cy="152394"/>
          </a:xfrm>
          <a:prstGeom prst="rect">
            <a:avLst/>
          </a:prstGeom>
          <a:noFill/>
        </p:spPr>
        <p:txBody>
          <a:bodyPr wrap="square" lIns="0" rIns="0" tIns="0" bIns="0" anchor="t">
            <a:spAutoFit/>
          </a:bodyPr>
          <a:lstStyle/>
          <a:p>
            <a:pPr algn="l"/>
            <a:r>
              <a:rPr sz="1100" b="0" i="0">
                <a:solidFill>
                  <a:srgbClr val="0E0E0E"/>
                </a:solidFill>
                <a:latin typeface="Futura LT"/>
              </a:rPr>
              <a:t>32 / 38</a:t>
            </a:r>
          </a:p>
        </p:txBody>
      </p:sp>
      <p:sp>
        <p:nvSpPr>
          <p:cNvPr id="61" name="TextBox 60"/>
          <p:cNvSpPr txBox="1"/>
          <p:nvPr/>
        </p:nvSpPr>
        <p:spPr>
          <a:xfrm>
            <a:off x="10498404" y="5706305"/>
            <a:ext cx="1015975" cy="152394"/>
          </a:xfrm>
          <a:prstGeom prst="rect">
            <a:avLst/>
          </a:prstGeom>
          <a:noFill/>
        </p:spPr>
        <p:txBody>
          <a:bodyPr wrap="square" lIns="0" rIns="0" tIns="0" bIns="0" anchor="t">
            <a:spAutoFit/>
          </a:bodyPr>
          <a:lstStyle/>
          <a:p>
            <a:pPr algn="l"/>
            <a:r>
              <a:rPr sz="1100" b="0" i="0">
                <a:solidFill>
                  <a:srgbClr val="0E0E0E"/>
                </a:solidFill>
                <a:latin typeface="Futura LT"/>
              </a:rPr>
              <a:t>0</a:t>
            </a:r>
          </a:p>
        </p:txBody>
      </p:sp>
      <p:cxnSp>
        <p:nvCxnSpPr>
          <p:cNvPr id="62" name="Connector 61"/>
          <p:cNvCxnSpPr/>
          <p:nvPr/>
        </p:nvCxnSpPr>
        <p:spPr>
          <a:xfrm>
            <a:off x="5587860" y="5892564"/>
            <a:ext cx="5994250"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587860" y="5926429"/>
            <a:ext cx="1693291" cy="152394"/>
          </a:xfrm>
          <a:prstGeom prst="rect">
            <a:avLst/>
          </a:prstGeom>
          <a:noFill/>
        </p:spPr>
        <p:txBody>
          <a:bodyPr wrap="square" lIns="0" rIns="0" tIns="0" bIns="0" anchor="t">
            <a:spAutoFit/>
          </a:bodyPr>
          <a:lstStyle/>
          <a:p>
            <a:pPr algn="l"/>
            <a:r>
              <a:rPr sz="1100" b="0" i="0">
                <a:solidFill>
                  <a:srgbClr val="0E0E0E"/>
                </a:solidFill>
                <a:latin typeface="Futura LT"/>
              </a:rPr>
              <a:t>Body</a:t>
            </a:r>
          </a:p>
        </p:txBody>
      </p:sp>
      <p:sp>
        <p:nvSpPr>
          <p:cNvPr id="64" name="TextBox 63"/>
          <p:cNvSpPr txBox="1"/>
          <p:nvPr/>
        </p:nvSpPr>
        <p:spPr>
          <a:xfrm>
            <a:off x="7281151" y="5926429"/>
            <a:ext cx="1862620" cy="152394"/>
          </a:xfrm>
          <a:prstGeom prst="rect">
            <a:avLst/>
          </a:prstGeom>
          <a:noFill/>
        </p:spPr>
        <p:txBody>
          <a:bodyPr wrap="square" lIns="0" rIns="0" tIns="0" bIns="0" anchor="t">
            <a:spAutoFit/>
          </a:bodyPr>
          <a:lstStyle/>
          <a:p>
            <a:pPr algn="l"/>
            <a:r>
              <a:rPr sz="1100" b="0" i="0">
                <a:solidFill>
                  <a:srgbClr val="0E0E0E"/>
                </a:solidFill>
                <a:latin typeface="Futura LT"/>
              </a:rPr>
              <a:t>Futura LT · Light</a:t>
            </a:r>
          </a:p>
        </p:txBody>
      </p:sp>
      <p:sp>
        <p:nvSpPr>
          <p:cNvPr id="65" name="TextBox 64"/>
          <p:cNvSpPr txBox="1"/>
          <p:nvPr/>
        </p:nvSpPr>
        <p:spPr>
          <a:xfrm>
            <a:off x="9143771" y="5926429"/>
            <a:ext cx="1354633" cy="152394"/>
          </a:xfrm>
          <a:prstGeom prst="rect">
            <a:avLst/>
          </a:prstGeom>
          <a:noFill/>
        </p:spPr>
        <p:txBody>
          <a:bodyPr wrap="square" lIns="0" rIns="0" tIns="0" bIns="0" anchor="t">
            <a:spAutoFit/>
          </a:bodyPr>
          <a:lstStyle/>
          <a:p>
            <a:pPr algn="l"/>
            <a:r>
              <a:rPr sz="1100" b="0" i="0">
                <a:solidFill>
                  <a:srgbClr val="0E0E0E"/>
                </a:solidFill>
                <a:latin typeface="Futura LT"/>
              </a:rPr>
              <a:t>15 / 26</a:t>
            </a:r>
          </a:p>
        </p:txBody>
      </p:sp>
      <p:sp>
        <p:nvSpPr>
          <p:cNvPr id="66" name="TextBox 65"/>
          <p:cNvSpPr txBox="1"/>
          <p:nvPr/>
        </p:nvSpPr>
        <p:spPr>
          <a:xfrm>
            <a:off x="10498404" y="5926429"/>
            <a:ext cx="1015975" cy="152394"/>
          </a:xfrm>
          <a:prstGeom prst="rect">
            <a:avLst/>
          </a:prstGeom>
          <a:noFill/>
        </p:spPr>
        <p:txBody>
          <a:bodyPr wrap="square" lIns="0" rIns="0" tIns="0" bIns="0" anchor="t">
            <a:spAutoFit/>
          </a:bodyPr>
          <a:lstStyle/>
          <a:p>
            <a:pPr algn="l"/>
            <a:r>
              <a:rPr sz="1100" b="0" i="0">
                <a:solidFill>
                  <a:srgbClr val="0E0E0E"/>
                </a:solidFill>
                <a:latin typeface="Futura LT"/>
              </a:rPr>
              <a:t>0</a:t>
            </a:r>
          </a:p>
        </p:txBody>
      </p:sp>
      <p:cxnSp>
        <p:nvCxnSpPr>
          <p:cNvPr id="67" name="Connector 66"/>
          <p:cNvCxnSpPr/>
          <p:nvPr/>
        </p:nvCxnSpPr>
        <p:spPr>
          <a:xfrm>
            <a:off x="5587860" y="6112689"/>
            <a:ext cx="5994250"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587860" y="6146554"/>
            <a:ext cx="1693291" cy="152394"/>
          </a:xfrm>
          <a:prstGeom prst="rect">
            <a:avLst/>
          </a:prstGeom>
          <a:noFill/>
        </p:spPr>
        <p:txBody>
          <a:bodyPr wrap="square" lIns="0" rIns="0" tIns="0" bIns="0" anchor="t">
            <a:spAutoFit/>
          </a:bodyPr>
          <a:lstStyle/>
          <a:p>
            <a:pPr algn="l"/>
            <a:r>
              <a:rPr sz="1100" b="0" i="0">
                <a:solidFill>
                  <a:srgbClr val="0E0E0E"/>
                </a:solidFill>
                <a:latin typeface="Futura LT"/>
              </a:rPr>
              <a:t>Eyebrow</a:t>
            </a:r>
          </a:p>
        </p:txBody>
      </p:sp>
      <p:sp>
        <p:nvSpPr>
          <p:cNvPr id="69" name="TextBox 68"/>
          <p:cNvSpPr txBox="1"/>
          <p:nvPr/>
        </p:nvSpPr>
        <p:spPr>
          <a:xfrm>
            <a:off x="7281151" y="6146554"/>
            <a:ext cx="1862620" cy="152394"/>
          </a:xfrm>
          <a:prstGeom prst="rect">
            <a:avLst/>
          </a:prstGeom>
          <a:noFill/>
        </p:spPr>
        <p:txBody>
          <a:bodyPr wrap="square" lIns="0" rIns="0" tIns="0" bIns="0" anchor="t">
            <a:spAutoFit/>
          </a:bodyPr>
          <a:lstStyle/>
          <a:p>
            <a:pPr algn="l"/>
            <a:r>
              <a:rPr sz="1100" b="0" i="0">
                <a:solidFill>
                  <a:srgbClr val="0E0E0E"/>
                </a:solidFill>
                <a:latin typeface="Futura LT"/>
              </a:rPr>
              <a:t>Futura LT · Medium</a:t>
            </a:r>
          </a:p>
        </p:txBody>
      </p:sp>
      <p:sp>
        <p:nvSpPr>
          <p:cNvPr id="70" name="TextBox 69"/>
          <p:cNvSpPr txBox="1"/>
          <p:nvPr/>
        </p:nvSpPr>
        <p:spPr>
          <a:xfrm>
            <a:off x="9143771" y="6146554"/>
            <a:ext cx="1354633" cy="152394"/>
          </a:xfrm>
          <a:prstGeom prst="rect">
            <a:avLst/>
          </a:prstGeom>
          <a:noFill/>
        </p:spPr>
        <p:txBody>
          <a:bodyPr wrap="square" lIns="0" rIns="0" tIns="0" bIns="0" anchor="t">
            <a:spAutoFit/>
          </a:bodyPr>
          <a:lstStyle/>
          <a:p>
            <a:pPr algn="l"/>
            <a:r>
              <a:rPr sz="1100" b="0" i="0">
                <a:solidFill>
                  <a:srgbClr val="0E0E0E"/>
                </a:solidFill>
                <a:latin typeface="Futura LT"/>
              </a:rPr>
              <a:t>11 / 16</a:t>
            </a:r>
          </a:p>
        </p:txBody>
      </p:sp>
      <p:sp>
        <p:nvSpPr>
          <p:cNvPr id="71" name="TextBox 70"/>
          <p:cNvSpPr txBox="1"/>
          <p:nvPr/>
        </p:nvSpPr>
        <p:spPr>
          <a:xfrm>
            <a:off x="10498404" y="6146554"/>
            <a:ext cx="1015975" cy="152394"/>
          </a:xfrm>
          <a:prstGeom prst="rect">
            <a:avLst/>
          </a:prstGeom>
          <a:noFill/>
        </p:spPr>
        <p:txBody>
          <a:bodyPr wrap="square" lIns="0" rIns="0" tIns="0" bIns="0" anchor="t">
            <a:spAutoFit/>
          </a:bodyPr>
          <a:lstStyle/>
          <a:p>
            <a:pPr algn="l"/>
            <a:r>
              <a:rPr sz="1100" b="0" i="0">
                <a:solidFill>
                  <a:srgbClr val="0E0E0E"/>
                </a:solidFill>
                <a:latin typeface="Futura LT"/>
              </a:rPr>
              <a:t>+0.32em</a:t>
            </a:r>
          </a:p>
        </p:txBody>
      </p:sp>
      <p:cxnSp>
        <p:nvCxnSpPr>
          <p:cNvPr id="72" name="Connector 71"/>
          <p:cNvCxnSpPr/>
          <p:nvPr/>
        </p:nvCxnSpPr>
        <p:spPr>
          <a:xfrm>
            <a:off x="5587860" y="6332813"/>
            <a:ext cx="5994250"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587860" y="6366678"/>
            <a:ext cx="1693291" cy="152394"/>
          </a:xfrm>
          <a:prstGeom prst="rect">
            <a:avLst/>
          </a:prstGeom>
          <a:noFill/>
        </p:spPr>
        <p:txBody>
          <a:bodyPr wrap="square" lIns="0" rIns="0" tIns="0" bIns="0" anchor="t">
            <a:spAutoFit/>
          </a:bodyPr>
          <a:lstStyle/>
          <a:p>
            <a:pPr algn="l"/>
            <a:r>
              <a:rPr sz="1100" b="0" i="0">
                <a:solidFill>
                  <a:srgbClr val="0E0E0E"/>
                </a:solidFill>
                <a:latin typeface="Futura LT"/>
              </a:rPr>
              <a:t>CTA</a:t>
            </a:r>
          </a:p>
        </p:txBody>
      </p:sp>
      <p:sp>
        <p:nvSpPr>
          <p:cNvPr id="74" name="TextBox 73"/>
          <p:cNvSpPr txBox="1"/>
          <p:nvPr/>
        </p:nvSpPr>
        <p:spPr>
          <a:xfrm>
            <a:off x="7281151" y="6366678"/>
            <a:ext cx="1862620" cy="152394"/>
          </a:xfrm>
          <a:prstGeom prst="rect">
            <a:avLst/>
          </a:prstGeom>
          <a:noFill/>
        </p:spPr>
        <p:txBody>
          <a:bodyPr wrap="square" lIns="0" rIns="0" tIns="0" bIns="0" anchor="t">
            <a:spAutoFit/>
          </a:bodyPr>
          <a:lstStyle/>
          <a:p>
            <a:pPr algn="l"/>
            <a:r>
              <a:rPr sz="1100" b="0" i="0">
                <a:solidFill>
                  <a:srgbClr val="0E0E0E"/>
                </a:solidFill>
                <a:latin typeface="Futura LT"/>
              </a:rPr>
              <a:t>Futura LT · Medium</a:t>
            </a:r>
          </a:p>
        </p:txBody>
      </p:sp>
      <p:sp>
        <p:nvSpPr>
          <p:cNvPr id="75" name="TextBox 74"/>
          <p:cNvSpPr txBox="1"/>
          <p:nvPr/>
        </p:nvSpPr>
        <p:spPr>
          <a:xfrm>
            <a:off x="9143771" y="6366678"/>
            <a:ext cx="1354633" cy="152394"/>
          </a:xfrm>
          <a:prstGeom prst="rect">
            <a:avLst/>
          </a:prstGeom>
          <a:noFill/>
        </p:spPr>
        <p:txBody>
          <a:bodyPr wrap="square" lIns="0" rIns="0" tIns="0" bIns="0" anchor="t">
            <a:spAutoFit/>
          </a:bodyPr>
          <a:lstStyle/>
          <a:p>
            <a:pPr algn="l"/>
            <a:r>
              <a:rPr sz="1100" b="0" i="0">
                <a:solidFill>
                  <a:srgbClr val="0E0E0E"/>
                </a:solidFill>
                <a:latin typeface="Futura LT"/>
              </a:rPr>
              <a:t>12 / 16</a:t>
            </a:r>
          </a:p>
        </p:txBody>
      </p:sp>
      <p:sp>
        <p:nvSpPr>
          <p:cNvPr id="76" name="TextBox 75"/>
          <p:cNvSpPr txBox="1"/>
          <p:nvPr/>
        </p:nvSpPr>
        <p:spPr>
          <a:xfrm>
            <a:off x="10498404" y="6366678"/>
            <a:ext cx="1015975" cy="152394"/>
          </a:xfrm>
          <a:prstGeom prst="rect">
            <a:avLst/>
          </a:prstGeom>
          <a:noFill/>
        </p:spPr>
        <p:txBody>
          <a:bodyPr wrap="square" lIns="0" rIns="0" tIns="0" bIns="0" anchor="t">
            <a:spAutoFit/>
          </a:bodyPr>
          <a:lstStyle/>
          <a:p>
            <a:pPr algn="l"/>
            <a:r>
              <a:rPr sz="1100" b="0" i="0">
                <a:solidFill>
                  <a:srgbClr val="0E0E0E"/>
                </a:solidFill>
                <a:latin typeface="Futura LT"/>
              </a:rPr>
              <a:t>+0.18em</a:t>
            </a:r>
          </a:p>
        </p:txBody>
      </p:sp>
      <p:cxnSp>
        <p:nvCxnSpPr>
          <p:cNvPr id="77" name="Connector 76"/>
          <p:cNvCxnSpPr/>
          <p:nvPr/>
        </p:nvCxnSpPr>
        <p:spPr>
          <a:xfrm>
            <a:off x="5587860" y="6552938"/>
            <a:ext cx="5994250" cy="0"/>
          </a:xfrm>
          <a:prstGeom prst="line">
            <a:avLst/>
          </a:prstGeom>
          <a:ln w="3175">
            <a:solidFill>
              <a:srgbClr val="D9D2C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INSTAGRAM</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21</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GRID &amp; PROFILE ANATOMY</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21</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21 — INSTAGRAM</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Quiet, in </a:t>
            </a:r>
            <a:r>
              <a:rPr sz="5600" b="0" i="1">
                <a:solidFill>
                  <a:srgbClr val="0E0E0E"/>
                </a:solidFill>
                <a:latin typeface="Didot"/>
              </a:rPr>
              <a:t>nine tiles.</a:t>
            </a:r>
          </a:p>
        </p:txBody>
      </p:sp>
      <p:sp>
        <p:nvSpPr>
          <p:cNvPr id="11" name="TextBox 10"/>
          <p:cNvSpPr txBox="1"/>
          <p:nvPr/>
        </p:nvSpPr>
        <p:spPr>
          <a:xfrm>
            <a:off x="609585" y="2370572"/>
            <a:ext cx="5926518" cy="1693266"/>
          </a:xfrm>
          <a:prstGeom prst="rect">
            <a:avLst/>
          </a:prstGeom>
          <a:noFill/>
        </p:spPr>
        <p:txBody>
          <a:bodyPr wrap="square" lIns="0" rIns="0" tIns="0" bIns="0" anchor="t">
            <a:spAutoFit/>
          </a:bodyPr>
          <a:lstStyle/>
          <a:p>
            <a:pPr algn="l">
              <a:lnSpc>
                <a:spcPct val="155000"/>
              </a:lnSpc>
            </a:pPr>
            <a:r>
              <a:rPr sz="1300" b="0" i="0">
                <a:solidFill>
                  <a:srgbClr val="0E0E0E"/>
                </a:solidFill>
                <a:latin typeface="Futura LT"/>
              </a:rPr>
              <a:t>With 50k+ followers, the grid is our biggest storefront. It rotates three voices — portrait, word, detail — on a 3-3-3 rhythm, so the profile reads as one editorial spread, not nine separate posts.</a:t>
            </a:r>
          </a:p>
        </p:txBody>
      </p:sp>
      <p:sp>
        <p:nvSpPr>
          <p:cNvPr id="12" name="Rectangle 11"/>
          <p:cNvSpPr/>
          <p:nvPr/>
        </p:nvSpPr>
        <p:spPr>
          <a:xfrm>
            <a:off x="609585" y="3555858"/>
            <a:ext cx="1117572" cy="111755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7316" y="4487154"/>
            <a:ext cx="982109" cy="118529"/>
          </a:xfrm>
          <a:prstGeom prst="rect">
            <a:avLst/>
          </a:prstGeom>
          <a:noFill/>
        </p:spPr>
        <p:txBody>
          <a:bodyPr wrap="square" lIns="0" rIns="0" tIns="0" bIns="0" anchor="t">
            <a:spAutoFit/>
          </a:bodyPr>
          <a:lstStyle/>
          <a:p>
            <a:pPr algn="l"/>
            <a:r>
              <a:rPr sz="800" b="0" i="0" spc="160">
                <a:solidFill>
                  <a:srgbClr val="8B8480"/>
                </a:solidFill>
                <a:latin typeface="Futura LT"/>
              </a:rPr>
              <a:t>01 · PORTRAIT</a:t>
            </a:r>
          </a:p>
        </p:txBody>
      </p:sp>
      <p:sp>
        <p:nvSpPr>
          <p:cNvPr id="14" name="Rectangle 13"/>
          <p:cNvSpPr/>
          <p:nvPr/>
        </p:nvSpPr>
        <p:spPr>
          <a:xfrm>
            <a:off x="1777956" y="3555858"/>
            <a:ext cx="1117572" cy="1117555"/>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45687" y="4487154"/>
            <a:ext cx="982109" cy="118529"/>
          </a:xfrm>
          <a:prstGeom prst="rect">
            <a:avLst/>
          </a:prstGeom>
          <a:noFill/>
        </p:spPr>
        <p:txBody>
          <a:bodyPr wrap="square" lIns="0" rIns="0" tIns="0" bIns="0" anchor="t">
            <a:spAutoFit/>
          </a:bodyPr>
          <a:lstStyle/>
          <a:p>
            <a:pPr algn="l"/>
            <a:r>
              <a:rPr sz="800" b="0" i="0" spc="160">
                <a:solidFill>
                  <a:srgbClr val="8B8480"/>
                </a:solidFill>
                <a:latin typeface="Futura LT"/>
              </a:rPr>
              <a:t>02 · QUOTE</a:t>
            </a:r>
          </a:p>
        </p:txBody>
      </p:sp>
      <p:sp>
        <p:nvSpPr>
          <p:cNvPr id="16" name="TextBox 15"/>
          <p:cNvSpPr txBox="1"/>
          <p:nvPr/>
        </p:nvSpPr>
        <p:spPr>
          <a:xfrm>
            <a:off x="1913419" y="3809848"/>
            <a:ext cx="846645" cy="677306"/>
          </a:xfrm>
          <a:prstGeom prst="rect">
            <a:avLst/>
          </a:prstGeom>
          <a:noFill/>
        </p:spPr>
        <p:txBody>
          <a:bodyPr wrap="square" lIns="0" rIns="0" tIns="0" bIns="0" anchor="t">
            <a:spAutoFit/>
          </a:bodyPr>
          <a:lstStyle/>
          <a:p>
            <a:pPr algn="ctr"/>
            <a:r>
              <a:rPr sz="2200" b="0" i="1">
                <a:solidFill>
                  <a:srgbClr val="A78D52"/>
                </a:solidFill>
                <a:latin typeface="Snell Roundhand"/>
              </a:rPr>
              <a:t>crown
yours</a:t>
            </a:r>
          </a:p>
        </p:txBody>
      </p:sp>
      <p:sp>
        <p:nvSpPr>
          <p:cNvPr id="17" name="Rectangle 16"/>
          <p:cNvSpPr/>
          <p:nvPr/>
        </p:nvSpPr>
        <p:spPr>
          <a:xfrm>
            <a:off x="2946326" y="3555858"/>
            <a:ext cx="1117572" cy="1117555"/>
          </a:xfrm>
          <a:prstGeom prst="rect">
            <a:avLst/>
          </a:prstGeom>
          <a:solidFill>
            <a:srgbClr val="B68F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4058" y="4487154"/>
            <a:ext cx="982109" cy="118529"/>
          </a:xfrm>
          <a:prstGeom prst="rect">
            <a:avLst/>
          </a:prstGeom>
          <a:noFill/>
        </p:spPr>
        <p:txBody>
          <a:bodyPr wrap="square" lIns="0" rIns="0" tIns="0" bIns="0" anchor="t">
            <a:spAutoFit/>
          </a:bodyPr>
          <a:lstStyle/>
          <a:p>
            <a:pPr algn="l"/>
            <a:r>
              <a:rPr sz="800" b="0" i="0" spc="160">
                <a:solidFill>
                  <a:srgbClr val="FFFFFF"/>
                </a:solidFill>
                <a:latin typeface="Futura LT"/>
              </a:rPr>
              <a:t>03 · DETAIL</a:t>
            </a:r>
          </a:p>
        </p:txBody>
      </p:sp>
      <p:sp>
        <p:nvSpPr>
          <p:cNvPr id="19" name="Rectangle 18"/>
          <p:cNvSpPr/>
          <p:nvPr/>
        </p:nvSpPr>
        <p:spPr>
          <a:xfrm>
            <a:off x="609585" y="4724211"/>
            <a:ext cx="1117572" cy="1117555"/>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316" y="5655507"/>
            <a:ext cx="982109" cy="118529"/>
          </a:xfrm>
          <a:prstGeom prst="rect">
            <a:avLst/>
          </a:prstGeom>
          <a:noFill/>
        </p:spPr>
        <p:txBody>
          <a:bodyPr wrap="square" lIns="0" rIns="0" tIns="0" bIns="0" anchor="t">
            <a:spAutoFit/>
          </a:bodyPr>
          <a:lstStyle/>
          <a:p>
            <a:pPr algn="l"/>
            <a:r>
              <a:rPr sz="800" b="0" i="0" spc="160">
                <a:solidFill>
                  <a:srgbClr val="FFFFFF"/>
                </a:solidFill>
                <a:latin typeface="Futura LT"/>
              </a:rPr>
              <a:t>04 · MONOGRAM</a:t>
            </a:r>
          </a:p>
        </p:txBody>
      </p:sp>
      <p:pic>
        <p:nvPicPr>
          <p:cNvPr id="21" name="Picture 20" descr="shlomi-mor-monogram-white.png"/>
          <p:cNvPicPr>
            <a:picLocks noChangeAspect="1"/>
          </p:cNvPicPr>
          <p:nvPr/>
        </p:nvPicPr>
        <p:blipFill>
          <a:blip r:embed="rId2"/>
          <a:stretch>
            <a:fillRect/>
          </a:stretch>
        </p:blipFill>
        <p:spPr>
          <a:xfrm>
            <a:off x="898172" y="5003600"/>
            <a:ext cx="540397" cy="457182"/>
          </a:xfrm>
          <a:prstGeom prst="rect">
            <a:avLst/>
          </a:prstGeom>
        </p:spPr>
      </p:pic>
      <p:sp>
        <p:nvSpPr>
          <p:cNvPr id="22" name="Rectangle 21"/>
          <p:cNvSpPr/>
          <p:nvPr/>
        </p:nvSpPr>
        <p:spPr>
          <a:xfrm>
            <a:off x="1777956" y="4724211"/>
            <a:ext cx="1117572" cy="1117555"/>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45687" y="5655507"/>
            <a:ext cx="982109" cy="118529"/>
          </a:xfrm>
          <a:prstGeom prst="rect">
            <a:avLst/>
          </a:prstGeom>
          <a:noFill/>
        </p:spPr>
        <p:txBody>
          <a:bodyPr wrap="square" lIns="0" rIns="0" tIns="0" bIns="0" anchor="t">
            <a:spAutoFit/>
          </a:bodyPr>
          <a:lstStyle/>
          <a:p>
            <a:pPr algn="l"/>
            <a:r>
              <a:rPr sz="800" b="0" i="0" spc="160">
                <a:solidFill>
                  <a:srgbClr val="8B8480"/>
                </a:solidFill>
                <a:latin typeface="Futura LT"/>
              </a:rPr>
              <a:t>05 · PORTRAIT</a:t>
            </a:r>
          </a:p>
        </p:txBody>
      </p:sp>
      <p:sp>
        <p:nvSpPr>
          <p:cNvPr id="24" name="Rectangle 23"/>
          <p:cNvSpPr/>
          <p:nvPr/>
        </p:nvSpPr>
        <p:spPr>
          <a:xfrm>
            <a:off x="2946326" y="4724211"/>
            <a:ext cx="1117572" cy="1117555"/>
          </a:xfrm>
          <a:prstGeom prst="rect">
            <a:avLst/>
          </a:prstGeom>
          <a:solidFill>
            <a:srgbClr val="A7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4058" y="5655507"/>
            <a:ext cx="982109" cy="118529"/>
          </a:xfrm>
          <a:prstGeom prst="rect">
            <a:avLst/>
          </a:prstGeom>
          <a:noFill/>
        </p:spPr>
        <p:txBody>
          <a:bodyPr wrap="square" lIns="0" rIns="0" tIns="0" bIns="0" anchor="t">
            <a:spAutoFit/>
          </a:bodyPr>
          <a:lstStyle/>
          <a:p>
            <a:pPr algn="l"/>
            <a:r>
              <a:rPr sz="800" b="0" i="0" spc="160">
                <a:solidFill>
                  <a:srgbClr val="FFFFFF"/>
                </a:solidFill>
                <a:latin typeface="Futura LT"/>
              </a:rPr>
              <a:t>06 · DETAIL</a:t>
            </a:r>
          </a:p>
        </p:txBody>
      </p:sp>
      <p:sp>
        <p:nvSpPr>
          <p:cNvPr id="26" name="Rectangle 25"/>
          <p:cNvSpPr/>
          <p:nvPr/>
        </p:nvSpPr>
        <p:spPr>
          <a:xfrm>
            <a:off x="609585" y="5892564"/>
            <a:ext cx="1117572" cy="1117555"/>
          </a:xfrm>
          <a:prstGeom prst="rect">
            <a:avLst/>
          </a:prstGeom>
          <a:solidFill>
            <a:srgbClr val="6E6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7316" y="6823860"/>
            <a:ext cx="982109" cy="118529"/>
          </a:xfrm>
          <a:prstGeom prst="rect">
            <a:avLst/>
          </a:prstGeom>
          <a:noFill/>
        </p:spPr>
        <p:txBody>
          <a:bodyPr wrap="square" lIns="0" rIns="0" tIns="0" bIns="0" anchor="t">
            <a:spAutoFit/>
          </a:bodyPr>
          <a:lstStyle/>
          <a:p>
            <a:pPr algn="l"/>
            <a:r>
              <a:rPr sz="800" b="0" i="0" spc="160">
                <a:solidFill>
                  <a:srgbClr val="FFFFFF"/>
                </a:solidFill>
                <a:latin typeface="Futura LT"/>
              </a:rPr>
              <a:t>07 · PORTRAIT</a:t>
            </a:r>
          </a:p>
        </p:txBody>
      </p:sp>
      <p:sp>
        <p:nvSpPr>
          <p:cNvPr id="28" name="Rectangle 27"/>
          <p:cNvSpPr/>
          <p:nvPr/>
        </p:nvSpPr>
        <p:spPr>
          <a:xfrm>
            <a:off x="1777956" y="5892564"/>
            <a:ext cx="1117572" cy="1117555"/>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45687" y="6823860"/>
            <a:ext cx="982109" cy="118529"/>
          </a:xfrm>
          <a:prstGeom prst="rect">
            <a:avLst/>
          </a:prstGeom>
          <a:noFill/>
        </p:spPr>
        <p:txBody>
          <a:bodyPr wrap="square" lIns="0" rIns="0" tIns="0" bIns="0" anchor="t">
            <a:spAutoFit/>
          </a:bodyPr>
          <a:lstStyle/>
          <a:p>
            <a:pPr algn="l"/>
            <a:r>
              <a:rPr sz="800" b="0" i="0" spc="160">
                <a:solidFill>
                  <a:srgbClr val="8B8480"/>
                </a:solidFill>
                <a:latin typeface="Futura LT"/>
              </a:rPr>
              <a:t>08 · QUOTE</a:t>
            </a:r>
          </a:p>
        </p:txBody>
      </p:sp>
      <p:sp>
        <p:nvSpPr>
          <p:cNvPr id="30" name="TextBox 29"/>
          <p:cNvSpPr txBox="1"/>
          <p:nvPr/>
        </p:nvSpPr>
        <p:spPr>
          <a:xfrm>
            <a:off x="1879553" y="6146554"/>
            <a:ext cx="914377" cy="507980"/>
          </a:xfrm>
          <a:prstGeom prst="rect">
            <a:avLst/>
          </a:prstGeom>
          <a:noFill/>
        </p:spPr>
        <p:txBody>
          <a:bodyPr wrap="square" lIns="0" rIns="0" tIns="0" bIns="0" anchor="t">
            <a:spAutoFit/>
          </a:bodyPr>
          <a:lstStyle/>
          <a:p>
            <a:pPr algn="ctr"/>
            <a:r>
              <a:rPr sz="1600" b="0" i="1">
                <a:solidFill>
                  <a:srgbClr val="0E0E0E"/>
                </a:solidFill>
                <a:latin typeface="Didot"/>
              </a:rPr>
              <a:t>She,
again.</a:t>
            </a:r>
          </a:p>
        </p:txBody>
      </p:sp>
      <p:sp>
        <p:nvSpPr>
          <p:cNvPr id="31" name="Rectangle 30"/>
          <p:cNvSpPr/>
          <p:nvPr/>
        </p:nvSpPr>
        <p:spPr>
          <a:xfrm>
            <a:off x="2946326" y="5892564"/>
            <a:ext cx="1117572" cy="1117555"/>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4058" y="6823860"/>
            <a:ext cx="982109" cy="118529"/>
          </a:xfrm>
          <a:prstGeom prst="rect">
            <a:avLst/>
          </a:prstGeom>
          <a:noFill/>
        </p:spPr>
        <p:txBody>
          <a:bodyPr wrap="square" lIns="0" rIns="0" tIns="0" bIns="0" anchor="t">
            <a:spAutoFit/>
          </a:bodyPr>
          <a:lstStyle/>
          <a:p>
            <a:pPr algn="l"/>
            <a:r>
              <a:rPr sz="800" b="0" i="0" spc="160">
                <a:solidFill>
                  <a:srgbClr val="FFFFFF"/>
                </a:solidFill>
                <a:latin typeface="Futura LT"/>
              </a:rPr>
              <a:t>09 · DETAIL</a:t>
            </a:r>
          </a:p>
        </p:txBody>
      </p:sp>
      <p:sp>
        <p:nvSpPr>
          <p:cNvPr id="33" name="Oval 32"/>
          <p:cNvSpPr/>
          <p:nvPr/>
        </p:nvSpPr>
        <p:spPr>
          <a:xfrm>
            <a:off x="5926518" y="3555858"/>
            <a:ext cx="660383" cy="660374"/>
          </a:xfrm>
          <a:prstGeom prst="ellipse">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hlomi-mor-monogram-black.png"/>
          <p:cNvPicPr>
            <a:picLocks noChangeAspect="1"/>
          </p:cNvPicPr>
          <p:nvPr/>
        </p:nvPicPr>
        <p:blipFill>
          <a:blip r:embed="rId3"/>
          <a:stretch>
            <a:fillRect/>
          </a:stretch>
        </p:blipFill>
        <p:spPr>
          <a:xfrm>
            <a:off x="6026541" y="3691319"/>
            <a:ext cx="460338" cy="389451"/>
          </a:xfrm>
          <a:prstGeom prst="rect">
            <a:avLst/>
          </a:prstGeom>
        </p:spPr>
      </p:pic>
      <p:sp>
        <p:nvSpPr>
          <p:cNvPr id="35" name="TextBox 34"/>
          <p:cNvSpPr txBox="1"/>
          <p:nvPr/>
        </p:nvSpPr>
        <p:spPr>
          <a:xfrm>
            <a:off x="6739298" y="3572790"/>
            <a:ext cx="4571886" cy="186259"/>
          </a:xfrm>
          <a:prstGeom prst="rect">
            <a:avLst/>
          </a:prstGeom>
          <a:noFill/>
        </p:spPr>
        <p:txBody>
          <a:bodyPr wrap="square" lIns="0" rIns="0" tIns="0" bIns="0" anchor="t">
            <a:spAutoFit/>
          </a:bodyPr>
          <a:lstStyle/>
          <a:p>
            <a:pPr algn="l"/>
            <a:r>
              <a:rPr sz="1400" b="1" i="0">
                <a:solidFill>
                  <a:srgbClr val="0E0E0E"/>
                </a:solidFill>
                <a:latin typeface="Futura LT"/>
              </a:rPr>
              <a:t>shlomimorwigs</a:t>
            </a:r>
          </a:p>
        </p:txBody>
      </p:sp>
      <p:sp>
        <p:nvSpPr>
          <p:cNvPr id="36" name="TextBox 35"/>
          <p:cNvSpPr txBox="1"/>
          <p:nvPr/>
        </p:nvSpPr>
        <p:spPr>
          <a:xfrm>
            <a:off x="6739298" y="3775982"/>
            <a:ext cx="4571886" cy="135461"/>
          </a:xfrm>
          <a:prstGeom prst="rect">
            <a:avLst/>
          </a:prstGeom>
          <a:noFill/>
        </p:spPr>
        <p:txBody>
          <a:bodyPr wrap="square" lIns="0" rIns="0" tIns="0" bIns="0" anchor="t">
            <a:spAutoFit/>
          </a:bodyPr>
          <a:lstStyle/>
          <a:p>
            <a:pPr algn="l"/>
            <a:r>
              <a:rPr sz="900" b="0" i="0" spc="220">
                <a:solidFill>
                  <a:srgbClr val="8B8480"/>
                </a:solidFill>
                <a:latin typeface="Futura LT"/>
              </a:rPr>
              <a:t>50.4K FOLLOWERS · NYC ATELIER</a:t>
            </a:r>
          </a:p>
        </p:txBody>
      </p:sp>
      <p:sp>
        <p:nvSpPr>
          <p:cNvPr id="37" name="TextBox 36"/>
          <p:cNvSpPr txBox="1"/>
          <p:nvPr/>
        </p:nvSpPr>
        <p:spPr>
          <a:xfrm>
            <a:off x="6739298" y="3996107"/>
            <a:ext cx="4571886" cy="423316"/>
          </a:xfrm>
          <a:prstGeom prst="rect">
            <a:avLst/>
          </a:prstGeom>
          <a:noFill/>
        </p:spPr>
        <p:txBody>
          <a:bodyPr wrap="square" lIns="0" rIns="0" tIns="0" bIns="0" anchor="t">
            <a:spAutoFit/>
          </a:bodyPr>
          <a:lstStyle/>
          <a:p>
            <a:pPr algn="l">
              <a:lnSpc>
                <a:spcPct val="150000"/>
              </a:lnSpc>
            </a:pPr>
            <a:r>
              <a:rPr sz="1200" b="0" i="0">
                <a:solidFill>
                  <a:srgbClr val="0E0E0E"/>
                </a:solidFill>
                <a:latin typeface="Futura LT"/>
              </a:rPr>
              <a:t>Custom human-hair wigs, handmade in New York. Crown your confidence. → shlomimorwigs.com</a:t>
            </a:r>
          </a:p>
        </p:txBody>
      </p:sp>
      <p:sp>
        <p:nvSpPr>
          <p:cNvPr id="38" name="TextBox 37"/>
          <p:cNvSpPr txBox="1"/>
          <p:nvPr/>
        </p:nvSpPr>
        <p:spPr>
          <a:xfrm>
            <a:off x="5926518" y="4673413"/>
            <a:ext cx="4571886" cy="135461"/>
          </a:xfrm>
          <a:prstGeom prst="rect">
            <a:avLst/>
          </a:prstGeom>
          <a:noFill/>
        </p:spPr>
        <p:txBody>
          <a:bodyPr wrap="square" lIns="0" rIns="0" tIns="0" bIns="0" anchor="t">
            <a:spAutoFit/>
          </a:bodyPr>
          <a:lstStyle/>
          <a:p>
            <a:pPr algn="l"/>
            <a:r>
              <a:rPr sz="1000" b="0" i="0" spc="220">
                <a:solidFill>
                  <a:srgbClr val="8B8480"/>
                </a:solidFill>
                <a:latin typeface="Futura LT"/>
              </a:rPr>
              <a:t>HIGHLIGHT COVERS</a:t>
            </a:r>
          </a:p>
        </p:txBody>
      </p:sp>
      <p:sp>
        <p:nvSpPr>
          <p:cNvPr id="39" name="Oval 38"/>
          <p:cNvSpPr/>
          <p:nvPr/>
        </p:nvSpPr>
        <p:spPr>
          <a:xfrm>
            <a:off x="5926518" y="4910470"/>
            <a:ext cx="609585" cy="609576"/>
          </a:xfrm>
          <a:prstGeom prst="ellipse">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26518" y="5139061"/>
            <a:ext cx="609585" cy="186259"/>
          </a:xfrm>
          <a:prstGeom prst="rect">
            <a:avLst/>
          </a:prstGeom>
          <a:noFill/>
        </p:spPr>
        <p:txBody>
          <a:bodyPr wrap="square" lIns="0" rIns="0" tIns="0" bIns="0" anchor="ctr">
            <a:spAutoFit/>
          </a:bodyPr>
          <a:lstStyle/>
          <a:p>
            <a:pPr algn="ctr"/>
            <a:r>
              <a:rPr sz="1000" b="0" i="1">
                <a:solidFill>
                  <a:srgbClr val="0E0E0E"/>
                </a:solidFill>
                <a:latin typeface="Didot"/>
              </a:rPr>
              <a:t>Atelier</a:t>
            </a:r>
          </a:p>
        </p:txBody>
      </p:sp>
      <p:sp>
        <p:nvSpPr>
          <p:cNvPr id="41" name="Oval 40"/>
          <p:cNvSpPr/>
          <p:nvPr/>
        </p:nvSpPr>
        <p:spPr>
          <a:xfrm>
            <a:off x="6688499" y="4910470"/>
            <a:ext cx="609585" cy="609576"/>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88499" y="5139061"/>
            <a:ext cx="609585" cy="186259"/>
          </a:xfrm>
          <a:prstGeom prst="rect">
            <a:avLst/>
          </a:prstGeom>
          <a:noFill/>
        </p:spPr>
        <p:txBody>
          <a:bodyPr wrap="square" lIns="0" rIns="0" tIns="0" bIns="0" anchor="ctr">
            <a:spAutoFit/>
          </a:bodyPr>
          <a:lstStyle/>
          <a:p>
            <a:pPr algn="ctr"/>
            <a:r>
              <a:rPr sz="1000" b="0" i="1">
                <a:solidFill>
                  <a:srgbClr val="FFFFFF"/>
                </a:solidFill>
                <a:latin typeface="Didot"/>
              </a:rPr>
              <a:t>Medical</a:t>
            </a:r>
          </a:p>
        </p:txBody>
      </p:sp>
      <p:sp>
        <p:nvSpPr>
          <p:cNvPr id="43" name="Oval 42"/>
          <p:cNvSpPr/>
          <p:nvPr/>
        </p:nvSpPr>
        <p:spPr>
          <a:xfrm>
            <a:off x="7450480" y="4910470"/>
            <a:ext cx="609585" cy="609576"/>
          </a:xfrm>
          <a:prstGeom prst="ellipse">
            <a:avLst/>
          </a:prstGeom>
          <a:solidFill>
            <a:srgbClr val="A7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50480" y="5139061"/>
            <a:ext cx="609585" cy="186259"/>
          </a:xfrm>
          <a:prstGeom prst="rect">
            <a:avLst/>
          </a:prstGeom>
          <a:noFill/>
        </p:spPr>
        <p:txBody>
          <a:bodyPr wrap="square" lIns="0" rIns="0" tIns="0" bIns="0" anchor="ctr">
            <a:spAutoFit/>
          </a:bodyPr>
          <a:lstStyle/>
          <a:p>
            <a:pPr algn="ctr"/>
            <a:r>
              <a:rPr sz="1000" b="0" i="1">
                <a:solidFill>
                  <a:srgbClr val="FFFFFF"/>
                </a:solidFill>
                <a:latin typeface="Didot"/>
              </a:rPr>
              <a:t>Custom</a:t>
            </a:r>
          </a:p>
        </p:txBody>
      </p:sp>
      <p:sp>
        <p:nvSpPr>
          <p:cNvPr id="45" name="Oval 44"/>
          <p:cNvSpPr/>
          <p:nvPr/>
        </p:nvSpPr>
        <p:spPr>
          <a:xfrm>
            <a:off x="5926518" y="5672440"/>
            <a:ext cx="609585" cy="609576"/>
          </a:xfrm>
          <a:prstGeom prst="ellipse">
            <a:avLst/>
          </a:prstGeom>
          <a:solidFill>
            <a:srgbClr val="FCE3E5"/>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26518" y="5901030"/>
            <a:ext cx="609585" cy="186259"/>
          </a:xfrm>
          <a:prstGeom prst="rect">
            <a:avLst/>
          </a:prstGeom>
          <a:noFill/>
        </p:spPr>
        <p:txBody>
          <a:bodyPr wrap="square" lIns="0" rIns="0" tIns="0" bIns="0" anchor="ctr">
            <a:spAutoFit/>
          </a:bodyPr>
          <a:lstStyle/>
          <a:p>
            <a:pPr algn="ctr"/>
            <a:r>
              <a:rPr sz="1000" b="0" i="1">
                <a:solidFill>
                  <a:srgbClr val="0E0E0E"/>
                </a:solidFill>
                <a:latin typeface="Didot"/>
              </a:rPr>
              <a:t>Before / After</a:t>
            </a:r>
          </a:p>
        </p:txBody>
      </p:sp>
      <p:sp>
        <p:nvSpPr>
          <p:cNvPr id="47" name="Oval 46"/>
          <p:cNvSpPr/>
          <p:nvPr/>
        </p:nvSpPr>
        <p:spPr>
          <a:xfrm>
            <a:off x="6688499" y="5672440"/>
            <a:ext cx="609585" cy="609576"/>
          </a:xfrm>
          <a:prstGeom prst="ellipse">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88499" y="5901030"/>
            <a:ext cx="609585" cy="186259"/>
          </a:xfrm>
          <a:prstGeom prst="rect">
            <a:avLst/>
          </a:prstGeom>
          <a:noFill/>
        </p:spPr>
        <p:txBody>
          <a:bodyPr wrap="square" lIns="0" rIns="0" tIns="0" bIns="0" anchor="ctr">
            <a:spAutoFit/>
          </a:bodyPr>
          <a:lstStyle/>
          <a:p>
            <a:pPr algn="ctr"/>
            <a:r>
              <a:rPr sz="1000" b="0" i="1">
                <a:solidFill>
                  <a:srgbClr val="0E0E0E"/>
                </a:solidFill>
                <a:latin typeface="Didot"/>
              </a:rPr>
              <a:t>Press</a:t>
            </a:r>
          </a:p>
        </p:txBody>
      </p:sp>
      <p:sp>
        <p:nvSpPr>
          <p:cNvPr id="49" name="Oval 48"/>
          <p:cNvSpPr/>
          <p:nvPr/>
        </p:nvSpPr>
        <p:spPr>
          <a:xfrm>
            <a:off x="7450480" y="5672440"/>
            <a:ext cx="609585" cy="609576"/>
          </a:xfrm>
          <a:prstGeom prst="ellipse">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50480" y="5901030"/>
            <a:ext cx="609585" cy="186259"/>
          </a:xfrm>
          <a:prstGeom prst="rect">
            <a:avLst/>
          </a:prstGeom>
          <a:noFill/>
        </p:spPr>
        <p:txBody>
          <a:bodyPr wrap="square" lIns="0" rIns="0" tIns="0" bIns="0" anchor="ctr">
            <a:spAutoFit/>
          </a:bodyPr>
          <a:lstStyle/>
          <a:p>
            <a:pPr algn="ctr"/>
            <a:r>
              <a:rPr sz="1000" b="0" i="1">
                <a:solidFill>
                  <a:srgbClr val="FFFFFF"/>
                </a:solidFill>
                <a:latin typeface="Didot"/>
              </a:rPr>
              <a:t>Care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INSTAGRAM</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22</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STORIES · REELS · CADENCE</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22</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22 — INSTAGRAM</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Stories, </a:t>
            </a:r>
            <a:r>
              <a:rPr sz="5600" b="0" i="1">
                <a:solidFill>
                  <a:srgbClr val="0E0E0E"/>
                </a:solidFill>
                <a:latin typeface="Didot"/>
              </a:rPr>
              <a:t>in motion.</a:t>
            </a:r>
          </a:p>
        </p:txBody>
      </p:sp>
      <p:sp>
        <p:nvSpPr>
          <p:cNvPr id="11" name="Rectangle 10"/>
          <p:cNvSpPr/>
          <p:nvPr/>
        </p:nvSpPr>
        <p:spPr>
          <a:xfrm>
            <a:off x="609585" y="2607629"/>
            <a:ext cx="1693291" cy="2793888"/>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8115" y="2726158"/>
            <a:ext cx="1456230" cy="118529"/>
          </a:xfrm>
          <a:prstGeom prst="rect">
            <a:avLst/>
          </a:prstGeom>
          <a:noFill/>
        </p:spPr>
        <p:txBody>
          <a:bodyPr wrap="square" lIns="0" rIns="0" tIns="0" bIns="0" anchor="t">
            <a:spAutoFit/>
          </a:bodyPr>
          <a:lstStyle/>
          <a:p>
            <a:pPr algn="l"/>
            <a:r>
              <a:rPr sz="800" b="0" i="0" spc="220">
                <a:solidFill>
                  <a:srgbClr val="8B8480"/>
                </a:solidFill>
                <a:latin typeface="Futura LT"/>
              </a:rPr>
              <a:t>QUOTE</a:t>
            </a:r>
          </a:p>
        </p:txBody>
      </p:sp>
      <p:sp>
        <p:nvSpPr>
          <p:cNvPr id="13" name="TextBox 12"/>
          <p:cNvSpPr txBox="1"/>
          <p:nvPr/>
        </p:nvSpPr>
        <p:spPr>
          <a:xfrm>
            <a:off x="728115" y="3708252"/>
            <a:ext cx="1456230" cy="338653"/>
          </a:xfrm>
          <a:prstGeom prst="rect">
            <a:avLst/>
          </a:prstGeom>
          <a:noFill/>
        </p:spPr>
        <p:txBody>
          <a:bodyPr wrap="square" lIns="0" rIns="0" tIns="0" bIns="0" anchor="t">
            <a:spAutoFit/>
          </a:bodyPr>
          <a:lstStyle/>
          <a:p>
            <a:pPr algn="ctr"/>
            <a:r>
              <a:rPr sz="3000" b="0" i="1">
                <a:solidFill>
                  <a:srgbClr val="0E0E0E"/>
                </a:solidFill>
                <a:latin typeface="Snell Roundhand"/>
              </a:rPr>
              <a:t>she, again.</a:t>
            </a:r>
          </a:p>
        </p:txBody>
      </p:sp>
      <p:sp>
        <p:nvSpPr>
          <p:cNvPr id="14" name="TextBox 13"/>
          <p:cNvSpPr txBox="1"/>
          <p:nvPr/>
        </p:nvSpPr>
        <p:spPr>
          <a:xfrm>
            <a:off x="761981" y="4131568"/>
            <a:ext cx="1388499" cy="507980"/>
          </a:xfrm>
          <a:prstGeom prst="rect">
            <a:avLst/>
          </a:prstGeom>
          <a:noFill/>
        </p:spPr>
        <p:txBody>
          <a:bodyPr wrap="square" lIns="0" rIns="0" tIns="0" bIns="0" anchor="t">
            <a:spAutoFit/>
          </a:bodyPr>
          <a:lstStyle/>
          <a:p>
            <a:pPr algn="ctr">
              <a:lnSpc>
                <a:spcPct val="135000"/>
              </a:lnSpc>
            </a:pPr>
            <a:r>
              <a:rPr sz="1200" b="0" i="1">
                <a:solidFill>
                  <a:srgbClr val="0E0E0E"/>
                </a:solidFill>
                <a:latin typeface="Didot"/>
              </a:rPr>
              <a:t>A hairline that disappears into skin.</a:t>
            </a:r>
          </a:p>
        </p:txBody>
      </p:sp>
      <p:sp>
        <p:nvSpPr>
          <p:cNvPr id="15" name="TextBox 14"/>
          <p:cNvSpPr txBox="1"/>
          <p:nvPr/>
        </p:nvSpPr>
        <p:spPr>
          <a:xfrm>
            <a:off x="609585" y="5520046"/>
            <a:ext cx="1693291" cy="135461"/>
          </a:xfrm>
          <a:prstGeom prst="rect">
            <a:avLst/>
          </a:prstGeom>
          <a:noFill/>
        </p:spPr>
        <p:txBody>
          <a:bodyPr wrap="square" lIns="0" rIns="0" tIns="0" bIns="0" anchor="t">
            <a:spAutoFit/>
          </a:bodyPr>
          <a:lstStyle/>
          <a:p>
            <a:pPr algn="l"/>
            <a:r>
              <a:rPr sz="900" b="0" i="0" spc="200">
                <a:solidFill>
                  <a:srgbClr val="8B8480"/>
                </a:solidFill>
                <a:latin typeface="Futura LT"/>
              </a:rPr>
              <a:t>QUOTE</a:t>
            </a:r>
          </a:p>
        </p:txBody>
      </p:sp>
      <p:sp>
        <p:nvSpPr>
          <p:cNvPr id="16" name="Rectangle 15"/>
          <p:cNvSpPr/>
          <p:nvPr/>
        </p:nvSpPr>
        <p:spPr>
          <a:xfrm>
            <a:off x="3284984" y="2607629"/>
            <a:ext cx="1693291" cy="2793888"/>
          </a:xfrm>
          <a:prstGeom prst="rect">
            <a:avLst/>
          </a:prstGeom>
          <a:solidFill>
            <a:srgbClr val="B68F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3515" y="2726158"/>
            <a:ext cx="1456230" cy="118529"/>
          </a:xfrm>
          <a:prstGeom prst="rect">
            <a:avLst/>
          </a:prstGeom>
          <a:noFill/>
        </p:spPr>
        <p:txBody>
          <a:bodyPr wrap="square" lIns="0" rIns="0" tIns="0" bIns="0" anchor="t">
            <a:spAutoFit/>
          </a:bodyPr>
          <a:lstStyle/>
          <a:p>
            <a:pPr algn="l"/>
            <a:r>
              <a:rPr sz="800" b="0" i="0" spc="220">
                <a:solidFill>
                  <a:srgbClr val="FFFFFF"/>
                </a:solidFill>
                <a:latin typeface="Futura LT"/>
              </a:rPr>
              <a:t>BEHIND THE SCENES</a:t>
            </a:r>
          </a:p>
        </p:txBody>
      </p:sp>
      <p:sp>
        <p:nvSpPr>
          <p:cNvPr id="18" name="TextBox 17"/>
          <p:cNvSpPr txBox="1"/>
          <p:nvPr/>
        </p:nvSpPr>
        <p:spPr>
          <a:xfrm>
            <a:off x="3403515" y="3792915"/>
            <a:ext cx="1456230" cy="761970"/>
          </a:xfrm>
          <a:prstGeom prst="rect">
            <a:avLst/>
          </a:prstGeom>
          <a:noFill/>
        </p:spPr>
        <p:txBody>
          <a:bodyPr wrap="square" lIns="0" rIns="0" tIns="0" bIns="0" anchor="t">
            <a:spAutoFit/>
          </a:bodyPr>
          <a:lstStyle/>
          <a:p>
            <a:pPr algn="l"/>
            <a:r>
              <a:rPr sz="2200" b="0" i="0">
                <a:solidFill>
                  <a:srgbClr val="FFFFFF"/>
                </a:solidFill>
                <a:latin typeface="Didot"/>
              </a:rPr>
              <a:t>Knot by
</a:t>
            </a:r>
            <a:r>
              <a:rPr sz="2200" b="0" i="1">
                <a:solidFill>
                  <a:srgbClr val="FFFFFF"/>
                </a:solidFill>
                <a:latin typeface="Didot"/>
              </a:rPr>
              <a:t>knot.</a:t>
            </a:r>
          </a:p>
        </p:txBody>
      </p:sp>
      <p:sp>
        <p:nvSpPr>
          <p:cNvPr id="19" name="TextBox 18"/>
          <p:cNvSpPr txBox="1"/>
          <p:nvPr/>
        </p:nvSpPr>
        <p:spPr>
          <a:xfrm>
            <a:off x="3403515" y="5028999"/>
            <a:ext cx="1456230" cy="118529"/>
          </a:xfrm>
          <a:prstGeom prst="rect">
            <a:avLst/>
          </a:prstGeom>
          <a:noFill/>
        </p:spPr>
        <p:txBody>
          <a:bodyPr wrap="square" lIns="0" rIns="0" tIns="0" bIns="0" anchor="t">
            <a:spAutoFit/>
          </a:bodyPr>
          <a:lstStyle/>
          <a:p>
            <a:pPr algn="l"/>
            <a:r>
              <a:rPr sz="800" b="0" i="0" spc="220">
                <a:solidFill>
                  <a:srgbClr val="FFFFFF"/>
                </a:solidFill>
                <a:latin typeface="Futura LT"/>
              </a:rPr>
              <a:t>ATELIER · NYC</a:t>
            </a:r>
          </a:p>
        </p:txBody>
      </p:sp>
      <p:sp>
        <p:nvSpPr>
          <p:cNvPr id="20" name="TextBox 19"/>
          <p:cNvSpPr txBox="1"/>
          <p:nvPr/>
        </p:nvSpPr>
        <p:spPr>
          <a:xfrm>
            <a:off x="3284984" y="5520046"/>
            <a:ext cx="1693291" cy="135461"/>
          </a:xfrm>
          <a:prstGeom prst="rect">
            <a:avLst/>
          </a:prstGeom>
          <a:noFill/>
        </p:spPr>
        <p:txBody>
          <a:bodyPr wrap="square" lIns="0" rIns="0" tIns="0" bIns="0" anchor="t">
            <a:spAutoFit/>
          </a:bodyPr>
          <a:lstStyle/>
          <a:p>
            <a:pPr algn="l"/>
            <a:r>
              <a:rPr sz="900" b="0" i="0" spc="200">
                <a:solidFill>
                  <a:srgbClr val="8B8480"/>
                </a:solidFill>
                <a:latin typeface="Futura LT"/>
              </a:rPr>
              <a:t>BEHIND THE SCENES</a:t>
            </a:r>
          </a:p>
        </p:txBody>
      </p:sp>
      <p:sp>
        <p:nvSpPr>
          <p:cNvPr id="21" name="Rectangle 20"/>
          <p:cNvSpPr/>
          <p:nvPr/>
        </p:nvSpPr>
        <p:spPr>
          <a:xfrm>
            <a:off x="5960384" y="2607629"/>
            <a:ext cx="1693291" cy="2793888"/>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78915" y="2726158"/>
            <a:ext cx="1456230" cy="118529"/>
          </a:xfrm>
          <a:prstGeom prst="rect">
            <a:avLst/>
          </a:prstGeom>
          <a:noFill/>
        </p:spPr>
        <p:txBody>
          <a:bodyPr wrap="square" lIns="0" rIns="0" tIns="0" bIns="0" anchor="t">
            <a:spAutoFit/>
          </a:bodyPr>
          <a:lstStyle/>
          <a:p>
            <a:pPr algn="l"/>
            <a:r>
              <a:rPr sz="800" b="0" i="0" spc="220">
                <a:solidFill>
                  <a:srgbClr val="FFFFFF"/>
                </a:solidFill>
                <a:latin typeface="Futura LT"/>
              </a:rPr>
              <a:t>FAQ</a:t>
            </a:r>
          </a:p>
        </p:txBody>
      </p:sp>
      <p:sp>
        <p:nvSpPr>
          <p:cNvPr id="23" name="TextBox 22"/>
          <p:cNvSpPr txBox="1"/>
          <p:nvPr/>
        </p:nvSpPr>
        <p:spPr>
          <a:xfrm>
            <a:off x="6078915" y="3708252"/>
            <a:ext cx="1456230" cy="135461"/>
          </a:xfrm>
          <a:prstGeom prst="rect">
            <a:avLst/>
          </a:prstGeom>
          <a:noFill/>
        </p:spPr>
        <p:txBody>
          <a:bodyPr wrap="square" lIns="0" rIns="0" tIns="0" bIns="0" anchor="t">
            <a:spAutoFit/>
          </a:bodyPr>
          <a:lstStyle/>
          <a:p>
            <a:pPr algn="l"/>
            <a:r>
              <a:rPr sz="800" b="0" i="0" spc="240">
                <a:solidFill>
                  <a:srgbClr val="C9AC7F"/>
                </a:solidFill>
                <a:latin typeface="Futura LT"/>
              </a:rPr>
              <a:t>QUESTION 03</a:t>
            </a:r>
          </a:p>
        </p:txBody>
      </p:sp>
      <p:sp>
        <p:nvSpPr>
          <p:cNvPr id="24" name="TextBox 23"/>
          <p:cNvSpPr txBox="1"/>
          <p:nvPr/>
        </p:nvSpPr>
        <p:spPr>
          <a:xfrm>
            <a:off x="6078915" y="3928376"/>
            <a:ext cx="1456230" cy="507980"/>
          </a:xfrm>
          <a:prstGeom prst="rect">
            <a:avLst/>
          </a:prstGeom>
          <a:noFill/>
        </p:spPr>
        <p:txBody>
          <a:bodyPr wrap="square" lIns="0" rIns="0" tIns="0" bIns="0" anchor="t">
            <a:spAutoFit/>
          </a:bodyPr>
          <a:lstStyle/>
          <a:p>
            <a:pPr algn="l">
              <a:lnSpc>
                <a:spcPct val="125000"/>
              </a:lnSpc>
            </a:pPr>
            <a:r>
              <a:rPr sz="1500" b="0" i="1">
                <a:solidFill>
                  <a:srgbClr val="FFFFFF"/>
                </a:solidFill>
                <a:latin typeface="Didot"/>
              </a:rPr>
              <a:t>How long does a fitting take?</a:t>
            </a:r>
          </a:p>
        </p:txBody>
      </p:sp>
      <p:sp>
        <p:nvSpPr>
          <p:cNvPr id="25" name="TextBox 24"/>
          <p:cNvSpPr txBox="1"/>
          <p:nvPr/>
        </p:nvSpPr>
        <p:spPr>
          <a:xfrm>
            <a:off x="6078915" y="4537952"/>
            <a:ext cx="1456230" cy="507980"/>
          </a:xfrm>
          <a:prstGeom prst="rect">
            <a:avLst/>
          </a:prstGeom>
          <a:noFill/>
        </p:spPr>
        <p:txBody>
          <a:bodyPr wrap="square" lIns="0" rIns="0" tIns="0" bIns="0" anchor="t">
            <a:spAutoFit/>
          </a:bodyPr>
          <a:lstStyle/>
          <a:p>
            <a:pPr algn="l">
              <a:lnSpc>
                <a:spcPct val="155000"/>
              </a:lnSpc>
            </a:pPr>
            <a:r>
              <a:rPr sz="1000" b="0" i="0">
                <a:solidFill>
                  <a:srgbClr val="FFFFFF"/>
                </a:solidFill>
                <a:latin typeface="Futura LT"/>
              </a:rPr>
              <a:t>About ninety minutes. We start with listening.</a:t>
            </a:r>
          </a:p>
        </p:txBody>
      </p:sp>
      <p:sp>
        <p:nvSpPr>
          <p:cNvPr id="26" name="TextBox 25"/>
          <p:cNvSpPr txBox="1"/>
          <p:nvPr/>
        </p:nvSpPr>
        <p:spPr>
          <a:xfrm>
            <a:off x="5960384" y="5520046"/>
            <a:ext cx="1693291" cy="135461"/>
          </a:xfrm>
          <a:prstGeom prst="rect">
            <a:avLst/>
          </a:prstGeom>
          <a:noFill/>
        </p:spPr>
        <p:txBody>
          <a:bodyPr wrap="square" lIns="0" rIns="0" tIns="0" bIns="0" anchor="t">
            <a:spAutoFit/>
          </a:bodyPr>
          <a:lstStyle/>
          <a:p>
            <a:pPr algn="l"/>
            <a:r>
              <a:rPr sz="900" b="0" i="0" spc="200">
                <a:solidFill>
                  <a:srgbClr val="8B8480"/>
                </a:solidFill>
                <a:latin typeface="Futura LT"/>
              </a:rPr>
              <a:t>FAQ</a:t>
            </a:r>
          </a:p>
        </p:txBody>
      </p:sp>
      <p:sp>
        <p:nvSpPr>
          <p:cNvPr id="27" name="Rectangle 26"/>
          <p:cNvSpPr/>
          <p:nvPr/>
        </p:nvSpPr>
        <p:spPr>
          <a:xfrm>
            <a:off x="8635784" y="2607629"/>
            <a:ext cx="1693291" cy="2793888"/>
          </a:xfrm>
          <a:prstGeom prst="rect">
            <a:avLst/>
          </a:prstGeom>
          <a:solidFill>
            <a:srgbClr val="6E6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54314" y="2726158"/>
            <a:ext cx="1456230" cy="118529"/>
          </a:xfrm>
          <a:prstGeom prst="rect">
            <a:avLst/>
          </a:prstGeom>
          <a:noFill/>
        </p:spPr>
        <p:txBody>
          <a:bodyPr wrap="square" lIns="0" rIns="0" tIns="0" bIns="0" anchor="t">
            <a:spAutoFit/>
          </a:bodyPr>
          <a:lstStyle/>
          <a:p>
            <a:pPr algn="l"/>
            <a:r>
              <a:rPr sz="800" b="0" i="0" spc="220">
                <a:solidFill>
                  <a:srgbClr val="FFFFFF"/>
                </a:solidFill>
                <a:latin typeface="Futura LT"/>
              </a:rPr>
              <a:t>REELS · COVER</a:t>
            </a:r>
          </a:p>
        </p:txBody>
      </p:sp>
      <p:sp>
        <p:nvSpPr>
          <p:cNvPr id="29" name="TextBox 28"/>
          <p:cNvSpPr txBox="1"/>
          <p:nvPr/>
        </p:nvSpPr>
        <p:spPr>
          <a:xfrm>
            <a:off x="8754314" y="3792915"/>
            <a:ext cx="1456230" cy="761970"/>
          </a:xfrm>
          <a:prstGeom prst="rect">
            <a:avLst/>
          </a:prstGeom>
          <a:noFill/>
        </p:spPr>
        <p:txBody>
          <a:bodyPr wrap="square" lIns="0" rIns="0" tIns="0" bIns="0" anchor="t">
            <a:spAutoFit/>
          </a:bodyPr>
          <a:lstStyle/>
          <a:p>
            <a:pPr algn="l"/>
            <a:r>
              <a:rPr sz="2000" b="0" i="0">
                <a:solidFill>
                  <a:srgbClr val="FFFFFF"/>
                </a:solidFill>
                <a:latin typeface="Didot"/>
              </a:rPr>
              <a:t>Crown
your </a:t>
            </a:r>
            <a:r>
              <a:rPr sz="3200" b="0" i="1">
                <a:solidFill>
                  <a:srgbClr val="C9AC7F"/>
                </a:solidFill>
                <a:latin typeface="Snell Roundhand"/>
              </a:rPr>
              <a:t>confidence</a:t>
            </a:r>
          </a:p>
        </p:txBody>
      </p:sp>
      <p:sp>
        <p:nvSpPr>
          <p:cNvPr id="30" name="TextBox 29"/>
          <p:cNvSpPr txBox="1"/>
          <p:nvPr/>
        </p:nvSpPr>
        <p:spPr>
          <a:xfrm>
            <a:off x="8754314" y="5147527"/>
            <a:ext cx="1456230" cy="135461"/>
          </a:xfrm>
          <a:prstGeom prst="rect">
            <a:avLst/>
          </a:prstGeom>
          <a:noFill/>
        </p:spPr>
        <p:txBody>
          <a:bodyPr wrap="square" lIns="0" rIns="0" tIns="0" bIns="0" anchor="t">
            <a:spAutoFit/>
          </a:bodyPr>
          <a:lstStyle/>
          <a:p>
            <a:pPr algn="l"/>
            <a:r>
              <a:rPr sz="800" b="0" i="0" spc="220">
                <a:solidFill>
                  <a:srgbClr val="FFFFFF"/>
                </a:solidFill>
                <a:latin typeface="Futura LT"/>
              </a:rPr>
              <a:t>EPISODE 04 · 0:32</a:t>
            </a:r>
          </a:p>
        </p:txBody>
      </p:sp>
      <p:sp>
        <p:nvSpPr>
          <p:cNvPr id="31" name="TextBox 30"/>
          <p:cNvSpPr txBox="1"/>
          <p:nvPr/>
        </p:nvSpPr>
        <p:spPr>
          <a:xfrm>
            <a:off x="8635784" y="5520046"/>
            <a:ext cx="1693291" cy="135461"/>
          </a:xfrm>
          <a:prstGeom prst="rect">
            <a:avLst/>
          </a:prstGeom>
          <a:noFill/>
        </p:spPr>
        <p:txBody>
          <a:bodyPr wrap="square" lIns="0" rIns="0" tIns="0" bIns="0" anchor="t">
            <a:spAutoFit/>
          </a:bodyPr>
          <a:lstStyle/>
          <a:p>
            <a:pPr algn="l"/>
            <a:r>
              <a:rPr sz="900" b="0" i="0" spc="200">
                <a:solidFill>
                  <a:srgbClr val="8B8480"/>
                </a:solidFill>
                <a:latin typeface="Futura LT"/>
              </a:rPr>
              <a:t>REELS · COVER</a:t>
            </a:r>
          </a:p>
        </p:txBody>
      </p:sp>
      <p:cxnSp>
        <p:nvCxnSpPr>
          <p:cNvPr id="32" name="Connector 31"/>
          <p:cNvCxnSpPr/>
          <p:nvPr/>
        </p:nvCxnSpPr>
        <p:spPr>
          <a:xfrm>
            <a:off x="609585" y="56893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585" y="585869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CAPTION TONE</a:t>
            </a:r>
          </a:p>
        </p:txBody>
      </p:sp>
      <p:sp>
        <p:nvSpPr>
          <p:cNvPr id="34" name="TextBox 33"/>
          <p:cNvSpPr txBox="1"/>
          <p:nvPr/>
        </p:nvSpPr>
        <p:spPr>
          <a:xfrm>
            <a:off x="609585" y="6095756"/>
            <a:ext cx="2539936" cy="761970"/>
          </a:xfrm>
          <a:prstGeom prst="rect">
            <a:avLst/>
          </a:prstGeom>
          <a:noFill/>
        </p:spPr>
        <p:txBody>
          <a:bodyPr wrap="square" lIns="0" rIns="0" tIns="0" bIns="0" anchor="t">
            <a:spAutoFit/>
          </a:bodyPr>
          <a:lstStyle/>
          <a:p>
            <a:pPr algn="l">
              <a:lnSpc>
                <a:spcPct val="150000"/>
              </a:lnSpc>
            </a:pPr>
            <a:r>
              <a:rPr sz="1100" b="0" i="0">
                <a:solidFill>
                  <a:srgbClr val="0E0E0E"/>
                </a:solidFill>
                <a:latin typeface="Futura LT"/>
              </a:rPr>
              <a:t>3–5 short sentences. Lower-case for warmth, full stops always. No emoji. Em-dash and middle-dot welcome.</a:t>
            </a:r>
          </a:p>
        </p:txBody>
      </p:sp>
      <p:sp>
        <p:nvSpPr>
          <p:cNvPr id="35" name="TextBox 34"/>
          <p:cNvSpPr txBox="1"/>
          <p:nvPr/>
        </p:nvSpPr>
        <p:spPr>
          <a:xfrm>
            <a:off x="3352716" y="585869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HASHTAGS</a:t>
            </a:r>
          </a:p>
        </p:txBody>
      </p:sp>
      <p:sp>
        <p:nvSpPr>
          <p:cNvPr id="36" name="TextBox 35"/>
          <p:cNvSpPr txBox="1"/>
          <p:nvPr/>
        </p:nvSpPr>
        <p:spPr>
          <a:xfrm>
            <a:off x="3352716" y="6095756"/>
            <a:ext cx="2539936" cy="761970"/>
          </a:xfrm>
          <a:prstGeom prst="rect">
            <a:avLst/>
          </a:prstGeom>
          <a:noFill/>
        </p:spPr>
        <p:txBody>
          <a:bodyPr wrap="square" lIns="0" rIns="0" tIns="0" bIns="0" anchor="t">
            <a:spAutoFit/>
          </a:bodyPr>
          <a:lstStyle/>
          <a:p>
            <a:pPr algn="l">
              <a:lnSpc>
                <a:spcPct val="150000"/>
              </a:lnSpc>
            </a:pPr>
            <a:r>
              <a:rPr sz="1100" b="0" i="0">
                <a:solidFill>
                  <a:srgbClr val="0E0E0E"/>
                </a:solidFill>
                <a:latin typeface="Futura LT"/>
              </a:rPr>
              <a:t>3 brand · 3 niche · 3 NYC. e.g. #shlomimorwigs #crownyourconfidence #customwigs #medicalwigs #nycatelier</a:t>
            </a:r>
          </a:p>
        </p:txBody>
      </p:sp>
      <p:sp>
        <p:nvSpPr>
          <p:cNvPr id="37" name="TextBox 36"/>
          <p:cNvSpPr txBox="1"/>
          <p:nvPr/>
        </p:nvSpPr>
        <p:spPr>
          <a:xfrm>
            <a:off x="6095848" y="585869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CADENCE</a:t>
            </a:r>
          </a:p>
        </p:txBody>
      </p:sp>
      <p:sp>
        <p:nvSpPr>
          <p:cNvPr id="38" name="TextBox 37"/>
          <p:cNvSpPr txBox="1"/>
          <p:nvPr/>
        </p:nvSpPr>
        <p:spPr>
          <a:xfrm>
            <a:off x="6095848" y="6095756"/>
            <a:ext cx="2539936" cy="761970"/>
          </a:xfrm>
          <a:prstGeom prst="rect">
            <a:avLst/>
          </a:prstGeom>
          <a:noFill/>
        </p:spPr>
        <p:txBody>
          <a:bodyPr wrap="square" lIns="0" rIns="0" tIns="0" bIns="0" anchor="t">
            <a:spAutoFit/>
          </a:bodyPr>
          <a:lstStyle/>
          <a:p>
            <a:pPr algn="l">
              <a:lnSpc>
                <a:spcPct val="150000"/>
              </a:lnSpc>
            </a:pPr>
            <a:r>
              <a:rPr sz="1100" b="0" i="0">
                <a:solidFill>
                  <a:srgbClr val="0E0E0E"/>
                </a:solidFill>
                <a:latin typeface="Futura LT"/>
              </a:rPr>
              <a:t>4 grid posts / week · 5–7 stories / day · 1 reel / week. Tuesday + Friday are story-heavy days.</a:t>
            </a:r>
          </a:p>
        </p:txBody>
      </p:sp>
      <p:sp>
        <p:nvSpPr>
          <p:cNvPr id="39" name="TextBox 38"/>
          <p:cNvSpPr txBox="1"/>
          <p:nvPr/>
        </p:nvSpPr>
        <p:spPr>
          <a:xfrm>
            <a:off x="8838979" y="5858699"/>
            <a:ext cx="2370607" cy="135461"/>
          </a:xfrm>
          <a:prstGeom prst="rect">
            <a:avLst/>
          </a:prstGeom>
          <a:noFill/>
        </p:spPr>
        <p:txBody>
          <a:bodyPr wrap="square" lIns="0" rIns="0" tIns="0" bIns="0" anchor="t">
            <a:spAutoFit/>
          </a:bodyPr>
          <a:lstStyle/>
          <a:p>
            <a:pPr algn="l"/>
            <a:r>
              <a:rPr sz="1000" b="0" i="0" spc="200">
                <a:solidFill>
                  <a:srgbClr val="0E0E0E"/>
                </a:solidFill>
                <a:latin typeface="Futura LT"/>
              </a:rPr>
              <a:t>SAFE ZONES</a:t>
            </a:r>
          </a:p>
        </p:txBody>
      </p:sp>
      <p:sp>
        <p:nvSpPr>
          <p:cNvPr id="40" name="TextBox 39"/>
          <p:cNvSpPr txBox="1"/>
          <p:nvPr/>
        </p:nvSpPr>
        <p:spPr>
          <a:xfrm>
            <a:off x="8838979" y="6095756"/>
            <a:ext cx="2539936" cy="761970"/>
          </a:xfrm>
          <a:prstGeom prst="rect">
            <a:avLst/>
          </a:prstGeom>
          <a:noFill/>
        </p:spPr>
        <p:txBody>
          <a:bodyPr wrap="square" lIns="0" rIns="0" tIns="0" bIns="0" anchor="t">
            <a:spAutoFit/>
          </a:bodyPr>
          <a:lstStyle/>
          <a:p>
            <a:pPr algn="l">
              <a:lnSpc>
                <a:spcPct val="150000"/>
              </a:lnSpc>
            </a:pPr>
            <a:r>
              <a:rPr sz="1100" b="0" i="0">
                <a:solidFill>
                  <a:srgbClr val="0E0E0E"/>
                </a:solidFill>
                <a:latin typeface="Futura LT"/>
              </a:rPr>
              <a:t>Story 1080×1920. Keep type 220 px from top, 320 px from bottom. Reels cover 1080×1920, centered lockup.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FB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585" y="474114"/>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APPLICATIONS</a:t>
            </a:r>
          </a:p>
        </p:txBody>
      </p:sp>
      <p:sp>
        <p:nvSpPr>
          <p:cNvPr id="4" name="TextBox 3"/>
          <p:cNvSpPr txBox="1"/>
          <p:nvPr/>
        </p:nvSpPr>
        <p:spPr>
          <a:xfrm>
            <a:off x="10735465" y="474114"/>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23</a:t>
            </a:r>
          </a:p>
        </p:txBody>
      </p:sp>
      <p:cxnSp>
        <p:nvCxnSpPr>
          <p:cNvPr id="5" name="Connector 4"/>
          <p:cNvCxnSpPr/>
          <p:nvPr/>
        </p:nvCxnSpPr>
        <p:spPr>
          <a:xfrm>
            <a:off x="609585" y="711172"/>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585" y="6942389"/>
            <a:ext cx="10972525" cy="0"/>
          </a:xfrm>
          <a:prstGeom prst="line">
            <a:avLst/>
          </a:prstGeom>
          <a:ln w="6350">
            <a:solidFill>
              <a:srgbClr val="D9D2C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585" y="7043985"/>
            <a:ext cx="5926518" cy="135461"/>
          </a:xfrm>
          <a:prstGeom prst="rect">
            <a:avLst/>
          </a:prstGeom>
          <a:noFill/>
        </p:spPr>
        <p:txBody>
          <a:bodyPr wrap="square" lIns="0" rIns="0" tIns="0" bIns="0" anchor="t">
            <a:spAutoFit/>
          </a:bodyPr>
          <a:lstStyle/>
          <a:p>
            <a:pPr algn="l"/>
            <a:r>
              <a:rPr sz="1000" b="0" i="0" spc="180">
                <a:solidFill>
                  <a:srgbClr val="8B8480"/>
                </a:solidFill>
                <a:latin typeface="Futura LT"/>
              </a:rPr>
              <a:t>APPLICATIONS</a:t>
            </a:r>
          </a:p>
        </p:txBody>
      </p:sp>
      <p:sp>
        <p:nvSpPr>
          <p:cNvPr id="8" name="TextBox 7"/>
          <p:cNvSpPr txBox="1"/>
          <p:nvPr/>
        </p:nvSpPr>
        <p:spPr>
          <a:xfrm>
            <a:off x="10735465" y="7043985"/>
            <a:ext cx="846645" cy="135461"/>
          </a:xfrm>
          <a:prstGeom prst="rect">
            <a:avLst/>
          </a:prstGeom>
          <a:noFill/>
        </p:spPr>
        <p:txBody>
          <a:bodyPr wrap="square" lIns="0" rIns="0" tIns="0" bIns="0" anchor="t">
            <a:spAutoFit/>
          </a:bodyPr>
          <a:lstStyle/>
          <a:p>
            <a:pPr algn="r"/>
            <a:r>
              <a:rPr sz="1000" b="0" i="0" spc="180">
                <a:solidFill>
                  <a:srgbClr val="8B8480"/>
                </a:solidFill>
                <a:latin typeface="Futura LT"/>
              </a:rPr>
              <a:t>23</a:t>
            </a:r>
          </a:p>
        </p:txBody>
      </p:sp>
      <p:sp>
        <p:nvSpPr>
          <p:cNvPr id="9" name="TextBox 8"/>
          <p:cNvSpPr txBox="1"/>
          <p:nvPr/>
        </p:nvSpPr>
        <p:spPr>
          <a:xfrm>
            <a:off x="609585" y="1049825"/>
            <a:ext cx="9313100" cy="169327"/>
          </a:xfrm>
          <a:prstGeom prst="rect">
            <a:avLst/>
          </a:prstGeom>
          <a:noFill/>
        </p:spPr>
        <p:txBody>
          <a:bodyPr wrap="square" lIns="0" rIns="0" tIns="0" bIns="0" anchor="t">
            <a:spAutoFit/>
          </a:bodyPr>
          <a:lstStyle/>
          <a:p>
            <a:pPr algn="l"/>
            <a:r>
              <a:rPr sz="1000" b="0" i="0" spc="200">
                <a:solidFill>
                  <a:srgbClr val="8B8480"/>
                </a:solidFill>
                <a:latin typeface="Futura LT"/>
              </a:rPr>
              <a:t>23 — APPLICATIONS</a:t>
            </a:r>
          </a:p>
        </p:txBody>
      </p:sp>
      <p:sp>
        <p:nvSpPr>
          <p:cNvPr id="10" name="TextBox 9"/>
          <p:cNvSpPr txBox="1"/>
          <p:nvPr/>
        </p:nvSpPr>
        <p:spPr>
          <a:xfrm>
            <a:off x="609585" y="1354612"/>
            <a:ext cx="10972526" cy="677306"/>
          </a:xfrm>
          <a:prstGeom prst="rect">
            <a:avLst/>
          </a:prstGeom>
          <a:noFill/>
        </p:spPr>
        <p:txBody>
          <a:bodyPr wrap="square" lIns="0" rIns="0" tIns="0" bIns="0" anchor="t">
            <a:spAutoFit/>
          </a:bodyPr>
          <a:lstStyle/>
          <a:p>
            <a:pPr algn="l"/>
            <a:r>
              <a:rPr sz="5600" b="0" i="0">
                <a:solidFill>
                  <a:srgbClr val="0E0E0E"/>
                </a:solidFill>
                <a:latin typeface="Didot"/>
              </a:rPr>
              <a:t>In the </a:t>
            </a:r>
            <a:r>
              <a:rPr sz="5600" b="0" i="1">
                <a:solidFill>
                  <a:srgbClr val="0E0E0E"/>
                </a:solidFill>
                <a:latin typeface="Didot"/>
              </a:rPr>
              <a:t>world.</a:t>
            </a:r>
          </a:p>
        </p:txBody>
      </p:sp>
      <p:sp>
        <p:nvSpPr>
          <p:cNvPr id="11" name="Rectangle 10"/>
          <p:cNvSpPr/>
          <p:nvPr/>
        </p:nvSpPr>
        <p:spPr>
          <a:xfrm>
            <a:off x="609585" y="2709225"/>
            <a:ext cx="2709266" cy="1693266"/>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lomi-mor-logo-black.png"/>
          <p:cNvPicPr>
            <a:picLocks noChangeAspect="1"/>
          </p:cNvPicPr>
          <p:nvPr/>
        </p:nvPicPr>
        <p:blipFill>
          <a:blip r:embed="rId2"/>
          <a:stretch>
            <a:fillRect/>
          </a:stretch>
        </p:blipFill>
        <p:spPr>
          <a:xfrm>
            <a:off x="1601218" y="3259536"/>
            <a:ext cx="725999" cy="592643"/>
          </a:xfrm>
          <a:prstGeom prst="rect">
            <a:avLst/>
          </a:prstGeom>
        </p:spPr>
      </p:pic>
      <p:sp>
        <p:nvSpPr>
          <p:cNvPr id="13" name="TextBox 12"/>
          <p:cNvSpPr txBox="1"/>
          <p:nvPr/>
        </p:nvSpPr>
        <p:spPr>
          <a:xfrm>
            <a:off x="761981" y="4131568"/>
            <a:ext cx="2370607" cy="118529"/>
          </a:xfrm>
          <a:prstGeom prst="rect">
            <a:avLst/>
          </a:prstGeom>
          <a:noFill/>
        </p:spPr>
        <p:txBody>
          <a:bodyPr wrap="square" lIns="0" rIns="0" tIns="0" bIns="0" anchor="t">
            <a:spAutoFit/>
          </a:bodyPr>
          <a:lstStyle/>
          <a:p>
            <a:pPr algn="ctr"/>
            <a:r>
              <a:rPr sz="900" b="0" i="0" spc="200">
                <a:solidFill>
                  <a:srgbClr val="8B8480"/>
                </a:solidFill>
                <a:latin typeface="Futura LT"/>
              </a:rPr>
              <a:t>BUSINESS CARD · FRONT</a:t>
            </a:r>
          </a:p>
        </p:txBody>
      </p:sp>
      <p:sp>
        <p:nvSpPr>
          <p:cNvPr id="14" name="Rectangle 13"/>
          <p:cNvSpPr/>
          <p:nvPr/>
        </p:nvSpPr>
        <p:spPr>
          <a:xfrm>
            <a:off x="3471246" y="2709225"/>
            <a:ext cx="2709266" cy="1693266"/>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40576" y="2878551"/>
            <a:ext cx="2370607" cy="118529"/>
          </a:xfrm>
          <a:prstGeom prst="rect">
            <a:avLst/>
          </a:prstGeom>
          <a:noFill/>
        </p:spPr>
        <p:txBody>
          <a:bodyPr wrap="square" lIns="0" rIns="0" tIns="0" bIns="0" anchor="t">
            <a:spAutoFit/>
          </a:bodyPr>
          <a:lstStyle/>
          <a:p>
            <a:pPr algn="l"/>
            <a:r>
              <a:rPr sz="2200" b="0" i="0">
                <a:solidFill>
                  <a:srgbClr val="FFFFFF"/>
                </a:solidFill>
                <a:latin typeface="Didot"/>
              </a:rPr>
              <a:t>Shlomi Mor</a:t>
            </a:r>
          </a:p>
        </p:txBody>
      </p:sp>
      <p:sp>
        <p:nvSpPr>
          <p:cNvPr id="16" name="TextBox 15"/>
          <p:cNvSpPr txBox="1"/>
          <p:nvPr/>
        </p:nvSpPr>
        <p:spPr>
          <a:xfrm>
            <a:off x="3640576" y="3183339"/>
            <a:ext cx="2370607" cy="118529"/>
          </a:xfrm>
          <a:prstGeom prst="rect">
            <a:avLst/>
          </a:prstGeom>
          <a:noFill/>
        </p:spPr>
        <p:txBody>
          <a:bodyPr wrap="square" lIns="0" rIns="0" tIns="0" bIns="0" anchor="t">
            <a:spAutoFit/>
          </a:bodyPr>
          <a:lstStyle/>
          <a:p>
            <a:pPr algn="l"/>
            <a:r>
              <a:rPr sz="900" b="0" i="0" spc="180">
                <a:solidFill>
                  <a:srgbClr val="C9C4BF"/>
                </a:solidFill>
                <a:latin typeface="Futura LT"/>
              </a:rPr>
              <a:t>MASTER WIGMAKER · OWNER</a:t>
            </a:r>
          </a:p>
        </p:txBody>
      </p:sp>
      <p:sp>
        <p:nvSpPr>
          <p:cNvPr id="17" name="TextBox 16"/>
          <p:cNvSpPr txBox="1"/>
          <p:nvPr/>
        </p:nvSpPr>
        <p:spPr>
          <a:xfrm>
            <a:off x="3640576" y="3979174"/>
            <a:ext cx="2370607" cy="118529"/>
          </a:xfrm>
          <a:prstGeom prst="rect">
            <a:avLst/>
          </a:prstGeom>
          <a:noFill/>
        </p:spPr>
        <p:txBody>
          <a:bodyPr wrap="square" lIns="0" rIns="0" tIns="0" bIns="0" anchor="t">
            <a:spAutoFit/>
          </a:bodyPr>
          <a:lstStyle/>
          <a:p>
            <a:pPr algn="l"/>
            <a:r>
              <a:rPr sz="900" b="0" i="0" spc="180">
                <a:solidFill>
                  <a:srgbClr val="FFFFFF"/>
                </a:solidFill>
                <a:latin typeface="Futura LT"/>
              </a:rPr>
              <a:t>SHLOMIMORWIGS.COM</a:t>
            </a:r>
          </a:p>
        </p:txBody>
      </p:sp>
      <p:sp>
        <p:nvSpPr>
          <p:cNvPr id="18" name="Rectangle 17"/>
          <p:cNvSpPr/>
          <p:nvPr/>
        </p:nvSpPr>
        <p:spPr>
          <a:xfrm>
            <a:off x="6332908" y="2709225"/>
            <a:ext cx="2031949" cy="1693266"/>
          </a:xfrm>
          <a:prstGeom prst="rect">
            <a:avLst/>
          </a:prstGeom>
          <a:solidFill>
            <a:srgbClr val="FCE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hlomi-mor-monogram-black.png"/>
          <p:cNvPicPr>
            <a:picLocks noChangeAspect="1"/>
          </p:cNvPicPr>
          <p:nvPr/>
        </p:nvPicPr>
        <p:blipFill>
          <a:blip r:embed="rId3"/>
          <a:stretch>
            <a:fillRect/>
          </a:stretch>
        </p:blipFill>
        <p:spPr>
          <a:xfrm>
            <a:off x="6998626" y="3259536"/>
            <a:ext cx="700514" cy="592643"/>
          </a:xfrm>
          <a:prstGeom prst="rect">
            <a:avLst/>
          </a:prstGeom>
        </p:spPr>
      </p:pic>
      <p:sp>
        <p:nvSpPr>
          <p:cNvPr id="20" name="TextBox 19"/>
          <p:cNvSpPr txBox="1"/>
          <p:nvPr/>
        </p:nvSpPr>
        <p:spPr>
          <a:xfrm>
            <a:off x="6502237" y="4131568"/>
            <a:ext cx="1693291" cy="118529"/>
          </a:xfrm>
          <a:prstGeom prst="rect">
            <a:avLst/>
          </a:prstGeom>
          <a:noFill/>
        </p:spPr>
        <p:txBody>
          <a:bodyPr wrap="square" lIns="0" rIns="0" tIns="0" bIns="0" anchor="t">
            <a:spAutoFit/>
          </a:bodyPr>
          <a:lstStyle/>
          <a:p>
            <a:pPr algn="ctr"/>
            <a:r>
              <a:rPr sz="900" b="0" i="0" spc="200">
                <a:solidFill>
                  <a:srgbClr val="6E6663"/>
                </a:solidFill>
                <a:latin typeface="Futura LT"/>
              </a:rPr>
              <a:t>DUST BAG</a:t>
            </a:r>
          </a:p>
        </p:txBody>
      </p:sp>
      <p:sp>
        <p:nvSpPr>
          <p:cNvPr id="21" name="Rectangle 20"/>
          <p:cNvSpPr/>
          <p:nvPr/>
        </p:nvSpPr>
        <p:spPr>
          <a:xfrm>
            <a:off x="8517254" y="2709225"/>
            <a:ext cx="2116614" cy="2116582"/>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hlomi-mor-monogram-white.png"/>
          <p:cNvPicPr>
            <a:picLocks noChangeAspect="1"/>
          </p:cNvPicPr>
          <p:nvPr/>
        </p:nvPicPr>
        <p:blipFill>
          <a:blip r:embed="rId4"/>
          <a:stretch>
            <a:fillRect/>
          </a:stretch>
        </p:blipFill>
        <p:spPr>
          <a:xfrm>
            <a:off x="9125230" y="3217205"/>
            <a:ext cx="900661" cy="761970"/>
          </a:xfrm>
          <a:prstGeom prst="rect">
            <a:avLst/>
          </a:prstGeom>
        </p:spPr>
      </p:pic>
      <p:sp>
        <p:nvSpPr>
          <p:cNvPr id="23" name="TextBox 22"/>
          <p:cNvSpPr txBox="1"/>
          <p:nvPr/>
        </p:nvSpPr>
        <p:spPr>
          <a:xfrm>
            <a:off x="8517254" y="4131568"/>
            <a:ext cx="2116614" cy="118529"/>
          </a:xfrm>
          <a:prstGeom prst="rect">
            <a:avLst/>
          </a:prstGeom>
          <a:noFill/>
        </p:spPr>
        <p:txBody>
          <a:bodyPr wrap="square" lIns="0" rIns="0" tIns="0" bIns="0" anchor="t">
            <a:spAutoFit/>
          </a:bodyPr>
          <a:lstStyle/>
          <a:p>
            <a:pPr algn="ctr"/>
            <a:r>
              <a:rPr sz="1000" b="0" i="0" spc="180">
                <a:solidFill>
                  <a:srgbClr val="FFFFFF"/>
                </a:solidFill>
                <a:latin typeface="Futura LT"/>
              </a:rPr>
              <a:t>@shlomimorwigs</a:t>
            </a:r>
          </a:p>
        </p:txBody>
      </p:sp>
      <p:sp>
        <p:nvSpPr>
          <p:cNvPr id="24" name="TextBox 23"/>
          <p:cNvSpPr txBox="1"/>
          <p:nvPr/>
        </p:nvSpPr>
        <p:spPr>
          <a:xfrm>
            <a:off x="8517254" y="4317827"/>
            <a:ext cx="2116614" cy="118529"/>
          </a:xfrm>
          <a:prstGeom prst="rect">
            <a:avLst/>
          </a:prstGeom>
          <a:noFill/>
        </p:spPr>
        <p:txBody>
          <a:bodyPr wrap="square" lIns="0" rIns="0" tIns="0" bIns="0" anchor="t">
            <a:spAutoFit/>
          </a:bodyPr>
          <a:lstStyle/>
          <a:p>
            <a:pPr algn="ctr"/>
            <a:r>
              <a:rPr sz="900" b="0" i="0" spc="200">
                <a:solidFill>
                  <a:srgbClr val="C9C4BF"/>
                </a:solidFill>
                <a:latin typeface="Futura LT"/>
              </a:rPr>
              <a:t>SOCIAL · INSTAGRAM 1:1</a:t>
            </a:r>
          </a:p>
        </p:txBody>
      </p:sp>
      <p:sp>
        <p:nvSpPr>
          <p:cNvPr id="25" name="Rectangle 24"/>
          <p:cNvSpPr/>
          <p:nvPr/>
        </p:nvSpPr>
        <p:spPr>
          <a:xfrm>
            <a:off x="609585" y="4910470"/>
            <a:ext cx="10024283" cy="1523939"/>
          </a:xfrm>
          <a:prstGeom prst="rect">
            <a:avLst/>
          </a:prstGeom>
          <a:solidFill>
            <a:srgbClr val="FBF8F4"/>
          </a:solidFill>
          <a:ln w="6350">
            <a:solidFill>
              <a:srgbClr val="D9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1310" y="5249123"/>
            <a:ext cx="5079873" cy="507980"/>
          </a:xfrm>
          <a:prstGeom prst="rect">
            <a:avLst/>
          </a:prstGeom>
          <a:noFill/>
        </p:spPr>
        <p:txBody>
          <a:bodyPr wrap="square" lIns="0" rIns="0" tIns="0" bIns="0" anchor="t">
            <a:spAutoFit/>
          </a:bodyPr>
          <a:lstStyle/>
          <a:p>
            <a:pPr algn="l"/>
            <a:r>
              <a:rPr sz="2800" b="0" i="0">
                <a:solidFill>
                  <a:srgbClr val="0E0E0E"/>
                </a:solidFill>
                <a:latin typeface="Didot"/>
              </a:rPr>
              <a:t>A wig that feels like you, only quieter.</a:t>
            </a:r>
          </a:p>
        </p:txBody>
      </p:sp>
      <p:sp>
        <p:nvSpPr>
          <p:cNvPr id="27" name="TextBox 26"/>
          <p:cNvSpPr txBox="1"/>
          <p:nvPr/>
        </p:nvSpPr>
        <p:spPr>
          <a:xfrm>
            <a:off x="931310" y="5841766"/>
            <a:ext cx="1693291" cy="203192"/>
          </a:xfrm>
          <a:prstGeom prst="rect">
            <a:avLst/>
          </a:prstGeom>
          <a:noFill/>
        </p:spPr>
        <p:txBody>
          <a:bodyPr wrap="square" lIns="0" rIns="0" tIns="0" bIns="0" anchor="t">
            <a:spAutoFit/>
          </a:bodyPr>
          <a:lstStyle/>
          <a:p>
            <a:pPr algn="l"/>
            <a:r>
              <a:rPr sz="1100" b="1" i="0" spc="180">
                <a:solidFill>
                  <a:srgbClr val="0E0E0E"/>
                </a:solidFill>
                <a:latin typeface="Futura LT"/>
              </a:rPr>
              <a:t>BOOK CONSULTATION →</a:t>
            </a:r>
          </a:p>
        </p:txBody>
      </p:sp>
      <p:pic>
        <p:nvPicPr>
          <p:cNvPr id="28" name="Picture 27" descr="shlomi-mor-monogram-black.png"/>
          <p:cNvPicPr>
            <a:picLocks noChangeAspect="1"/>
          </p:cNvPicPr>
          <p:nvPr/>
        </p:nvPicPr>
        <p:blipFill>
          <a:blip r:embed="rId3"/>
          <a:stretch>
            <a:fillRect/>
          </a:stretch>
        </p:blipFill>
        <p:spPr>
          <a:xfrm>
            <a:off x="9023548" y="5249123"/>
            <a:ext cx="1000735" cy="846633"/>
          </a:xfrm>
          <a:prstGeom prst="rect">
            <a:avLst/>
          </a:prstGeom>
        </p:spPr>
      </p:pic>
      <p:sp>
        <p:nvSpPr>
          <p:cNvPr id="29" name="TextBox 28"/>
          <p:cNvSpPr txBox="1"/>
          <p:nvPr/>
        </p:nvSpPr>
        <p:spPr>
          <a:xfrm>
            <a:off x="609585" y="6569870"/>
            <a:ext cx="10024283" cy="118529"/>
          </a:xfrm>
          <a:prstGeom prst="rect">
            <a:avLst/>
          </a:prstGeom>
          <a:noFill/>
        </p:spPr>
        <p:txBody>
          <a:bodyPr wrap="square" lIns="0" rIns="0" tIns="0" bIns="0" anchor="t">
            <a:spAutoFit/>
          </a:bodyPr>
          <a:lstStyle/>
          <a:p>
            <a:pPr algn="l"/>
            <a:r>
              <a:rPr sz="900" b="0" i="0" spc="200">
                <a:solidFill>
                  <a:srgbClr val="8B8480"/>
                </a:solidFill>
                <a:latin typeface="Futura LT"/>
              </a:rPr>
              <a:t>AD BANNER · 1200 × 600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19695"/>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lomi-mor-monogram-white.png"/>
          <p:cNvPicPr>
            <a:picLocks noChangeAspect="1"/>
          </p:cNvPicPr>
          <p:nvPr/>
        </p:nvPicPr>
        <p:blipFill>
          <a:blip r:embed="rId2"/>
          <a:stretch>
            <a:fillRect/>
          </a:stretch>
        </p:blipFill>
        <p:spPr>
          <a:xfrm>
            <a:off x="5195186" y="2031919"/>
            <a:ext cx="1801323" cy="1523939"/>
          </a:xfrm>
          <a:prstGeom prst="rect">
            <a:avLst/>
          </a:prstGeom>
        </p:spPr>
      </p:pic>
      <p:sp>
        <p:nvSpPr>
          <p:cNvPr id="4" name="TextBox 3"/>
          <p:cNvSpPr txBox="1"/>
          <p:nvPr/>
        </p:nvSpPr>
        <p:spPr>
          <a:xfrm>
            <a:off x="609585" y="4233164"/>
            <a:ext cx="10972526" cy="1015959"/>
          </a:xfrm>
          <a:prstGeom prst="rect">
            <a:avLst/>
          </a:prstGeom>
          <a:noFill/>
        </p:spPr>
        <p:txBody>
          <a:bodyPr wrap="square" lIns="0" rIns="0" tIns="0" bIns="0" anchor="t">
            <a:spAutoFit/>
          </a:bodyPr>
          <a:lstStyle/>
          <a:p>
            <a:pPr algn="ctr"/>
            <a:r>
              <a:rPr sz="5200" b="0" i="1">
                <a:solidFill>
                  <a:srgbClr val="C9AC7F"/>
                </a:solidFill>
                <a:latin typeface="Snell Roundhand"/>
              </a:rPr>
              <a:t>Crown </a:t>
            </a:r>
            <a:r>
              <a:rPr sz="5200" b="0" i="1">
                <a:solidFill>
                  <a:srgbClr val="FFFFFF"/>
                </a:solidFill>
                <a:latin typeface="Didot"/>
              </a:rPr>
              <a:t>your </a:t>
            </a:r>
            <a:r>
              <a:rPr sz="5200" b="0" i="0">
                <a:solidFill>
                  <a:srgbClr val="FFFFFF"/>
                </a:solidFill>
                <a:latin typeface="Didot"/>
              </a:rPr>
              <a:t>confidence.</a:t>
            </a:r>
          </a:p>
        </p:txBody>
      </p:sp>
      <p:sp>
        <p:nvSpPr>
          <p:cNvPr id="5" name="TextBox 4"/>
          <p:cNvSpPr txBox="1"/>
          <p:nvPr/>
        </p:nvSpPr>
        <p:spPr>
          <a:xfrm>
            <a:off x="609585" y="5418450"/>
            <a:ext cx="10972526" cy="135461"/>
          </a:xfrm>
          <a:prstGeom prst="rect">
            <a:avLst/>
          </a:prstGeom>
          <a:noFill/>
        </p:spPr>
        <p:txBody>
          <a:bodyPr wrap="square" lIns="0" rIns="0" tIns="0" bIns="0" anchor="t">
            <a:spAutoFit/>
          </a:bodyPr>
          <a:lstStyle/>
          <a:p>
            <a:pPr algn="ctr"/>
            <a:r>
              <a:rPr sz="1100" b="0" i="0" spc="200">
                <a:solidFill>
                  <a:srgbClr val="C9C4BF"/>
                </a:solidFill>
                <a:latin typeface="Futura LT"/>
              </a:rPr>
              <a:t>SHLOMIMORWIGS.COM   ·   INFO@SHLOMIMORWIGS.COM   ·   @SHLOMIMORWIGS</a:t>
            </a:r>
          </a:p>
        </p:txBody>
      </p:sp>
      <p:sp>
        <p:nvSpPr>
          <p:cNvPr id="6" name="TextBox 5"/>
          <p:cNvSpPr txBox="1"/>
          <p:nvPr/>
        </p:nvSpPr>
        <p:spPr>
          <a:xfrm>
            <a:off x="609585" y="5757103"/>
            <a:ext cx="10972526" cy="135461"/>
          </a:xfrm>
          <a:prstGeom prst="rect">
            <a:avLst/>
          </a:prstGeom>
          <a:noFill/>
        </p:spPr>
        <p:txBody>
          <a:bodyPr wrap="square" lIns="0" rIns="0" tIns="0" bIns="0" anchor="t">
            <a:spAutoFit/>
          </a:bodyPr>
          <a:lstStyle/>
          <a:p>
            <a:pPr algn="ctr"/>
            <a:r>
              <a:rPr sz="1000" b="0" i="0" spc="200">
                <a:solidFill>
                  <a:srgbClr val="8B8480"/>
                </a:solidFill>
                <a:latin typeface="Futura LT"/>
              </a:rPr>
              <a:t>SHLOMI MOR WIGS · 580 5TH AVENUE · NEW YORK, NY</a:t>
            </a:r>
          </a:p>
        </p:txBody>
      </p:sp>
      <p:sp>
        <p:nvSpPr>
          <p:cNvPr id="7" name="TextBox 6"/>
          <p:cNvSpPr txBox="1"/>
          <p:nvPr/>
        </p:nvSpPr>
        <p:spPr>
          <a:xfrm>
            <a:off x="609585" y="7043985"/>
            <a:ext cx="10972526" cy="135461"/>
          </a:xfrm>
          <a:prstGeom prst="rect">
            <a:avLst/>
          </a:prstGeom>
          <a:noFill/>
        </p:spPr>
        <p:txBody>
          <a:bodyPr wrap="square" lIns="0" rIns="0" tIns="0" bIns="0" anchor="t">
            <a:spAutoFit/>
          </a:bodyPr>
          <a:lstStyle/>
          <a:p>
            <a:pPr algn="ctr"/>
            <a:r>
              <a:rPr sz="1000" b="0" i="0" spc="200">
                <a:solidFill>
                  <a:srgbClr val="8B8480"/>
                </a:solidFill>
                <a:latin typeface="Futura LT"/>
              </a:rPr>
              <a:t>BRAND GUIDELINES · EDITION 01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